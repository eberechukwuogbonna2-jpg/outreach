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260" r:id="rId6"/>
    <p:sldId id="261" r:id="rId7"/>
    <p:sldId id="284" r:id="rId8"/>
    <p:sldId id="262" r:id="rId9"/>
    <p:sldId id="263" r:id="rId10"/>
    <p:sldId id="264" r:id="rId11"/>
    <p:sldId id="265" r:id="rId12"/>
    <p:sldId id="266" r:id="rId13"/>
    <p:sldId id="267" r:id="rId14"/>
    <p:sldId id="268" r:id="rId15"/>
    <p:sldId id="283" r:id="rId16"/>
    <p:sldId id="269" r:id="rId17"/>
    <p:sldId id="270" r:id="rId18"/>
    <p:sldId id="271" r:id="rId19"/>
    <p:sldId id="272" r:id="rId20"/>
    <p:sldId id="285" r:id="rId21"/>
    <p:sldId id="286" r:id="rId22"/>
    <p:sldId id="287" r:id="rId23"/>
    <p:sldId id="288" r:id="rId24"/>
    <p:sldId id="273" r:id="rId25"/>
    <p:sldId id="289" r:id="rId26"/>
    <p:sldId id="290" r:id="rId27"/>
    <p:sldId id="291" r:id="rId28"/>
    <p:sldId id="292" r:id="rId29"/>
    <p:sldId id="274" r:id="rId30"/>
    <p:sldId id="279" r:id="rId31"/>
    <p:sldId id="280" r:id="rId32"/>
    <p:sldId id="281" r:id="rId33"/>
    <p:sldId id="282" r:id="rId34"/>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4" d="100"/>
          <a:sy n="84" d="100"/>
        </p:scale>
        <p:origin x="1402" y="12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D770F46-8F57-4C81-B3B5-750762B6955D}" type="datetimeFigureOut">
              <a:rPr lang="en-US" smtClean="0"/>
              <a:t>9/14/2026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2BF72C8-CFBC-4DEB-8053-6FBF14113CE9}" type="slidenum">
              <a:rPr lang="en-US" smtClean="0"/>
              <a:t>‹#›</a:t>
            </a:fld>
            <a:endParaRPr lang="en-US"/>
          </a:p>
        </p:txBody>
      </p:sp>
    </p:spTree>
    <p:extLst>
      <p:ext uri="{BB962C8B-B14F-4D97-AF65-F5344CB8AC3E}">
        <p14:creationId xmlns:p14="http://schemas.microsoft.com/office/powerpoint/2010/main" val="906583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BF72C8-CFBC-4DEB-8053-6FBF14113CE9}" type="slidenum">
              <a:rPr lang="en-US" smtClean="0"/>
              <a:t>7</a:t>
            </a:fld>
            <a:endParaRPr lang="en-US"/>
          </a:p>
        </p:txBody>
      </p:sp>
    </p:spTree>
    <p:extLst>
      <p:ext uri="{BB962C8B-B14F-4D97-AF65-F5344CB8AC3E}">
        <p14:creationId xmlns:p14="http://schemas.microsoft.com/office/powerpoint/2010/main" val="3960156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BF72C8-CFBC-4DEB-8053-6FBF14113CE9}" type="slidenum">
              <a:rPr lang="en-US" smtClean="0"/>
              <a:t>14</a:t>
            </a:fld>
            <a:endParaRPr lang="en-US"/>
          </a:p>
        </p:txBody>
      </p:sp>
    </p:spTree>
    <p:extLst>
      <p:ext uri="{BB962C8B-B14F-4D97-AF65-F5344CB8AC3E}">
        <p14:creationId xmlns:p14="http://schemas.microsoft.com/office/powerpoint/2010/main" val="567129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BF72C8-CFBC-4DEB-8053-6FBF14113CE9}" type="slidenum">
              <a:rPr lang="en-US" smtClean="0"/>
              <a:t>15</a:t>
            </a:fld>
            <a:endParaRPr lang="en-US"/>
          </a:p>
        </p:txBody>
      </p:sp>
    </p:spTree>
    <p:extLst>
      <p:ext uri="{BB962C8B-B14F-4D97-AF65-F5344CB8AC3E}">
        <p14:creationId xmlns:p14="http://schemas.microsoft.com/office/powerpoint/2010/main" val="2032388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BF72C8-CFBC-4DEB-8053-6FBF14113CE9}" type="slidenum">
              <a:rPr lang="en-US" smtClean="0"/>
              <a:t>27</a:t>
            </a:fld>
            <a:endParaRPr lang="en-US"/>
          </a:p>
        </p:txBody>
      </p:sp>
    </p:spTree>
    <p:extLst>
      <p:ext uri="{BB962C8B-B14F-4D97-AF65-F5344CB8AC3E}">
        <p14:creationId xmlns:p14="http://schemas.microsoft.com/office/powerpoint/2010/main" val="758979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2BF72C8-CFBC-4DEB-8053-6FBF14113CE9}" type="slidenum">
              <a:rPr lang="en-US" smtClean="0"/>
              <a:t>28</a:t>
            </a:fld>
            <a:endParaRPr lang="en-US"/>
          </a:p>
        </p:txBody>
      </p:sp>
    </p:spTree>
    <p:extLst>
      <p:ext uri="{BB962C8B-B14F-4D97-AF65-F5344CB8AC3E}">
        <p14:creationId xmlns:p14="http://schemas.microsoft.com/office/powerpoint/2010/main" val="3430272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838827" y="839470"/>
            <a:ext cx="3284854" cy="696594"/>
          </a:xfrm>
          <a:prstGeom prst="rect">
            <a:avLst/>
          </a:prstGeom>
        </p:spPr>
        <p:txBody>
          <a:bodyPr wrap="square" lIns="0" tIns="0" rIns="0" bIns="0">
            <a:spAutoFit/>
          </a:bodyPr>
          <a:lstStyle>
            <a:lvl1pPr>
              <a:defRPr sz="2800" b="0" i="0">
                <a:solidFill>
                  <a:srgbClr val="FF0000"/>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FF0000"/>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8000"/>
          </a:xfrm>
          <a:prstGeom prst="rect">
            <a:avLst/>
          </a:prstGeom>
        </p:spPr>
      </p:pic>
      <p:sp>
        <p:nvSpPr>
          <p:cNvPr id="2" name="Holder 2"/>
          <p:cNvSpPr>
            <a:spLocks noGrp="1"/>
          </p:cNvSpPr>
          <p:nvPr>
            <p:ph type="title"/>
          </p:nvPr>
        </p:nvSpPr>
        <p:spPr>
          <a:xfrm>
            <a:off x="1032890" y="707961"/>
            <a:ext cx="8090661" cy="2178685"/>
          </a:xfrm>
          <a:prstGeom prst="rect">
            <a:avLst/>
          </a:prstGeom>
        </p:spPr>
        <p:txBody>
          <a:bodyPr wrap="square" lIns="0" tIns="0" rIns="0" bIns="0">
            <a:spAutoFit/>
          </a:bodyPr>
          <a:lstStyle>
            <a:lvl1pPr>
              <a:defRPr sz="2800" b="0" i="0">
                <a:solidFill>
                  <a:srgbClr val="FF0000"/>
                </a:solidFill>
                <a:latin typeface="Calibri"/>
                <a:cs typeface="Calibri"/>
              </a:defRPr>
            </a:lvl1pPr>
          </a:lstStyle>
          <a:p>
            <a:endParaRPr/>
          </a:p>
        </p:txBody>
      </p:sp>
      <p:sp>
        <p:nvSpPr>
          <p:cNvPr id="3" name="Holder 3"/>
          <p:cNvSpPr>
            <a:spLocks noGrp="1"/>
          </p:cNvSpPr>
          <p:nvPr>
            <p:ph type="body" idx="1"/>
          </p:nvPr>
        </p:nvSpPr>
        <p:spPr>
          <a:xfrm>
            <a:off x="2431795" y="2331161"/>
            <a:ext cx="6137275" cy="1980564"/>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outreachmedialtd.net/"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hyperlink" Target="http://www.outreachmedialtd.ne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www.outreachmedialtd.ne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www.outreachmedialtd.ne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7.jpe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www.outreachmedialtd.net/" TargetMode="Externa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hyperlink" Target="http://www.outreachmedialtd.net/"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hyperlink" Target="http://www.outreachmedialtd.net/"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hyperlink" Target="http://www.outreachmedialtd.net/"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hyperlink" Target="http://www.outreachmedialtd.net/"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hyperlink" Target="http://www.outreachmedialtd.net/"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hyperlink" Target="http://www.outreachmedialtd.net/"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www.outreachmedialtd.net/" TargetMode="External"/><Relationship Id="rId3" Type="http://schemas.openxmlformats.org/officeDocument/2006/relationships/image" Target="../media/image3.png"/><Relationship Id="rId7" Type="http://schemas.openxmlformats.org/officeDocument/2006/relationships/image" Target="../media/image30.jpg"/><Relationship Id="rId2" Type="http://schemas.openxmlformats.org/officeDocument/2006/relationships/image" Target="../media/image27.jpg"/><Relationship Id="rId1" Type="http://schemas.openxmlformats.org/officeDocument/2006/relationships/slideLayout" Target="../slideLayouts/slideLayout2.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4.jpg"/></Relationships>
</file>

<file path=ppt/slides/_rels/slide2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hyperlink" Target="http://www.outreachmedialtd.net/" TargetMode="External"/></Relationships>
</file>

<file path=ppt/slides/_rels/slide2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4.jpg"/><Relationship Id="rId7"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33.png"/><Relationship Id="rId4" Type="http://schemas.openxmlformats.org/officeDocument/2006/relationships/hyperlink" Target="http://www.outreachmedialtd.net/"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6.jpe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35.jpeg"/><Relationship Id="rId5" Type="http://schemas.openxmlformats.org/officeDocument/2006/relationships/hyperlink" Target="http://www.outreachmedialtd.net/" TargetMode="External"/><Relationship Id="rId4" Type="http://schemas.openxmlformats.org/officeDocument/2006/relationships/image" Target="../media/image4.jp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8.jpe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37.jpeg"/><Relationship Id="rId5" Type="http://schemas.openxmlformats.org/officeDocument/2006/relationships/hyperlink" Target="http://www.outreachmedialtd.net/" TargetMode="External"/><Relationship Id="rId4" Type="http://schemas.openxmlformats.org/officeDocument/2006/relationships/image" Target="../media/image4.jpg"/></Relationships>
</file>

<file path=ppt/slides/_rels/slide2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hyperlink" Target="http://www.outreachmedialtd.net/" TargetMode="External"/></Relationships>
</file>

<file path=ppt/slides/_rels/slide30.xml.rels><?xml version="1.0" encoding="UTF-8" standalone="yes"?>
<Relationships xmlns="http://schemas.openxmlformats.org/package/2006/relationships"><Relationship Id="rId8" Type="http://schemas.openxmlformats.org/officeDocument/2006/relationships/image" Target="../media/image45.jpg"/><Relationship Id="rId3" Type="http://schemas.openxmlformats.org/officeDocument/2006/relationships/image" Target="../media/image4.jpg"/><Relationship Id="rId7" Type="http://schemas.openxmlformats.org/officeDocument/2006/relationships/image" Target="../media/image44.jp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43.jpg"/><Relationship Id="rId5" Type="http://schemas.openxmlformats.org/officeDocument/2006/relationships/image" Target="../media/image42.jpg"/><Relationship Id="rId10" Type="http://schemas.openxmlformats.org/officeDocument/2006/relationships/hyperlink" Target="http://www.outreachmedialtd.net/" TargetMode="External"/><Relationship Id="rId4" Type="http://schemas.openxmlformats.org/officeDocument/2006/relationships/image" Target="../media/image41.jpg"/><Relationship Id="rId9" Type="http://schemas.openxmlformats.org/officeDocument/2006/relationships/image" Target="../media/image46.jpg"/></Relationships>
</file>

<file path=ppt/slides/_rels/slide31.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51.jpeg"/><Relationship Id="rId2" Type="http://schemas.openxmlformats.org/officeDocument/2006/relationships/image" Target="../media/image47.png"/><Relationship Id="rId1" Type="http://schemas.openxmlformats.org/officeDocument/2006/relationships/slideLayout" Target="../slideLayouts/slideLayout4.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48.jpeg"/></Relationships>
</file>

<file path=ppt/slides/_rels/slide32.xml.rels><?xml version="1.0" encoding="UTF-8" standalone="yes"?>
<Relationships xmlns="http://schemas.openxmlformats.org/package/2006/relationships"><Relationship Id="rId8" Type="http://schemas.openxmlformats.org/officeDocument/2006/relationships/image" Target="../media/image58.jp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jpg"/><Relationship Id="rId1" Type="http://schemas.openxmlformats.org/officeDocument/2006/relationships/slideLayout" Target="../slideLayouts/slideLayout4.xml"/><Relationship Id="rId6" Type="http://schemas.openxmlformats.org/officeDocument/2006/relationships/image" Target="../media/image56.jpg"/><Relationship Id="rId5" Type="http://schemas.openxmlformats.org/officeDocument/2006/relationships/image" Target="../media/image55.png"/><Relationship Id="rId10" Type="http://schemas.openxmlformats.org/officeDocument/2006/relationships/image" Target="../media/image4.jpg"/><Relationship Id="rId4" Type="http://schemas.openxmlformats.org/officeDocument/2006/relationships/image" Target="../media/image54.jpg"/><Relationship Id="rId9" Type="http://schemas.openxmlformats.org/officeDocument/2006/relationships/image" Target="../media/image5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8384" y="3675075"/>
            <a:ext cx="8414385"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171717"/>
                </a:solidFill>
                <a:latin typeface="Tahoma"/>
                <a:cs typeface="Tahoma"/>
              </a:rPr>
              <a:t>OUT</a:t>
            </a:r>
            <a:r>
              <a:rPr sz="2400" b="1" spc="-65" dirty="0">
                <a:solidFill>
                  <a:srgbClr val="171717"/>
                </a:solidFill>
                <a:latin typeface="Tahoma"/>
                <a:cs typeface="Tahoma"/>
              </a:rPr>
              <a:t> </a:t>
            </a:r>
            <a:r>
              <a:rPr sz="2400" b="1" dirty="0">
                <a:solidFill>
                  <a:srgbClr val="171717"/>
                </a:solidFill>
                <a:latin typeface="Tahoma"/>
                <a:cs typeface="Tahoma"/>
              </a:rPr>
              <a:t>OF</a:t>
            </a:r>
            <a:r>
              <a:rPr sz="2400" b="1" spc="-60" dirty="0">
                <a:solidFill>
                  <a:srgbClr val="171717"/>
                </a:solidFill>
                <a:latin typeface="Tahoma"/>
                <a:cs typeface="Tahoma"/>
              </a:rPr>
              <a:t> </a:t>
            </a:r>
            <a:r>
              <a:rPr sz="2400" b="1" dirty="0">
                <a:solidFill>
                  <a:srgbClr val="171717"/>
                </a:solidFill>
                <a:latin typeface="Tahoma"/>
                <a:cs typeface="Tahoma"/>
              </a:rPr>
              <a:t>HOME</a:t>
            </a:r>
            <a:r>
              <a:rPr sz="2400" b="1" spc="-55" dirty="0">
                <a:solidFill>
                  <a:srgbClr val="171717"/>
                </a:solidFill>
                <a:latin typeface="Tahoma"/>
                <a:cs typeface="Tahoma"/>
              </a:rPr>
              <a:t> </a:t>
            </a:r>
            <a:r>
              <a:rPr sz="2400" b="1" dirty="0">
                <a:solidFill>
                  <a:srgbClr val="171717"/>
                </a:solidFill>
                <a:latin typeface="Tahoma"/>
                <a:cs typeface="Tahoma"/>
              </a:rPr>
              <a:t>ADVERTISING</a:t>
            </a:r>
            <a:r>
              <a:rPr sz="2400" b="1" spc="-55" dirty="0">
                <a:solidFill>
                  <a:srgbClr val="171717"/>
                </a:solidFill>
                <a:latin typeface="Tahoma"/>
                <a:cs typeface="Tahoma"/>
              </a:rPr>
              <a:t> </a:t>
            </a:r>
            <a:r>
              <a:rPr sz="2400" b="1" dirty="0">
                <a:solidFill>
                  <a:srgbClr val="171717"/>
                </a:solidFill>
                <a:latin typeface="Tahoma"/>
                <a:cs typeface="Tahoma"/>
              </a:rPr>
              <a:t>PLATFORMS</a:t>
            </a:r>
            <a:r>
              <a:rPr sz="2400" b="1" spc="595" dirty="0">
                <a:solidFill>
                  <a:srgbClr val="171717"/>
                </a:solidFill>
                <a:latin typeface="Tahoma"/>
                <a:cs typeface="Tahoma"/>
              </a:rPr>
              <a:t> </a:t>
            </a:r>
            <a:r>
              <a:rPr sz="2400" b="1" spc="-10" dirty="0">
                <a:solidFill>
                  <a:srgbClr val="171717"/>
                </a:solidFill>
                <a:latin typeface="Tahoma"/>
                <a:cs typeface="Tahoma"/>
              </a:rPr>
              <a:t>PORTFOLIO</a:t>
            </a:r>
            <a:endParaRPr sz="2400">
              <a:latin typeface="Tahoma"/>
              <a:cs typeface="Tahoma"/>
            </a:endParaRPr>
          </a:p>
        </p:txBody>
      </p:sp>
      <p:sp>
        <p:nvSpPr>
          <p:cNvPr id="3" name="object 3" descr="$PPTXTitle"/>
          <p:cNvSpPr txBox="1"/>
          <p:nvPr/>
        </p:nvSpPr>
        <p:spPr>
          <a:xfrm>
            <a:off x="879754" y="544829"/>
            <a:ext cx="7569200" cy="452120"/>
          </a:xfrm>
          <a:prstGeom prst="rect">
            <a:avLst/>
          </a:prstGeom>
        </p:spPr>
        <p:txBody>
          <a:bodyPr vert="horz" wrap="square" lIns="0" tIns="12065" rIns="0" bIns="0" rtlCol="0">
            <a:spAutoFit/>
          </a:bodyPr>
          <a:lstStyle/>
          <a:p>
            <a:pPr marL="12700">
              <a:lnSpc>
                <a:spcPct val="100000"/>
              </a:lnSpc>
              <a:spcBef>
                <a:spcPts val="95"/>
              </a:spcBef>
            </a:pPr>
            <a:r>
              <a:rPr sz="2800" b="1" spc="-90" dirty="0">
                <a:solidFill>
                  <a:srgbClr val="171717"/>
                </a:solidFill>
                <a:latin typeface="Tahoma"/>
                <a:cs typeface="Tahoma"/>
              </a:rPr>
              <a:t>OUTREACH</a:t>
            </a:r>
            <a:r>
              <a:rPr sz="2800" b="1" spc="-50" dirty="0">
                <a:solidFill>
                  <a:srgbClr val="171717"/>
                </a:solidFill>
                <a:latin typeface="Tahoma"/>
                <a:cs typeface="Tahoma"/>
              </a:rPr>
              <a:t> </a:t>
            </a:r>
            <a:r>
              <a:rPr sz="2800" b="1" spc="-155" dirty="0">
                <a:solidFill>
                  <a:srgbClr val="171717"/>
                </a:solidFill>
                <a:latin typeface="Tahoma"/>
                <a:cs typeface="Tahoma"/>
              </a:rPr>
              <a:t>INTERNATIONAL</a:t>
            </a:r>
            <a:r>
              <a:rPr sz="2800" b="1" spc="-150" dirty="0">
                <a:solidFill>
                  <a:srgbClr val="171717"/>
                </a:solidFill>
                <a:latin typeface="Tahoma"/>
                <a:cs typeface="Tahoma"/>
              </a:rPr>
              <a:t> </a:t>
            </a:r>
            <a:r>
              <a:rPr sz="2800" b="1" spc="-105" dirty="0">
                <a:solidFill>
                  <a:srgbClr val="171717"/>
                </a:solidFill>
                <a:latin typeface="Tahoma"/>
                <a:cs typeface="Tahoma"/>
              </a:rPr>
              <a:t>MEDIA</a:t>
            </a:r>
            <a:r>
              <a:rPr sz="2800" b="1" spc="-60" dirty="0">
                <a:solidFill>
                  <a:srgbClr val="171717"/>
                </a:solidFill>
                <a:latin typeface="Tahoma"/>
                <a:cs typeface="Tahoma"/>
              </a:rPr>
              <a:t> </a:t>
            </a:r>
            <a:r>
              <a:rPr sz="2800" b="1" spc="-155" dirty="0">
                <a:solidFill>
                  <a:srgbClr val="171717"/>
                </a:solidFill>
                <a:latin typeface="Tahoma"/>
                <a:cs typeface="Tahoma"/>
              </a:rPr>
              <a:t>LIMITED</a:t>
            </a:r>
            <a:endParaRPr sz="2800">
              <a:latin typeface="Tahoma"/>
              <a:cs typeface="Tahoma"/>
            </a:endParaRPr>
          </a:p>
        </p:txBody>
      </p:sp>
      <p:pic>
        <p:nvPicPr>
          <p:cNvPr id="4" name="object 4"/>
          <p:cNvPicPr/>
          <p:nvPr/>
        </p:nvPicPr>
        <p:blipFill>
          <a:blip r:embed="rId2" cstate="print"/>
          <a:stretch>
            <a:fillRect/>
          </a:stretch>
        </p:blipFill>
        <p:spPr>
          <a:xfrm>
            <a:off x="3264408" y="1484375"/>
            <a:ext cx="1953767" cy="1994915"/>
          </a:xfrm>
          <a:prstGeom prst="rect">
            <a:avLst/>
          </a:prstGeom>
        </p:spPr>
      </p:pic>
      <p:sp>
        <p:nvSpPr>
          <p:cNvPr id="5" name="object 5"/>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3"/>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146807" y="2575052"/>
            <a:ext cx="4872355" cy="756920"/>
          </a:xfrm>
          <a:prstGeom prst="rect">
            <a:avLst/>
          </a:prstGeom>
        </p:spPr>
        <p:txBody>
          <a:bodyPr vert="horz" wrap="square" lIns="0" tIns="12700" rIns="0" bIns="0" rtlCol="0">
            <a:spAutoFit/>
          </a:bodyPr>
          <a:lstStyle/>
          <a:p>
            <a:pPr marL="12700">
              <a:lnSpc>
                <a:spcPct val="100000"/>
              </a:lnSpc>
              <a:spcBef>
                <a:spcPts val="100"/>
              </a:spcBef>
            </a:pPr>
            <a:r>
              <a:rPr sz="4800" b="1" spc="-45" dirty="0">
                <a:solidFill>
                  <a:srgbClr val="DA241D"/>
                </a:solidFill>
                <a:latin typeface="Calibri"/>
                <a:cs typeface="Calibri"/>
              </a:rPr>
              <a:t>COMPANY</a:t>
            </a:r>
            <a:r>
              <a:rPr sz="4800" b="1" spc="-210" dirty="0">
                <a:solidFill>
                  <a:srgbClr val="DA241D"/>
                </a:solidFill>
                <a:latin typeface="Calibri"/>
                <a:cs typeface="Calibri"/>
              </a:rPr>
              <a:t> </a:t>
            </a:r>
            <a:r>
              <a:rPr sz="4800" b="1" spc="-10" dirty="0">
                <a:solidFill>
                  <a:srgbClr val="DA241D"/>
                </a:solidFill>
                <a:latin typeface="Calibri"/>
                <a:cs typeface="Calibri"/>
              </a:rPr>
              <a:t>PROFILE</a:t>
            </a:r>
            <a:endParaRPr sz="4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54735" y="2630551"/>
            <a:ext cx="6677659" cy="1334770"/>
          </a:xfrm>
          <a:prstGeom prst="rect">
            <a:avLst/>
          </a:prstGeom>
        </p:spPr>
        <p:txBody>
          <a:bodyPr vert="horz" wrap="square" lIns="0" tIns="85090" rIns="0" bIns="0" rtlCol="0">
            <a:spAutoFit/>
          </a:bodyPr>
          <a:lstStyle/>
          <a:p>
            <a:pPr marL="2420620" marR="5080" indent="-2408555">
              <a:lnSpc>
                <a:spcPts val="4910"/>
              </a:lnSpc>
              <a:spcBef>
                <a:spcPts val="670"/>
              </a:spcBef>
            </a:pPr>
            <a:r>
              <a:rPr sz="4500" dirty="0">
                <a:solidFill>
                  <a:srgbClr val="0D0D0D"/>
                </a:solidFill>
                <a:latin typeface="Candara"/>
                <a:cs typeface="Candara"/>
              </a:rPr>
              <a:t>“At</a:t>
            </a:r>
            <a:r>
              <a:rPr sz="4500" spc="-80" dirty="0">
                <a:solidFill>
                  <a:srgbClr val="0D0D0D"/>
                </a:solidFill>
                <a:latin typeface="Candara"/>
                <a:cs typeface="Candara"/>
              </a:rPr>
              <a:t> </a:t>
            </a:r>
            <a:r>
              <a:rPr sz="4500" dirty="0">
                <a:solidFill>
                  <a:srgbClr val="0D0D0D"/>
                </a:solidFill>
                <a:latin typeface="Candara"/>
                <a:cs typeface="Candara"/>
              </a:rPr>
              <a:t>Outreach,</a:t>
            </a:r>
            <a:r>
              <a:rPr sz="4500" spc="-50" dirty="0">
                <a:solidFill>
                  <a:srgbClr val="0D0D0D"/>
                </a:solidFill>
                <a:latin typeface="Candara"/>
                <a:cs typeface="Candara"/>
              </a:rPr>
              <a:t> </a:t>
            </a:r>
            <a:r>
              <a:rPr sz="4500" dirty="0">
                <a:solidFill>
                  <a:srgbClr val="0D0D0D"/>
                </a:solidFill>
                <a:latin typeface="Candara"/>
                <a:cs typeface="Candara"/>
              </a:rPr>
              <a:t>we</a:t>
            </a:r>
            <a:r>
              <a:rPr sz="4500" spc="-75" dirty="0">
                <a:solidFill>
                  <a:srgbClr val="0D0D0D"/>
                </a:solidFill>
                <a:latin typeface="Candara"/>
                <a:cs typeface="Candara"/>
              </a:rPr>
              <a:t> </a:t>
            </a:r>
            <a:r>
              <a:rPr sz="4500" dirty="0">
                <a:solidFill>
                  <a:srgbClr val="0D0D0D"/>
                </a:solidFill>
                <a:latin typeface="Candara"/>
                <a:cs typeface="Candara"/>
              </a:rPr>
              <a:t>out</a:t>
            </a:r>
            <a:r>
              <a:rPr sz="4500" spc="-80" dirty="0">
                <a:solidFill>
                  <a:srgbClr val="0D0D0D"/>
                </a:solidFill>
                <a:latin typeface="Candara"/>
                <a:cs typeface="Candara"/>
              </a:rPr>
              <a:t> </a:t>
            </a:r>
            <a:r>
              <a:rPr sz="4500" spc="-10" dirty="0">
                <a:solidFill>
                  <a:srgbClr val="0D0D0D"/>
                </a:solidFill>
                <a:latin typeface="Candara"/>
                <a:cs typeface="Candara"/>
              </a:rPr>
              <a:t>stand </a:t>
            </a:r>
            <a:r>
              <a:rPr sz="4500" dirty="0">
                <a:solidFill>
                  <a:srgbClr val="0D0D0D"/>
                </a:solidFill>
                <a:latin typeface="Candara"/>
                <a:cs typeface="Candara"/>
              </a:rPr>
              <a:t>others</a:t>
            </a:r>
            <a:r>
              <a:rPr sz="4500" spc="-65" dirty="0">
                <a:solidFill>
                  <a:srgbClr val="0D0D0D"/>
                </a:solidFill>
                <a:latin typeface="Candara"/>
                <a:cs typeface="Candara"/>
              </a:rPr>
              <a:t> </a:t>
            </a:r>
            <a:r>
              <a:rPr sz="4500" spc="-50" dirty="0">
                <a:solidFill>
                  <a:srgbClr val="0D0D0D"/>
                </a:solidFill>
                <a:latin typeface="Candara"/>
                <a:cs typeface="Candara"/>
              </a:rPr>
              <a:t>!</a:t>
            </a:r>
            <a:endParaRPr sz="4500">
              <a:latin typeface="Candara"/>
              <a:cs typeface="Candara"/>
            </a:endParaRPr>
          </a:p>
        </p:txBody>
      </p:sp>
      <p:grpSp>
        <p:nvGrpSpPr>
          <p:cNvPr id="3" name="object 3"/>
          <p:cNvGrpSpPr/>
          <p:nvPr/>
        </p:nvGrpSpPr>
        <p:grpSpPr>
          <a:xfrm>
            <a:off x="0" y="858011"/>
            <a:ext cx="9144000" cy="741045"/>
            <a:chOff x="0" y="858011"/>
            <a:chExt cx="9144000" cy="741045"/>
          </a:xfrm>
        </p:grpSpPr>
        <p:pic>
          <p:nvPicPr>
            <p:cNvPr id="4" name="object 4"/>
            <p:cNvPicPr/>
            <p:nvPr/>
          </p:nvPicPr>
          <p:blipFill>
            <a:blip r:embed="rId2" cstate="print"/>
            <a:stretch>
              <a:fillRect/>
            </a:stretch>
          </p:blipFill>
          <p:spPr>
            <a:xfrm>
              <a:off x="0" y="926591"/>
              <a:ext cx="9144000" cy="672084"/>
            </a:xfrm>
            <a:prstGeom prst="rect">
              <a:avLst/>
            </a:prstGeom>
          </p:spPr>
        </p:pic>
        <p:pic>
          <p:nvPicPr>
            <p:cNvPr id="5" name="object 5"/>
            <p:cNvPicPr/>
            <p:nvPr/>
          </p:nvPicPr>
          <p:blipFill>
            <a:blip r:embed="rId3" cstate="print"/>
            <a:stretch>
              <a:fillRect/>
            </a:stretch>
          </p:blipFill>
          <p:spPr>
            <a:xfrm>
              <a:off x="7620" y="858011"/>
              <a:ext cx="708660" cy="723900"/>
            </a:xfrm>
            <a:prstGeom prst="rect">
              <a:avLst/>
            </a:prstGeom>
          </p:spPr>
        </p:pic>
      </p:grpSp>
      <p:sp>
        <p:nvSpPr>
          <p:cNvPr id="6" name="object 6"/>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7100" y="1835911"/>
            <a:ext cx="7310120" cy="3058795"/>
          </a:xfrm>
          <a:prstGeom prst="rect">
            <a:avLst/>
          </a:prstGeom>
        </p:spPr>
        <p:txBody>
          <a:bodyPr vert="horz" wrap="square" lIns="0" tIns="12700" rIns="0" bIns="0" rtlCol="0">
            <a:spAutoFit/>
          </a:bodyPr>
          <a:lstStyle/>
          <a:p>
            <a:pPr marL="923290" algn="ctr">
              <a:lnSpc>
                <a:spcPct val="100000"/>
              </a:lnSpc>
              <a:spcBef>
                <a:spcPts val="100"/>
              </a:spcBef>
            </a:pPr>
            <a:r>
              <a:rPr sz="1800" b="1" dirty="0">
                <a:latin typeface="Arial"/>
                <a:cs typeface="Arial"/>
              </a:rPr>
              <a:t>NAME:</a:t>
            </a:r>
            <a:r>
              <a:rPr sz="1800" b="1" spc="-60" dirty="0">
                <a:latin typeface="Arial"/>
                <a:cs typeface="Arial"/>
              </a:rPr>
              <a:t> </a:t>
            </a:r>
            <a:r>
              <a:rPr sz="1800" b="1" dirty="0">
                <a:latin typeface="Arial"/>
                <a:cs typeface="Arial"/>
              </a:rPr>
              <a:t>OUTREACH</a:t>
            </a:r>
            <a:r>
              <a:rPr sz="1800" b="1" spc="-40" dirty="0">
                <a:latin typeface="Arial"/>
                <a:cs typeface="Arial"/>
              </a:rPr>
              <a:t> </a:t>
            </a:r>
            <a:r>
              <a:rPr sz="1800" b="1" spc="-20" dirty="0">
                <a:latin typeface="Arial"/>
                <a:cs typeface="Arial"/>
              </a:rPr>
              <a:t>INTERNATIONAL</a:t>
            </a:r>
            <a:r>
              <a:rPr sz="1800" b="1" spc="-60" dirty="0">
                <a:latin typeface="Arial"/>
                <a:cs typeface="Arial"/>
              </a:rPr>
              <a:t> </a:t>
            </a:r>
            <a:r>
              <a:rPr sz="1800" b="1" dirty="0">
                <a:latin typeface="Arial"/>
                <a:cs typeface="Arial"/>
              </a:rPr>
              <a:t>MEDIA</a:t>
            </a:r>
            <a:r>
              <a:rPr sz="1800" b="1" spc="-125" dirty="0">
                <a:latin typeface="Arial"/>
                <a:cs typeface="Arial"/>
              </a:rPr>
              <a:t> </a:t>
            </a:r>
            <a:r>
              <a:rPr sz="1800" b="1" spc="-10" dirty="0">
                <a:latin typeface="Arial"/>
                <a:cs typeface="Arial"/>
              </a:rPr>
              <a:t>LIMITED</a:t>
            </a:r>
            <a:endParaRPr sz="1800">
              <a:latin typeface="Arial"/>
              <a:cs typeface="Arial"/>
            </a:endParaRPr>
          </a:p>
          <a:p>
            <a:pPr>
              <a:lnSpc>
                <a:spcPct val="100000"/>
              </a:lnSpc>
            </a:pPr>
            <a:endParaRPr sz="1800">
              <a:latin typeface="Arial"/>
              <a:cs typeface="Arial"/>
            </a:endParaRPr>
          </a:p>
          <a:p>
            <a:pPr>
              <a:lnSpc>
                <a:spcPct val="100000"/>
              </a:lnSpc>
              <a:spcBef>
                <a:spcPts val="300"/>
              </a:spcBef>
            </a:pPr>
            <a:endParaRPr sz="1800">
              <a:latin typeface="Arial"/>
              <a:cs typeface="Arial"/>
            </a:endParaRPr>
          </a:p>
          <a:p>
            <a:pPr marL="12700">
              <a:lnSpc>
                <a:spcPct val="100000"/>
              </a:lnSpc>
            </a:pPr>
            <a:r>
              <a:rPr sz="1800" b="1" dirty="0">
                <a:latin typeface="Arial"/>
                <a:cs typeface="Arial"/>
              </a:rPr>
              <a:t>HEADQUARTERS:</a:t>
            </a:r>
            <a:r>
              <a:rPr sz="1800" b="1" spc="-55" dirty="0">
                <a:latin typeface="Arial"/>
                <a:cs typeface="Arial"/>
              </a:rPr>
              <a:t> </a:t>
            </a:r>
            <a:r>
              <a:rPr sz="1800" b="1" dirty="0">
                <a:latin typeface="Arial"/>
                <a:cs typeface="Arial"/>
              </a:rPr>
              <a:t>1,Ali</a:t>
            </a:r>
            <a:r>
              <a:rPr sz="1800" b="1" spc="-55" dirty="0">
                <a:latin typeface="Arial"/>
                <a:cs typeface="Arial"/>
              </a:rPr>
              <a:t> </a:t>
            </a:r>
            <a:r>
              <a:rPr sz="1800" b="1" spc="-10" dirty="0">
                <a:latin typeface="Arial"/>
                <a:cs typeface="Arial"/>
              </a:rPr>
              <a:t>Yakassai</a:t>
            </a:r>
            <a:r>
              <a:rPr sz="1800" b="1" spc="-55" dirty="0">
                <a:latin typeface="Arial"/>
                <a:cs typeface="Arial"/>
              </a:rPr>
              <a:t> </a:t>
            </a:r>
            <a:r>
              <a:rPr sz="1800" b="1" dirty="0">
                <a:latin typeface="Arial"/>
                <a:cs typeface="Arial"/>
              </a:rPr>
              <a:t>Street</a:t>
            </a:r>
            <a:r>
              <a:rPr sz="1800" b="1" spc="-60" dirty="0">
                <a:latin typeface="Arial"/>
                <a:cs typeface="Arial"/>
              </a:rPr>
              <a:t> </a:t>
            </a:r>
            <a:r>
              <a:rPr sz="1800" b="1" dirty="0">
                <a:latin typeface="Arial"/>
                <a:cs typeface="Arial"/>
              </a:rPr>
              <a:t>off</a:t>
            </a:r>
            <a:r>
              <a:rPr sz="1800" b="1" spc="-125" dirty="0">
                <a:latin typeface="Arial"/>
                <a:cs typeface="Arial"/>
              </a:rPr>
              <a:t> </a:t>
            </a:r>
            <a:r>
              <a:rPr sz="1800" b="1" dirty="0">
                <a:latin typeface="Arial"/>
                <a:cs typeface="Arial"/>
              </a:rPr>
              <a:t>Alu</a:t>
            </a:r>
            <a:r>
              <a:rPr sz="1800" b="1" spc="-85" dirty="0">
                <a:latin typeface="Arial"/>
                <a:cs typeface="Arial"/>
              </a:rPr>
              <a:t> </a:t>
            </a:r>
            <a:r>
              <a:rPr sz="1800" b="1" dirty="0">
                <a:latin typeface="Arial"/>
                <a:cs typeface="Arial"/>
              </a:rPr>
              <a:t>Avenue(Umar</a:t>
            </a:r>
            <a:r>
              <a:rPr sz="1800" b="1" spc="-30" dirty="0">
                <a:latin typeface="Arial"/>
                <a:cs typeface="Arial"/>
              </a:rPr>
              <a:t> </a:t>
            </a:r>
            <a:r>
              <a:rPr sz="1800" b="1" spc="-10" dirty="0">
                <a:latin typeface="Arial"/>
                <a:cs typeface="Arial"/>
              </a:rPr>
              <a:t>Faruk</a:t>
            </a:r>
            <a:endParaRPr sz="1800">
              <a:latin typeface="Arial"/>
              <a:cs typeface="Arial"/>
            </a:endParaRPr>
          </a:p>
          <a:p>
            <a:pPr marL="12700">
              <a:lnSpc>
                <a:spcPct val="100000"/>
              </a:lnSpc>
            </a:pPr>
            <a:r>
              <a:rPr sz="1800" b="1" dirty="0">
                <a:latin typeface="Arial"/>
                <a:cs typeface="Arial"/>
              </a:rPr>
              <a:t>Villa)Nassarawa</a:t>
            </a:r>
            <a:r>
              <a:rPr sz="1800" b="1" spc="-65" dirty="0">
                <a:latin typeface="Arial"/>
                <a:cs typeface="Arial"/>
              </a:rPr>
              <a:t> </a:t>
            </a:r>
            <a:r>
              <a:rPr sz="1800" b="1" dirty="0">
                <a:latin typeface="Arial"/>
                <a:cs typeface="Arial"/>
              </a:rPr>
              <a:t>GRA,</a:t>
            </a:r>
            <a:r>
              <a:rPr sz="1800" b="1" spc="5" dirty="0">
                <a:latin typeface="Arial"/>
                <a:cs typeface="Arial"/>
              </a:rPr>
              <a:t> </a:t>
            </a:r>
            <a:r>
              <a:rPr sz="1800" b="1" spc="-20" dirty="0">
                <a:latin typeface="Arial"/>
                <a:cs typeface="Arial"/>
              </a:rPr>
              <a:t>Kano.</a:t>
            </a:r>
            <a:endParaRPr sz="1800">
              <a:latin typeface="Arial"/>
              <a:cs typeface="Arial"/>
            </a:endParaRPr>
          </a:p>
          <a:p>
            <a:pPr>
              <a:lnSpc>
                <a:spcPct val="100000"/>
              </a:lnSpc>
              <a:spcBef>
                <a:spcPts val="90"/>
              </a:spcBef>
            </a:pPr>
            <a:endParaRPr sz="1800">
              <a:latin typeface="Arial"/>
              <a:cs typeface="Arial"/>
            </a:endParaRPr>
          </a:p>
          <a:p>
            <a:pPr marL="12700">
              <a:lnSpc>
                <a:spcPct val="100000"/>
              </a:lnSpc>
            </a:pPr>
            <a:r>
              <a:rPr sz="1800" b="1" dirty="0">
                <a:latin typeface="Arial"/>
                <a:cs typeface="Arial"/>
              </a:rPr>
              <a:t>LAGOS OFFICE:</a:t>
            </a:r>
            <a:r>
              <a:rPr sz="1800" b="1" spc="-50" dirty="0">
                <a:latin typeface="Arial"/>
                <a:cs typeface="Arial"/>
              </a:rPr>
              <a:t> </a:t>
            </a:r>
            <a:r>
              <a:rPr sz="1800" b="1" dirty="0">
                <a:latin typeface="Arial"/>
                <a:cs typeface="Arial"/>
              </a:rPr>
              <a:t>2,</a:t>
            </a:r>
            <a:r>
              <a:rPr sz="1800" b="1" spc="-95" dirty="0">
                <a:latin typeface="Arial"/>
                <a:cs typeface="Arial"/>
              </a:rPr>
              <a:t> </a:t>
            </a:r>
            <a:r>
              <a:rPr sz="1800" b="1" dirty="0">
                <a:latin typeface="Arial"/>
                <a:cs typeface="Arial"/>
              </a:rPr>
              <a:t>Atinuke Olabanjo</a:t>
            </a:r>
            <a:r>
              <a:rPr sz="1800" b="1" spc="434" dirty="0">
                <a:latin typeface="Arial"/>
                <a:cs typeface="Arial"/>
              </a:rPr>
              <a:t> </a:t>
            </a:r>
            <a:r>
              <a:rPr sz="1800" b="1" dirty="0">
                <a:latin typeface="Arial"/>
                <a:cs typeface="Arial"/>
              </a:rPr>
              <a:t>Street,</a:t>
            </a:r>
            <a:r>
              <a:rPr sz="1800" b="1" spc="-30" dirty="0">
                <a:latin typeface="Arial"/>
                <a:cs typeface="Arial"/>
              </a:rPr>
              <a:t> </a:t>
            </a:r>
            <a:r>
              <a:rPr sz="1800" b="1" dirty="0">
                <a:latin typeface="Arial"/>
                <a:cs typeface="Arial"/>
              </a:rPr>
              <a:t>Ikeja,Lagos</a:t>
            </a:r>
            <a:r>
              <a:rPr sz="1800" b="1" spc="-35" dirty="0">
                <a:latin typeface="Arial"/>
                <a:cs typeface="Arial"/>
              </a:rPr>
              <a:t> </a:t>
            </a:r>
            <a:r>
              <a:rPr sz="1800" b="1" spc="-10" dirty="0">
                <a:latin typeface="Arial"/>
                <a:cs typeface="Arial"/>
              </a:rPr>
              <a:t>state.</a:t>
            </a:r>
            <a:endParaRPr sz="1800">
              <a:latin typeface="Arial"/>
              <a:cs typeface="Arial"/>
            </a:endParaRPr>
          </a:p>
          <a:p>
            <a:pPr>
              <a:lnSpc>
                <a:spcPct val="100000"/>
              </a:lnSpc>
              <a:spcBef>
                <a:spcPts val="40"/>
              </a:spcBef>
            </a:pPr>
            <a:endParaRPr sz="1800">
              <a:latin typeface="Arial"/>
              <a:cs typeface="Arial"/>
            </a:endParaRPr>
          </a:p>
          <a:p>
            <a:pPr marL="923290" algn="ctr">
              <a:lnSpc>
                <a:spcPct val="100000"/>
              </a:lnSpc>
              <a:spcBef>
                <a:spcPts val="5"/>
              </a:spcBef>
            </a:pPr>
            <a:r>
              <a:rPr sz="1800" b="1" dirty="0">
                <a:latin typeface="Arial"/>
                <a:cs typeface="Arial"/>
              </a:rPr>
              <a:t>TELEPHONE:</a:t>
            </a:r>
            <a:r>
              <a:rPr sz="1800" b="1" spc="-65" dirty="0">
                <a:latin typeface="Arial"/>
                <a:cs typeface="Arial"/>
              </a:rPr>
              <a:t> </a:t>
            </a:r>
            <a:r>
              <a:rPr sz="1800" b="1" spc="-10" dirty="0">
                <a:latin typeface="Arial"/>
                <a:cs typeface="Arial"/>
              </a:rPr>
              <a:t>234-</a:t>
            </a:r>
            <a:r>
              <a:rPr sz="1800" b="1" dirty="0">
                <a:latin typeface="Arial"/>
                <a:cs typeface="Arial"/>
              </a:rPr>
              <a:t>8092222091,</a:t>
            </a:r>
            <a:r>
              <a:rPr sz="1800" b="1" spc="-5" dirty="0">
                <a:latin typeface="Arial"/>
                <a:cs typeface="Arial"/>
              </a:rPr>
              <a:t> </a:t>
            </a:r>
            <a:r>
              <a:rPr sz="1800" b="1" spc="-10" dirty="0">
                <a:latin typeface="Calibri"/>
                <a:cs typeface="Calibri"/>
              </a:rPr>
              <a:t>08037865256</a:t>
            </a:r>
            <a:endParaRPr sz="1800">
              <a:latin typeface="Calibri"/>
              <a:cs typeface="Calibri"/>
            </a:endParaRPr>
          </a:p>
          <a:p>
            <a:pPr>
              <a:lnSpc>
                <a:spcPct val="100000"/>
              </a:lnSpc>
              <a:spcBef>
                <a:spcPts val="10"/>
              </a:spcBef>
            </a:pPr>
            <a:endParaRPr sz="1800">
              <a:latin typeface="Calibri"/>
              <a:cs typeface="Calibri"/>
            </a:endParaRPr>
          </a:p>
          <a:p>
            <a:pPr marL="923290" algn="ctr">
              <a:lnSpc>
                <a:spcPct val="100000"/>
              </a:lnSpc>
            </a:pPr>
            <a:r>
              <a:rPr sz="1800" b="1" dirty="0">
                <a:latin typeface="Arial"/>
                <a:cs typeface="Arial"/>
              </a:rPr>
              <a:t>YEAR</a:t>
            </a:r>
            <a:r>
              <a:rPr sz="1800" b="1" spc="-5" dirty="0">
                <a:latin typeface="Arial"/>
                <a:cs typeface="Arial"/>
              </a:rPr>
              <a:t> </a:t>
            </a:r>
            <a:r>
              <a:rPr sz="1800" b="1" dirty="0">
                <a:latin typeface="Arial"/>
                <a:cs typeface="Arial"/>
              </a:rPr>
              <a:t>OF</a:t>
            </a:r>
            <a:r>
              <a:rPr sz="1800" b="1" spc="-50" dirty="0">
                <a:latin typeface="Arial"/>
                <a:cs typeface="Arial"/>
              </a:rPr>
              <a:t> </a:t>
            </a:r>
            <a:r>
              <a:rPr sz="1800" b="1" spc="-35" dirty="0">
                <a:latin typeface="Arial"/>
                <a:cs typeface="Arial"/>
              </a:rPr>
              <a:t>ESTABLISHMENT:</a:t>
            </a:r>
            <a:r>
              <a:rPr sz="1800" b="1" spc="5" dirty="0">
                <a:latin typeface="Arial"/>
                <a:cs typeface="Arial"/>
              </a:rPr>
              <a:t> </a:t>
            </a:r>
            <a:r>
              <a:rPr sz="1800" b="1" spc="-20" dirty="0">
                <a:latin typeface="Arial"/>
                <a:cs typeface="Arial"/>
              </a:rPr>
              <a:t>2002</a:t>
            </a:r>
            <a:endParaRPr sz="1800">
              <a:latin typeface="Arial"/>
              <a:cs typeface="Arial"/>
            </a:endParaRPr>
          </a:p>
        </p:txBody>
      </p:sp>
      <p:pic>
        <p:nvPicPr>
          <p:cNvPr id="3" name="object 3"/>
          <p:cNvPicPr/>
          <p:nvPr/>
        </p:nvPicPr>
        <p:blipFill>
          <a:blip r:embed="rId2" cstate="print"/>
          <a:stretch>
            <a:fillRect/>
          </a:stretch>
        </p:blipFill>
        <p:spPr>
          <a:xfrm>
            <a:off x="0" y="925067"/>
            <a:ext cx="9144000" cy="672084"/>
          </a:xfrm>
          <a:prstGeom prst="rect">
            <a:avLst/>
          </a:prstGeom>
        </p:spPr>
      </p:pic>
      <p:sp>
        <p:nvSpPr>
          <p:cNvPr id="4" name="object 4" descr="$PPTXTitle"/>
          <p:cNvSpPr txBox="1">
            <a:spLocks noGrp="1"/>
          </p:cNvSpPr>
          <p:nvPr>
            <p:ph type="title"/>
          </p:nvPr>
        </p:nvSpPr>
        <p:spPr>
          <a:xfrm>
            <a:off x="2049272" y="756920"/>
            <a:ext cx="5345430" cy="696595"/>
          </a:xfrm>
          <a:prstGeom prst="rect">
            <a:avLst/>
          </a:prstGeom>
        </p:spPr>
        <p:txBody>
          <a:bodyPr vert="horz" wrap="square" lIns="0" tIns="13335" rIns="0" bIns="0" rtlCol="0">
            <a:spAutoFit/>
          </a:bodyPr>
          <a:lstStyle/>
          <a:p>
            <a:pPr marL="12700">
              <a:lnSpc>
                <a:spcPct val="100000"/>
              </a:lnSpc>
              <a:spcBef>
                <a:spcPts val="105"/>
              </a:spcBef>
            </a:pPr>
            <a:r>
              <a:rPr sz="4400" spc="-70" dirty="0"/>
              <a:t>CORPORATE</a:t>
            </a:r>
            <a:r>
              <a:rPr sz="4400" spc="-105" dirty="0"/>
              <a:t> </a:t>
            </a:r>
            <a:r>
              <a:rPr sz="4400" spc="-10" dirty="0"/>
              <a:t>OVERVIEW</a:t>
            </a:r>
            <a:endParaRPr sz="4400"/>
          </a:p>
        </p:txBody>
      </p:sp>
      <p:pic>
        <p:nvPicPr>
          <p:cNvPr id="5" name="object 5"/>
          <p:cNvPicPr/>
          <p:nvPr/>
        </p:nvPicPr>
        <p:blipFill>
          <a:blip r:embed="rId3" cstate="print"/>
          <a:stretch>
            <a:fillRect/>
          </a:stretch>
        </p:blipFill>
        <p:spPr>
          <a:xfrm>
            <a:off x="7620" y="858011"/>
            <a:ext cx="708660" cy="723900"/>
          </a:xfrm>
          <a:prstGeom prst="rect">
            <a:avLst/>
          </a:prstGeom>
        </p:spPr>
      </p:pic>
      <p:sp>
        <p:nvSpPr>
          <p:cNvPr id="6" name="object 6"/>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8046" y="1599691"/>
            <a:ext cx="8947785" cy="3684270"/>
          </a:xfrm>
          <a:prstGeom prst="rect">
            <a:avLst/>
          </a:prstGeom>
        </p:spPr>
        <p:txBody>
          <a:bodyPr vert="horz" wrap="square" lIns="0" tIns="12700" rIns="0" bIns="0" rtlCol="0">
            <a:spAutoFit/>
          </a:bodyPr>
          <a:lstStyle/>
          <a:p>
            <a:pPr marL="12700" marR="43180" indent="-8255">
              <a:lnSpc>
                <a:spcPct val="100000"/>
              </a:lnSpc>
              <a:spcBef>
                <a:spcPts val="100"/>
              </a:spcBef>
              <a:buSzPct val="93333"/>
              <a:buChar char="•"/>
              <a:tabLst>
                <a:tab pos="79375" algn="l"/>
              </a:tabLst>
            </a:pPr>
            <a:r>
              <a:rPr sz="1500" dirty="0">
                <a:latin typeface="Arial MT"/>
                <a:cs typeface="Arial MT"/>
              </a:rPr>
              <a:t>	Outreach</a:t>
            </a:r>
            <a:r>
              <a:rPr sz="1500" spc="-70" dirty="0">
                <a:latin typeface="Arial MT"/>
                <a:cs typeface="Arial MT"/>
              </a:rPr>
              <a:t> </a:t>
            </a:r>
            <a:r>
              <a:rPr sz="1500" dirty="0">
                <a:latin typeface="Arial MT"/>
                <a:cs typeface="Arial MT"/>
              </a:rPr>
              <a:t>International</a:t>
            </a:r>
            <a:r>
              <a:rPr sz="1500" spc="-70" dirty="0">
                <a:latin typeface="Arial MT"/>
                <a:cs typeface="Arial MT"/>
              </a:rPr>
              <a:t> </a:t>
            </a:r>
            <a:r>
              <a:rPr sz="1500" dirty="0">
                <a:latin typeface="Arial MT"/>
                <a:cs typeface="Arial MT"/>
              </a:rPr>
              <a:t>Media</a:t>
            </a:r>
            <a:r>
              <a:rPr sz="1500" spc="-45" dirty="0">
                <a:latin typeface="Arial MT"/>
                <a:cs typeface="Arial MT"/>
              </a:rPr>
              <a:t> </a:t>
            </a:r>
            <a:r>
              <a:rPr sz="1500" dirty="0">
                <a:latin typeface="Arial MT"/>
                <a:cs typeface="Arial MT"/>
              </a:rPr>
              <a:t>Limited</a:t>
            </a:r>
            <a:r>
              <a:rPr sz="1500" spc="-45" dirty="0">
                <a:latin typeface="Arial MT"/>
                <a:cs typeface="Arial MT"/>
              </a:rPr>
              <a:t> </a:t>
            </a:r>
            <a:r>
              <a:rPr sz="1500" dirty="0">
                <a:latin typeface="Arial MT"/>
                <a:cs typeface="Arial MT"/>
              </a:rPr>
              <a:t>is</a:t>
            </a:r>
            <a:r>
              <a:rPr sz="1500" spc="-45" dirty="0">
                <a:latin typeface="Arial MT"/>
                <a:cs typeface="Arial MT"/>
              </a:rPr>
              <a:t> </a:t>
            </a:r>
            <a:r>
              <a:rPr sz="1500" dirty="0">
                <a:latin typeface="Arial MT"/>
                <a:cs typeface="Arial MT"/>
              </a:rPr>
              <a:t>an</a:t>
            </a:r>
            <a:r>
              <a:rPr sz="1500" spc="-60" dirty="0">
                <a:latin typeface="Arial MT"/>
                <a:cs typeface="Arial MT"/>
              </a:rPr>
              <a:t> </a:t>
            </a:r>
            <a:r>
              <a:rPr sz="1500" dirty="0">
                <a:latin typeface="Arial MT"/>
                <a:cs typeface="Arial MT"/>
              </a:rPr>
              <a:t>indigenous</a:t>
            </a:r>
            <a:r>
              <a:rPr sz="1500" spc="-60" dirty="0">
                <a:latin typeface="Arial MT"/>
                <a:cs typeface="Arial MT"/>
              </a:rPr>
              <a:t> </a:t>
            </a:r>
            <a:r>
              <a:rPr sz="1500" dirty="0">
                <a:latin typeface="Arial MT"/>
                <a:cs typeface="Arial MT"/>
              </a:rPr>
              <a:t>company</a:t>
            </a:r>
            <a:r>
              <a:rPr sz="1500" spc="-60" dirty="0">
                <a:latin typeface="Arial MT"/>
                <a:cs typeface="Arial MT"/>
              </a:rPr>
              <a:t> </a:t>
            </a:r>
            <a:r>
              <a:rPr sz="1500" dirty="0">
                <a:latin typeface="Arial MT"/>
                <a:cs typeface="Arial MT"/>
              </a:rPr>
              <a:t>based</a:t>
            </a:r>
            <a:r>
              <a:rPr sz="1500" spc="-55" dirty="0">
                <a:latin typeface="Arial MT"/>
                <a:cs typeface="Arial MT"/>
              </a:rPr>
              <a:t> </a:t>
            </a:r>
            <a:r>
              <a:rPr sz="1500" dirty="0">
                <a:latin typeface="Arial MT"/>
                <a:cs typeface="Arial MT"/>
              </a:rPr>
              <a:t>in</a:t>
            </a:r>
            <a:r>
              <a:rPr sz="1500" spc="-50" dirty="0">
                <a:latin typeface="Arial MT"/>
                <a:cs typeface="Arial MT"/>
              </a:rPr>
              <a:t> </a:t>
            </a:r>
            <a:r>
              <a:rPr sz="1500" dirty="0">
                <a:latin typeface="Arial MT"/>
                <a:cs typeface="Arial MT"/>
              </a:rPr>
              <a:t>Nigeria</a:t>
            </a:r>
            <a:r>
              <a:rPr sz="1500" spc="-45" dirty="0">
                <a:latin typeface="Arial MT"/>
                <a:cs typeface="Arial MT"/>
              </a:rPr>
              <a:t> </a:t>
            </a:r>
            <a:r>
              <a:rPr sz="1500" dirty="0">
                <a:latin typeface="Arial MT"/>
                <a:cs typeface="Arial MT"/>
              </a:rPr>
              <a:t>and</a:t>
            </a:r>
            <a:r>
              <a:rPr sz="1500" spc="-45" dirty="0">
                <a:latin typeface="Arial MT"/>
                <a:cs typeface="Arial MT"/>
              </a:rPr>
              <a:t> </a:t>
            </a:r>
            <a:r>
              <a:rPr sz="1500" dirty="0">
                <a:latin typeface="Arial MT"/>
                <a:cs typeface="Arial MT"/>
              </a:rPr>
              <a:t>registered</a:t>
            </a:r>
            <a:r>
              <a:rPr sz="1500" spc="-65" dirty="0">
                <a:latin typeface="Arial MT"/>
                <a:cs typeface="Arial MT"/>
              </a:rPr>
              <a:t> </a:t>
            </a:r>
            <a:r>
              <a:rPr sz="1500" spc="-10" dirty="0">
                <a:latin typeface="Arial MT"/>
                <a:cs typeface="Arial MT"/>
              </a:rPr>
              <a:t>under </a:t>
            </a:r>
            <a:r>
              <a:rPr sz="1500" dirty="0">
                <a:latin typeface="Arial MT"/>
                <a:cs typeface="Arial MT"/>
              </a:rPr>
              <a:t>the</a:t>
            </a:r>
            <a:r>
              <a:rPr sz="1500" spc="-55" dirty="0">
                <a:latin typeface="Arial MT"/>
                <a:cs typeface="Arial MT"/>
              </a:rPr>
              <a:t> </a:t>
            </a:r>
            <a:r>
              <a:rPr sz="1500" spc="-10" dirty="0">
                <a:latin typeface="Arial MT"/>
                <a:cs typeface="Arial MT"/>
              </a:rPr>
              <a:t>Companies</a:t>
            </a:r>
            <a:r>
              <a:rPr sz="1500" spc="-90" dirty="0">
                <a:latin typeface="Arial MT"/>
                <a:cs typeface="Arial MT"/>
              </a:rPr>
              <a:t> </a:t>
            </a:r>
            <a:r>
              <a:rPr sz="1500" dirty="0">
                <a:latin typeface="Arial MT"/>
                <a:cs typeface="Arial MT"/>
              </a:rPr>
              <a:t>And</a:t>
            </a:r>
            <a:r>
              <a:rPr sz="1500" spc="-95" dirty="0">
                <a:latin typeface="Arial MT"/>
                <a:cs typeface="Arial MT"/>
              </a:rPr>
              <a:t> </a:t>
            </a:r>
            <a:r>
              <a:rPr sz="1500" dirty="0">
                <a:latin typeface="Arial MT"/>
                <a:cs typeface="Arial MT"/>
              </a:rPr>
              <a:t>Allied</a:t>
            </a:r>
            <a:r>
              <a:rPr sz="1500" spc="-15" dirty="0">
                <a:latin typeface="Arial MT"/>
                <a:cs typeface="Arial MT"/>
              </a:rPr>
              <a:t> </a:t>
            </a:r>
            <a:r>
              <a:rPr sz="1500" spc="-10" dirty="0">
                <a:latin typeface="Arial MT"/>
                <a:cs typeface="Arial MT"/>
              </a:rPr>
              <a:t>Matter</a:t>
            </a:r>
            <a:r>
              <a:rPr sz="1500" spc="-105" dirty="0">
                <a:latin typeface="Arial MT"/>
                <a:cs typeface="Arial MT"/>
              </a:rPr>
              <a:t> </a:t>
            </a:r>
            <a:r>
              <a:rPr sz="1500" dirty="0">
                <a:latin typeface="Arial MT"/>
                <a:cs typeface="Arial MT"/>
              </a:rPr>
              <a:t>Act</a:t>
            </a:r>
            <a:r>
              <a:rPr sz="1500" spc="-35" dirty="0">
                <a:latin typeface="Arial MT"/>
                <a:cs typeface="Arial MT"/>
              </a:rPr>
              <a:t> </a:t>
            </a:r>
            <a:r>
              <a:rPr sz="1500" dirty="0">
                <a:latin typeface="Arial MT"/>
                <a:cs typeface="Arial MT"/>
              </a:rPr>
              <a:t>(CAMA) with</a:t>
            </a:r>
            <a:r>
              <a:rPr sz="1500" spc="-10" dirty="0">
                <a:latin typeface="Arial MT"/>
                <a:cs typeface="Arial MT"/>
              </a:rPr>
              <a:t> </a:t>
            </a:r>
            <a:r>
              <a:rPr sz="1500" dirty="0">
                <a:latin typeface="Arial MT"/>
                <a:cs typeface="Arial MT"/>
              </a:rPr>
              <a:t>registration</a:t>
            </a:r>
            <a:r>
              <a:rPr sz="1500" spc="-60" dirty="0">
                <a:latin typeface="Arial MT"/>
                <a:cs typeface="Arial MT"/>
              </a:rPr>
              <a:t> </a:t>
            </a:r>
            <a:r>
              <a:rPr sz="1500" spc="-10" dirty="0">
                <a:latin typeface="Arial MT"/>
                <a:cs typeface="Arial MT"/>
              </a:rPr>
              <a:t>number;RC460185.</a:t>
            </a:r>
            <a:r>
              <a:rPr sz="1500" spc="-40" dirty="0">
                <a:latin typeface="Arial MT"/>
                <a:cs typeface="Arial MT"/>
              </a:rPr>
              <a:t> </a:t>
            </a:r>
            <a:r>
              <a:rPr sz="1500" dirty="0">
                <a:latin typeface="Arial MT"/>
                <a:cs typeface="Arial MT"/>
              </a:rPr>
              <a:t>Our</a:t>
            </a:r>
            <a:r>
              <a:rPr sz="1500" spc="-20" dirty="0">
                <a:latin typeface="Arial MT"/>
                <a:cs typeface="Arial MT"/>
              </a:rPr>
              <a:t> </a:t>
            </a:r>
            <a:r>
              <a:rPr sz="1500" spc="-10" dirty="0">
                <a:latin typeface="Arial MT"/>
                <a:cs typeface="Arial MT"/>
              </a:rPr>
              <a:t>Prestigious </a:t>
            </a:r>
            <a:r>
              <a:rPr sz="1500" dirty="0">
                <a:latin typeface="Arial MT"/>
                <a:cs typeface="Arial MT"/>
              </a:rPr>
              <a:t>Organization</a:t>
            </a:r>
            <a:r>
              <a:rPr sz="1500" spc="-95" dirty="0">
                <a:latin typeface="Arial MT"/>
                <a:cs typeface="Arial MT"/>
              </a:rPr>
              <a:t> </a:t>
            </a:r>
            <a:r>
              <a:rPr sz="1500" dirty="0">
                <a:latin typeface="Arial MT"/>
                <a:cs typeface="Arial MT"/>
              </a:rPr>
              <a:t>is</a:t>
            </a:r>
            <a:r>
              <a:rPr sz="1500" spc="-45" dirty="0">
                <a:latin typeface="Arial MT"/>
                <a:cs typeface="Arial MT"/>
              </a:rPr>
              <a:t> </a:t>
            </a:r>
            <a:r>
              <a:rPr sz="1500" dirty="0">
                <a:latin typeface="Arial MT"/>
                <a:cs typeface="Arial MT"/>
              </a:rPr>
              <a:t>a</a:t>
            </a:r>
            <a:r>
              <a:rPr sz="1500" spc="-45" dirty="0">
                <a:latin typeface="Arial MT"/>
                <a:cs typeface="Arial MT"/>
              </a:rPr>
              <a:t> </a:t>
            </a:r>
            <a:r>
              <a:rPr sz="1500" dirty="0">
                <a:latin typeface="Arial MT"/>
                <a:cs typeface="Arial MT"/>
              </a:rPr>
              <a:t>registered</a:t>
            </a:r>
            <a:r>
              <a:rPr sz="1500" spc="-65" dirty="0">
                <a:latin typeface="Arial MT"/>
                <a:cs typeface="Arial MT"/>
              </a:rPr>
              <a:t> </a:t>
            </a:r>
            <a:r>
              <a:rPr sz="1500" dirty="0">
                <a:latin typeface="Arial MT"/>
                <a:cs typeface="Arial MT"/>
              </a:rPr>
              <a:t>member</a:t>
            </a:r>
            <a:r>
              <a:rPr sz="1500" spc="-55" dirty="0">
                <a:latin typeface="Arial MT"/>
                <a:cs typeface="Arial MT"/>
              </a:rPr>
              <a:t> </a:t>
            </a:r>
            <a:r>
              <a:rPr sz="1500" dirty="0">
                <a:latin typeface="Arial MT"/>
                <a:cs typeface="Arial MT"/>
              </a:rPr>
              <a:t>of</a:t>
            </a:r>
            <a:r>
              <a:rPr sz="1500" spc="-50" dirty="0">
                <a:latin typeface="Arial MT"/>
                <a:cs typeface="Arial MT"/>
              </a:rPr>
              <a:t> </a:t>
            </a:r>
            <a:r>
              <a:rPr sz="1500" spc="-10" dirty="0">
                <a:latin typeface="Arial MT"/>
                <a:cs typeface="Arial MT"/>
              </a:rPr>
              <a:t>the</a:t>
            </a:r>
            <a:r>
              <a:rPr sz="1500" spc="-105" dirty="0">
                <a:latin typeface="Arial MT"/>
                <a:cs typeface="Arial MT"/>
              </a:rPr>
              <a:t> </a:t>
            </a:r>
            <a:r>
              <a:rPr sz="1500" dirty="0">
                <a:latin typeface="Arial MT"/>
                <a:cs typeface="Arial MT"/>
              </a:rPr>
              <a:t>Advertising</a:t>
            </a:r>
            <a:r>
              <a:rPr sz="1500" spc="-40" dirty="0">
                <a:latin typeface="Arial MT"/>
                <a:cs typeface="Arial MT"/>
              </a:rPr>
              <a:t> </a:t>
            </a:r>
            <a:r>
              <a:rPr sz="1500" dirty="0">
                <a:latin typeface="Arial MT"/>
                <a:cs typeface="Arial MT"/>
              </a:rPr>
              <a:t>Regulatory</a:t>
            </a:r>
            <a:r>
              <a:rPr sz="1500" spc="-60" dirty="0">
                <a:latin typeface="Arial MT"/>
                <a:cs typeface="Arial MT"/>
              </a:rPr>
              <a:t> </a:t>
            </a:r>
            <a:r>
              <a:rPr sz="1500" dirty="0">
                <a:latin typeface="Arial MT"/>
                <a:cs typeface="Arial MT"/>
              </a:rPr>
              <a:t>Council</a:t>
            </a:r>
            <a:r>
              <a:rPr sz="1500" spc="-40" dirty="0">
                <a:latin typeface="Arial MT"/>
                <a:cs typeface="Arial MT"/>
              </a:rPr>
              <a:t> </a:t>
            </a:r>
            <a:r>
              <a:rPr sz="1500" dirty="0">
                <a:latin typeface="Arial MT"/>
                <a:cs typeface="Arial MT"/>
              </a:rPr>
              <a:t>Of</a:t>
            </a:r>
            <a:r>
              <a:rPr sz="1500" spc="-50" dirty="0">
                <a:latin typeface="Arial MT"/>
                <a:cs typeface="Arial MT"/>
              </a:rPr>
              <a:t> </a:t>
            </a:r>
            <a:r>
              <a:rPr sz="1500" dirty="0">
                <a:latin typeface="Arial MT"/>
                <a:cs typeface="Arial MT"/>
              </a:rPr>
              <a:t>Nigeria</a:t>
            </a:r>
            <a:r>
              <a:rPr sz="1500" spc="-45" dirty="0">
                <a:latin typeface="Arial MT"/>
                <a:cs typeface="Arial MT"/>
              </a:rPr>
              <a:t> </a:t>
            </a:r>
            <a:r>
              <a:rPr sz="1500" dirty="0">
                <a:latin typeface="Arial MT"/>
                <a:cs typeface="Arial MT"/>
              </a:rPr>
              <a:t>(ARCON)</a:t>
            </a:r>
            <a:r>
              <a:rPr sz="1500" spc="-25" dirty="0">
                <a:latin typeface="Arial MT"/>
                <a:cs typeface="Arial MT"/>
              </a:rPr>
              <a:t> </a:t>
            </a:r>
            <a:r>
              <a:rPr sz="1500" spc="-20" dirty="0">
                <a:latin typeface="Arial MT"/>
                <a:cs typeface="Arial MT"/>
              </a:rPr>
              <a:t>with </a:t>
            </a:r>
            <a:r>
              <a:rPr sz="1500" dirty="0">
                <a:latin typeface="Arial MT"/>
                <a:cs typeface="Arial MT"/>
              </a:rPr>
              <a:t>membership</a:t>
            </a:r>
            <a:r>
              <a:rPr sz="1500" spc="-80" dirty="0">
                <a:latin typeface="Arial MT"/>
                <a:cs typeface="Arial MT"/>
              </a:rPr>
              <a:t> </a:t>
            </a:r>
            <a:r>
              <a:rPr sz="1500" dirty="0">
                <a:latin typeface="Arial MT"/>
                <a:cs typeface="Arial MT"/>
              </a:rPr>
              <a:t>Number;</a:t>
            </a:r>
            <a:r>
              <a:rPr sz="1500" spc="-30" dirty="0">
                <a:latin typeface="Arial MT"/>
                <a:cs typeface="Arial MT"/>
              </a:rPr>
              <a:t> </a:t>
            </a:r>
            <a:r>
              <a:rPr sz="1500" dirty="0">
                <a:latin typeface="Arial MT"/>
                <a:cs typeface="Arial MT"/>
              </a:rPr>
              <a:t>032</a:t>
            </a:r>
            <a:r>
              <a:rPr sz="1500" spc="-45" dirty="0">
                <a:latin typeface="Arial MT"/>
                <a:cs typeface="Arial MT"/>
              </a:rPr>
              <a:t> </a:t>
            </a:r>
            <a:r>
              <a:rPr sz="1500" dirty="0">
                <a:latin typeface="Arial MT"/>
                <a:cs typeface="Arial MT"/>
              </a:rPr>
              <a:t>and</a:t>
            </a:r>
            <a:r>
              <a:rPr sz="1500" spc="-30" dirty="0">
                <a:latin typeface="Arial MT"/>
                <a:cs typeface="Arial MT"/>
              </a:rPr>
              <a:t> </a:t>
            </a:r>
            <a:r>
              <a:rPr sz="1500" dirty="0">
                <a:latin typeface="Arial MT"/>
                <a:cs typeface="Arial MT"/>
              </a:rPr>
              <a:t>also</a:t>
            </a:r>
            <a:r>
              <a:rPr sz="1500" spc="-35" dirty="0">
                <a:latin typeface="Arial MT"/>
                <a:cs typeface="Arial MT"/>
              </a:rPr>
              <a:t> </a:t>
            </a:r>
            <a:r>
              <a:rPr sz="1500" dirty="0">
                <a:latin typeface="Arial MT"/>
                <a:cs typeface="Arial MT"/>
              </a:rPr>
              <a:t>a</a:t>
            </a:r>
            <a:r>
              <a:rPr sz="1500" spc="-35" dirty="0">
                <a:latin typeface="Arial MT"/>
                <a:cs typeface="Arial MT"/>
              </a:rPr>
              <a:t> </a:t>
            </a:r>
            <a:r>
              <a:rPr sz="1500" dirty="0">
                <a:latin typeface="Arial MT"/>
                <a:cs typeface="Arial MT"/>
              </a:rPr>
              <a:t>registered</a:t>
            </a:r>
            <a:r>
              <a:rPr sz="1500" spc="-70" dirty="0">
                <a:latin typeface="Arial MT"/>
                <a:cs typeface="Arial MT"/>
              </a:rPr>
              <a:t> </a:t>
            </a:r>
            <a:r>
              <a:rPr sz="1500" dirty="0">
                <a:latin typeface="Arial MT"/>
                <a:cs typeface="Arial MT"/>
              </a:rPr>
              <a:t>member</a:t>
            </a:r>
            <a:r>
              <a:rPr sz="1500" spc="-35" dirty="0">
                <a:latin typeface="Arial MT"/>
                <a:cs typeface="Arial MT"/>
              </a:rPr>
              <a:t> </a:t>
            </a:r>
            <a:r>
              <a:rPr sz="1500" dirty="0">
                <a:latin typeface="Arial MT"/>
                <a:cs typeface="Arial MT"/>
              </a:rPr>
              <a:t>of</a:t>
            </a:r>
            <a:r>
              <a:rPr sz="1500" spc="-35" dirty="0">
                <a:latin typeface="Arial MT"/>
                <a:cs typeface="Arial MT"/>
              </a:rPr>
              <a:t> </a:t>
            </a:r>
            <a:r>
              <a:rPr sz="1500" dirty="0">
                <a:latin typeface="Arial MT"/>
                <a:cs typeface="Arial MT"/>
              </a:rPr>
              <a:t>the</a:t>
            </a:r>
            <a:r>
              <a:rPr sz="1500" spc="-45" dirty="0">
                <a:latin typeface="Arial MT"/>
                <a:cs typeface="Arial MT"/>
              </a:rPr>
              <a:t> </a:t>
            </a:r>
            <a:r>
              <a:rPr sz="1500" dirty="0">
                <a:latin typeface="Arial MT"/>
                <a:cs typeface="Arial MT"/>
              </a:rPr>
              <a:t>Out</a:t>
            </a:r>
            <a:r>
              <a:rPr sz="1500" spc="-30" dirty="0">
                <a:latin typeface="Arial MT"/>
                <a:cs typeface="Arial MT"/>
              </a:rPr>
              <a:t> </a:t>
            </a:r>
            <a:r>
              <a:rPr sz="1500" dirty="0">
                <a:latin typeface="Arial MT"/>
                <a:cs typeface="Arial MT"/>
              </a:rPr>
              <a:t>of</a:t>
            </a:r>
            <a:r>
              <a:rPr sz="1500" spc="-45" dirty="0">
                <a:latin typeface="Arial MT"/>
                <a:cs typeface="Arial MT"/>
              </a:rPr>
              <a:t> </a:t>
            </a:r>
            <a:r>
              <a:rPr sz="1500" spc="-20" dirty="0">
                <a:latin typeface="Arial MT"/>
                <a:cs typeface="Arial MT"/>
              </a:rPr>
              <a:t>Home</a:t>
            </a:r>
            <a:r>
              <a:rPr sz="1500" spc="-85" dirty="0">
                <a:latin typeface="Arial MT"/>
                <a:cs typeface="Arial MT"/>
              </a:rPr>
              <a:t> </a:t>
            </a:r>
            <a:r>
              <a:rPr sz="1500" spc="-10" dirty="0">
                <a:latin typeface="Arial MT"/>
                <a:cs typeface="Arial MT"/>
              </a:rPr>
              <a:t>Advertising</a:t>
            </a:r>
            <a:r>
              <a:rPr sz="1500" spc="-95" dirty="0">
                <a:latin typeface="Arial MT"/>
                <a:cs typeface="Arial MT"/>
              </a:rPr>
              <a:t> </a:t>
            </a:r>
            <a:r>
              <a:rPr sz="1500" dirty="0">
                <a:latin typeface="Arial MT"/>
                <a:cs typeface="Arial MT"/>
              </a:rPr>
              <a:t>Association</a:t>
            </a:r>
            <a:r>
              <a:rPr sz="1500" spc="-55" dirty="0">
                <a:latin typeface="Arial MT"/>
                <a:cs typeface="Arial MT"/>
              </a:rPr>
              <a:t> </a:t>
            </a:r>
            <a:r>
              <a:rPr sz="1500" spc="-25" dirty="0">
                <a:latin typeface="Arial MT"/>
                <a:cs typeface="Arial MT"/>
              </a:rPr>
              <a:t>Of </a:t>
            </a:r>
            <a:r>
              <a:rPr sz="1500" dirty="0">
                <a:latin typeface="Arial MT"/>
                <a:cs typeface="Arial MT"/>
              </a:rPr>
              <a:t>Nigeria(OAAN)</a:t>
            </a:r>
            <a:r>
              <a:rPr sz="1500" spc="-50" dirty="0">
                <a:latin typeface="Arial MT"/>
                <a:cs typeface="Arial MT"/>
              </a:rPr>
              <a:t> </a:t>
            </a:r>
            <a:r>
              <a:rPr sz="1500" dirty="0">
                <a:latin typeface="Arial MT"/>
                <a:cs typeface="Arial MT"/>
              </a:rPr>
              <a:t>with</a:t>
            </a:r>
            <a:r>
              <a:rPr sz="1500" spc="-45" dirty="0">
                <a:latin typeface="Arial MT"/>
                <a:cs typeface="Arial MT"/>
              </a:rPr>
              <a:t> </a:t>
            </a:r>
            <a:r>
              <a:rPr sz="1500" dirty="0">
                <a:latin typeface="Arial MT"/>
                <a:cs typeface="Arial MT"/>
              </a:rPr>
              <a:t>membership</a:t>
            </a:r>
            <a:r>
              <a:rPr sz="1500" spc="-60" dirty="0">
                <a:latin typeface="Arial MT"/>
                <a:cs typeface="Arial MT"/>
              </a:rPr>
              <a:t> </a:t>
            </a:r>
            <a:r>
              <a:rPr sz="1500" dirty="0">
                <a:latin typeface="Arial MT"/>
                <a:cs typeface="Arial MT"/>
              </a:rPr>
              <a:t>number;067.</a:t>
            </a:r>
            <a:r>
              <a:rPr sz="1500" spc="-75" dirty="0">
                <a:latin typeface="Arial MT"/>
                <a:cs typeface="Arial MT"/>
              </a:rPr>
              <a:t> </a:t>
            </a:r>
            <a:r>
              <a:rPr sz="1500" dirty="0">
                <a:latin typeface="Arial MT"/>
                <a:cs typeface="Arial MT"/>
              </a:rPr>
              <a:t>We</a:t>
            </a:r>
            <a:r>
              <a:rPr sz="1500" spc="275" dirty="0">
                <a:latin typeface="Arial MT"/>
                <a:cs typeface="Arial MT"/>
              </a:rPr>
              <a:t> </a:t>
            </a:r>
            <a:r>
              <a:rPr sz="1500" dirty="0">
                <a:latin typeface="Arial MT"/>
                <a:cs typeface="Arial MT"/>
              </a:rPr>
              <a:t>specialize</a:t>
            </a:r>
            <a:r>
              <a:rPr sz="1500" spc="-75" dirty="0">
                <a:latin typeface="Arial MT"/>
                <a:cs typeface="Arial MT"/>
              </a:rPr>
              <a:t> </a:t>
            </a:r>
            <a:r>
              <a:rPr sz="1500" dirty="0">
                <a:latin typeface="Arial MT"/>
                <a:cs typeface="Arial MT"/>
              </a:rPr>
              <a:t>in</a:t>
            </a:r>
            <a:r>
              <a:rPr sz="1500" spc="-50" dirty="0">
                <a:latin typeface="Arial MT"/>
                <a:cs typeface="Arial MT"/>
              </a:rPr>
              <a:t> </a:t>
            </a:r>
            <a:r>
              <a:rPr sz="1500" dirty="0">
                <a:latin typeface="Arial MT"/>
                <a:cs typeface="Arial MT"/>
              </a:rPr>
              <a:t>developing</a:t>
            </a:r>
            <a:r>
              <a:rPr sz="1500" spc="-45" dirty="0">
                <a:latin typeface="Arial MT"/>
                <a:cs typeface="Arial MT"/>
              </a:rPr>
              <a:t> </a:t>
            </a:r>
            <a:r>
              <a:rPr sz="1500" dirty="0">
                <a:latin typeface="Arial MT"/>
                <a:cs typeface="Arial MT"/>
              </a:rPr>
              <a:t>innovative</a:t>
            </a:r>
            <a:r>
              <a:rPr sz="1500" spc="-35" dirty="0">
                <a:latin typeface="Arial MT"/>
                <a:cs typeface="Arial MT"/>
              </a:rPr>
              <a:t> </a:t>
            </a:r>
            <a:r>
              <a:rPr sz="1500" dirty="0">
                <a:latin typeface="Arial MT"/>
                <a:cs typeface="Arial MT"/>
              </a:rPr>
              <a:t>ways</a:t>
            </a:r>
            <a:r>
              <a:rPr sz="1500" spc="-20" dirty="0">
                <a:latin typeface="Arial MT"/>
                <a:cs typeface="Arial MT"/>
              </a:rPr>
              <a:t> </a:t>
            </a:r>
            <a:r>
              <a:rPr sz="1500" dirty="0">
                <a:latin typeface="Arial MT"/>
                <a:cs typeface="Arial MT"/>
              </a:rPr>
              <a:t>to</a:t>
            </a:r>
            <a:r>
              <a:rPr sz="1500" spc="-60" dirty="0">
                <a:latin typeface="Arial MT"/>
                <a:cs typeface="Arial MT"/>
              </a:rPr>
              <a:t> </a:t>
            </a:r>
            <a:r>
              <a:rPr sz="1500" dirty="0">
                <a:latin typeface="Arial MT"/>
                <a:cs typeface="Arial MT"/>
              </a:rPr>
              <a:t>assist</a:t>
            </a:r>
            <a:r>
              <a:rPr sz="1500" spc="-75" dirty="0">
                <a:latin typeface="Arial MT"/>
                <a:cs typeface="Arial MT"/>
              </a:rPr>
              <a:t> </a:t>
            </a:r>
            <a:r>
              <a:rPr sz="1500" spc="-25" dirty="0">
                <a:latin typeface="Arial MT"/>
                <a:cs typeface="Arial MT"/>
              </a:rPr>
              <a:t>our </a:t>
            </a:r>
            <a:r>
              <a:rPr sz="1500" dirty="0">
                <a:latin typeface="Arial MT"/>
                <a:cs typeface="Arial MT"/>
              </a:rPr>
              <a:t>clients</a:t>
            </a:r>
            <a:r>
              <a:rPr sz="1500" spc="-50" dirty="0">
                <a:latin typeface="Arial MT"/>
                <a:cs typeface="Arial MT"/>
              </a:rPr>
              <a:t> </a:t>
            </a:r>
            <a:r>
              <a:rPr sz="1500" dirty="0">
                <a:latin typeface="Arial MT"/>
                <a:cs typeface="Arial MT"/>
              </a:rPr>
              <a:t>to</a:t>
            </a:r>
            <a:r>
              <a:rPr sz="1500" spc="-45" dirty="0">
                <a:latin typeface="Arial MT"/>
                <a:cs typeface="Arial MT"/>
              </a:rPr>
              <a:t> </a:t>
            </a:r>
            <a:r>
              <a:rPr sz="1500" dirty="0">
                <a:latin typeface="Arial MT"/>
                <a:cs typeface="Arial MT"/>
              </a:rPr>
              <a:t>grow</a:t>
            </a:r>
            <a:r>
              <a:rPr sz="1500" spc="-45" dirty="0">
                <a:latin typeface="Arial MT"/>
                <a:cs typeface="Arial MT"/>
              </a:rPr>
              <a:t> </a:t>
            </a:r>
            <a:r>
              <a:rPr sz="1500" dirty="0">
                <a:latin typeface="Arial MT"/>
                <a:cs typeface="Arial MT"/>
              </a:rPr>
              <a:t>their</a:t>
            </a:r>
            <a:r>
              <a:rPr sz="1500" spc="-35" dirty="0">
                <a:latin typeface="Arial MT"/>
                <a:cs typeface="Arial MT"/>
              </a:rPr>
              <a:t> </a:t>
            </a:r>
            <a:r>
              <a:rPr sz="1500" dirty="0">
                <a:latin typeface="Arial MT"/>
                <a:cs typeface="Arial MT"/>
              </a:rPr>
              <a:t>products,</a:t>
            </a:r>
            <a:r>
              <a:rPr sz="1500" spc="-80" dirty="0">
                <a:latin typeface="Arial MT"/>
                <a:cs typeface="Arial MT"/>
              </a:rPr>
              <a:t> </a:t>
            </a:r>
            <a:r>
              <a:rPr sz="1500" dirty="0">
                <a:latin typeface="Arial MT"/>
                <a:cs typeface="Arial MT"/>
              </a:rPr>
              <a:t>improve</a:t>
            </a:r>
            <a:r>
              <a:rPr sz="1500" spc="350" dirty="0">
                <a:latin typeface="Arial MT"/>
                <a:cs typeface="Arial MT"/>
              </a:rPr>
              <a:t> </a:t>
            </a:r>
            <a:r>
              <a:rPr sz="1500" dirty="0">
                <a:latin typeface="Arial MT"/>
                <a:cs typeface="Arial MT"/>
              </a:rPr>
              <a:t>their</a:t>
            </a:r>
            <a:r>
              <a:rPr sz="1500" spc="-45" dirty="0">
                <a:latin typeface="Arial MT"/>
                <a:cs typeface="Arial MT"/>
              </a:rPr>
              <a:t> </a:t>
            </a:r>
            <a:r>
              <a:rPr sz="1500" dirty="0">
                <a:latin typeface="Arial MT"/>
                <a:cs typeface="Arial MT"/>
              </a:rPr>
              <a:t>brand</a:t>
            </a:r>
            <a:r>
              <a:rPr sz="1500" spc="-50" dirty="0">
                <a:latin typeface="Arial MT"/>
                <a:cs typeface="Arial MT"/>
              </a:rPr>
              <a:t> </a:t>
            </a:r>
            <a:r>
              <a:rPr sz="1500" dirty="0">
                <a:latin typeface="Arial MT"/>
                <a:cs typeface="Arial MT"/>
              </a:rPr>
              <a:t>while</a:t>
            </a:r>
            <a:r>
              <a:rPr sz="1500" spc="-15" dirty="0">
                <a:latin typeface="Arial MT"/>
                <a:cs typeface="Arial MT"/>
              </a:rPr>
              <a:t> </a:t>
            </a:r>
            <a:r>
              <a:rPr sz="1500" dirty="0">
                <a:latin typeface="Arial MT"/>
                <a:cs typeface="Arial MT"/>
              </a:rPr>
              <a:t>at</a:t>
            </a:r>
            <a:r>
              <a:rPr sz="1500" spc="-45" dirty="0">
                <a:latin typeface="Arial MT"/>
                <a:cs typeface="Arial MT"/>
              </a:rPr>
              <a:t> </a:t>
            </a:r>
            <a:r>
              <a:rPr sz="1500" dirty="0">
                <a:latin typeface="Arial MT"/>
                <a:cs typeface="Arial MT"/>
              </a:rPr>
              <a:t>the</a:t>
            </a:r>
            <a:r>
              <a:rPr sz="1500" spc="-50" dirty="0">
                <a:latin typeface="Arial MT"/>
                <a:cs typeface="Arial MT"/>
              </a:rPr>
              <a:t> </a:t>
            </a:r>
            <a:r>
              <a:rPr sz="1500" dirty="0">
                <a:latin typeface="Arial MT"/>
                <a:cs typeface="Arial MT"/>
              </a:rPr>
              <a:t>same</a:t>
            </a:r>
            <a:r>
              <a:rPr sz="1500" spc="-40" dirty="0">
                <a:latin typeface="Arial MT"/>
                <a:cs typeface="Arial MT"/>
              </a:rPr>
              <a:t> </a:t>
            </a:r>
            <a:r>
              <a:rPr sz="1500" dirty="0">
                <a:latin typeface="Arial MT"/>
                <a:cs typeface="Arial MT"/>
              </a:rPr>
              <a:t>time</a:t>
            </a:r>
            <a:r>
              <a:rPr sz="1500" spc="-40" dirty="0">
                <a:latin typeface="Arial MT"/>
                <a:cs typeface="Arial MT"/>
              </a:rPr>
              <a:t> </a:t>
            </a:r>
            <a:r>
              <a:rPr sz="1500" dirty="0">
                <a:latin typeface="Arial MT"/>
                <a:cs typeface="Arial MT"/>
              </a:rPr>
              <a:t>reaching</a:t>
            </a:r>
            <a:r>
              <a:rPr sz="1500" spc="-60" dirty="0">
                <a:latin typeface="Arial MT"/>
                <a:cs typeface="Arial MT"/>
              </a:rPr>
              <a:t> </a:t>
            </a:r>
            <a:r>
              <a:rPr sz="1500" dirty="0">
                <a:latin typeface="Arial MT"/>
                <a:cs typeface="Arial MT"/>
              </a:rPr>
              <a:t>their</a:t>
            </a:r>
            <a:r>
              <a:rPr sz="1500" spc="-45" dirty="0">
                <a:latin typeface="Arial MT"/>
                <a:cs typeface="Arial MT"/>
              </a:rPr>
              <a:t> </a:t>
            </a:r>
            <a:r>
              <a:rPr sz="1500" dirty="0">
                <a:latin typeface="Arial MT"/>
                <a:cs typeface="Arial MT"/>
              </a:rPr>
              <a:t>proposed</a:t>
            </a:r>
            <a:r>
              <a:rPr sz="1500" spc="-50" dirty="0">
                <a:latin typeface="Arial MT"/>
                <a:cs typeface="Arial MT"/>
              </a:rPr>
              <a:t> </a:t>
            </a:r>
            <a:r>
              <a:rPr sz="1500" spc="-10" dirty="0">
                <a:latin typeface="Arial MT"/>
                <a:cs typeface="Arial MT"/>
              </a:rPr>
              <a:t>target </a:t>
            </a:r>
            <a:r>
              <a:rPr sz="1500" dirty="0">
                <a:latin typeface="Arial MT"/>
                <a:cs typeface="Arial MT"/>
              </a:rPr>
              <a:t>markets.</a:t>
            </a:r>
            <a:r>
              <a:rPr sz="1500" spc="-55" dirty="0">
                <a:latin typeface="Arial MT"/>
                <a:cs typeface="Arial MT"/>
              </a:rPr>
              <a:t> </a:t>
            </a:r>
            <a:r>
              <a:rPr sz="1500" dirty="0">
                <a:latin typeface="Arial MT"/>
                <a:cs typeface="Arial MT"/>
              </a:rPr>
              <a:t>Our</a:t>
            </a:r>
            <a:r>
              <a:rPr sz="1500" spc="-35" dirty="0">
                <a:latin typeface="Arial MT"/>
                <a:cs typeface="Arial MT"/>
              </a:rPr>
              <a:t> </a:t>
            </a:r>
            <a:r>
              <a:rPr sz="1500" dirty="0">
                <a:latin typeface="Arial MT"/>
                <a:cs typeface="Arial MT"/>
              </a:rPr>
              <a:t>main</a:t>
            </a:r>
            <a:r>
              <a:rPr sz="1500" spc="365" dirty="0">
                <a:latin typeface="Arial MT"/>
                <a:cs typeface="Arial MT"/>
              </a:rPr>
              <a:t> </a:t>
            </a:r>
            <a:r>
              <a:rPr sz="1500" dirty="0">
                <a:latin typeface="Arial MT"/>
                <a:cs typeface="Arial MT"/>
              </a:rPr>
              <a:t>objective</a:t>
            </a:r>
            <a:r>
              <a:rPr sz="1500" spc="-30" dirty="0">
                <a:latin typeface="Arial MT"/>
                <a:cs typeface="Arial MT"/>
              </a:rPr>
              <a:t> </a:t>
            </a:r>
            <a:r>
              <a:rPr sz="1500" dirty="0">
                <a:latin typeface="Arial MT"/>
                <a:cs typeface="Arial MT"/>
              </a:rPr>
              <a:t>is</a:t>
            </a:r>
            <a:r>
              <a:rPr sz="1500" spc="-25" dirty="0">
                <a:latin typeface="Arial MT"/>
                <a:cs typeface="Arial MT"/>
              </a:rPr>
              <a:t> </a:t>
            </a:r>
            <a:r>
              <a:rPr sz="1500" dirty="0">
                <a:latin typeface="Arial MT"/>
                <a:cs typeface="Arial MT"/>
              </a:rPr>
              <a:t>to</a:t>
            </a:r>
            <a:r>
              <a:rPr sz="1500" spc="-30" dirty="0">
                <a:latin typeface="Arial MT"/>
                <a:cs typeface="Arial MT"/>
              </a:rPr>
              <a:t> </a:t>
            </a:r>
            <a:r>
              <a:rPr sz="1500" dirty="0">
                <a:latin typeface="Arial MT"/>
                <a:cs typeface="Arial MT"/>
              </a:rPr>
              <a:t>ensure</a:t>
            </a:r>
            <a:r>
              <a:rPr sz="1500" spc="-45" dirty="0">
                <a:latin typeface="Arial MT"/>
                <a:cs typeface="Arial MT"/>
              </a:rPr>
              <a:t> </a:t>
            </a:r>
            <a:r>
              <a:rPr sz="1500" dirty="0">
                <a:latin typeface="Arial MT"/>
                <a:cs typeface="Arial MT"/>
              </a:rPr>
              <a:t>that</a:t>
            </a:r>
            <a:r>
              <a:rPr sz="1500" spc="-45" dirty="0">
                <a:latin typeface="Arial MT"/>
                <a:cs typeface="Arial MT"/>
              </a:rPr>
              <a:t> </a:t>
            </a:r>
            <a:r>
              <a:rPr sz="1500" dirty="0">
                <a:latin typeface="Arial MT"/>
                <a:cs typeface="Arial MT"/>
              </a:rPr>
              <a:t>your</a:t>
            </a:r>
            <a:r>
              <a:rPr sz="1500" spc="-15" dirty="0">
                <a:latin typeface="Arial MT"/>
                <a:cs typeface="Arial MT"/>
              </a:rPr>
              <a:t> </a:t>
            </a:r>
            <a:r>
              <a:rPr sz="1500" spc="-10" dirty="0">
                <a:latin typeface="Arial MT"/>
                <a:cs typeface="Arial MT"/>
              </a:rPr>
              <a:t>organization</a:t>
            </a:r>
            <a:r>
              <a:rPr sz="1500" spc="-55" dirty="0">
                <a:latin typeface="Arial MT"/>
                <a:cs typeface="Arial MT"/>
              </a:rPr>
              <a:t> </a:t>
            </a:r>
            <a:r>
              <a:rPr sz="1500" dirty="0">
                <a:latin typeface="Arial MT"/>
                <a:cs typeface="Arial MT"/>
              </a:rPr>
              <a:t>achieves</a:t>
            </a:r>
            <a:r>
              <a:rPr sz="1500" spc="-25" dirty="0">
                <a:latin typeface="Arial MT"/>
                <a:cs typeface="Arial MT"/>
              </a:rPr>
              <a:t> </a:t>
            </a:r>
            <a:r>
              <a:rPr sz="1500" dirty="0">
                <a:latin typeface="Arial MT"/>
                <a:cs typeface="Arial MT"/>
              </a:rPr>
              <a:t>its</a:t>
            </a:r>
            <a:r>
              <a:rPr sz="1500" spc="-45" dirty="0">
                <a:latin typeface="Arial MT"/>
                <a:cs typeface="Arial MT"/>
              </a:rPr>
              <a:t> </a:t>
            </a:r>
            <a:r>
              <a:rPr sz="1500" dirty="0">
                <a:latin typeface="Arial MT"/>
                <a:cs typeface="Arial MT"/>
              </a:rPr>
              <a:t>set</a:t>
            </a:r>
            <a:r>
              <a:rPr sz="1500" spc="-40" dirty="0">
                <a:latin typeface="Arial MT"/>
                <a:cs typeface="Arial MT"/>
              </a:rPr>
              <a:t> </a:t>
            </a:r>
            <a:r>
              <a:rPr sz="1500" dirty="0">
                <a:latin typeface="Arial MT"/>
                <a:cs typeface="Arial MT"/>
              </a:rPr>
              <a:t>advertising</a:t>
            </a:r>
            <a:r>
              <a:rPr sz="1500" spc="-30" dirty="0">
                <a:latin typeface="Arial MT"/>
                <a:cs typeface="Arial MT"/>
              </a:rPr>
              <a:t> </a:t>
            </a:r>
            <a:r>
              <a:rPr sz="1500" dirty="0">
                <a:latin typeface="Arial MT"/>
                <a:cs typeface="Arial MT"/>
              </a:rPr>
              <a:t>goals</a:t>
            </a:r>
            <a:r>
              <a:rPr sz="1500" spc="-35" dirty="0">
                <a:latin typeface="Arial MT"/>
                <a:cs typeface="Arial MT"/>
              </a:rPr>
              <a:t> </a:t>
            </a:r>
            <a:r>
              <a:rPr sz="1500" spc="-10" dirty="0">
                <a:latin typeface="Arial MT"/>
                <a:cs typeface="Arial MT"/>
              </a:rPr>
              <a:t>through </a:t>
            </a:r>
            <a:r>
              <a:rPr sz="1500" dirty="0">
                <a:latin typeface="Arial MT"/>
                <a:cs typeface="Arial MT"/>
              </a:rPr>
              <a:t>the</a:t>
            </a:r>
            <a:r>
              <a:rPr sz="1500" spc="340" dirty="0">
                <a:latin typeface="Arial MT"/>
                <a:cs typeface="Arial MT"/>
              </a:rPr>
              <a:t> </a:t>
            </a:r>
            <a:r>
              <a:rPr sz="1500" dirty="0">
                <a:latin typeface="Arial MT"/>
                <a:cs typeface="Arial MT"/>
              </a:rPr>
              <a:t>usage</a:t>
            </a:r>
            <a:r>
              <a:rPr sz="1500" spc="-40" dirty="0">
                <a:latin typeface="Arial MT"/>
                <a:cs typeface="Arial MT"/>
              </a:rPr>
              <a:t> </a:t>
            </a:r>
            <a:r>
              <a:rPr sz="1500" dirty="0">
                <a:latin typeface="Arial MT"/>
                <a:cs typeface="Arial MT"/>
              </a:rPr>
              <a:t>of</a:t>
            </a:r>
            <a:r>
              <a:rPr sz="1500" spc="-40" dirty="0">
                <a:latin typeface="Arial MT"/>
                <a:cs typeface="Arial MT"/>
              </a:rPr>
              <a:t> </a:t>
            </a:r>
            <a:r>
              <a:rPr sz="1500" dirty="0">
                <a:latin typeface="Arial MT"/>
                <a:cs typeface="Arial MT"/>
              </a:rPr>
              <a:t>multiple</a:t>
            </a:r>
            <a:r>
              <a:rPr sz="1500" spc="-30" dirty="0">
                <a:latin typeface="Arial MT"/>
                <a:cs typeface="Arial MT"/>
              </a:rPr>
              <a:t> </a:t>
            </a:r>
            <a:r>
              <a:rPr sz="1500" dirty="0">
                <a:latin typeface="Arial MT"/>
                <a:cs typeface="Arial MT"/>
              </a:rPr>
              <a:t>outdoor</a:t>
            </a:r>
            <a:r>
              <a:rPr sz="1500" spc="-50" dirty="0">
                <a:latin typeface="Arial MT"/>
                <a:cs typeface="Arial MT"/>
              </a:rPr>
              <a:t> </a:t>
            </a:r>
            <a:r>
              <a:rPr sz="1500" spc="-10" dirty="0">
                <a:latin typeface="Arial MT"/>
                <a:cs typeface="Arial MT"/>
              </a:rPr>
              <a:t>channels.</a:t>
            </a:r>
            <a:endParaRPr sz="1500">
              <a:latin typeface="Arial MT"/>
              <a:cs typeface="Arial MT"/>
            </a:endParaRPr>
          </a:p>
          <a:p>
            <a:pPr>
              <a:lnSpc>
                <a:spcPct val="100000"/>
              </a:lnSpc>
              <a:spcBef>
                <a:spcPts val="75"/>
              </a:spcBef>
              <a:buFont typeface="Arial MT"/>
              <a:buChar char="•"/>
            </a:pPr>
            <a:endParaRPr sz="1500">
              <a:latin typeface="Arial MT"/>
              <a:cs typeface="Arial MT"/>
            </a:endParaRPr>
          </a:p>
          <a:p>
            <a:pPr marL="12700" marR="31750" indent="-8255">
              <a:lnSpc>
                <a:spcPct val="100000"/>
              </a:lnSpc>
              <a:buSzPct val="93333"/>
              <a:buChar char="•"/>
              <a:tabLst>
                <a:tab pos="79375" algn="l"/>
              </a:tabLst>
            </a:pPr>
            <a:r>
              <a:rPr sz="1500" dirty="0">
                <a:latin typeface="Arial MT"/>
                <a:cs typeface="Arial MT"/>
              </a:rPr>
              <a:t>	Regardless</a:t>
            </a:r>
            <a:r>
              <a:rPr sz="1500" spc="-55" dirty="0">
                <a:latin typeface="Arial MT"/>
                <a:cs typeface="Arial MT"/>
              </a:rPr>
              <a:t> </a:t>
            </a:r>
            <a:r>
              <a:rPr sz="1500" dirty="0">
                <a:latin typeface="Arial MT"/>
                <a:cs typeface="Arial MT"/>
              </a:rPr>
              <a:t>of</a:t>
            </a:r>
            <a:r>
              <a:rPr sz="1500" spc="-50" dirty="0">
                <a:latin typeface="Arial MT"/>
                <a:cs typeface="Arial MT"/>
              </a:rPr>
              <a:t> </a:t>
            </a:r>
            <a:r>
              <a:rPr sz="1500" dirty="0">
                <a:latin typeface="Arial MT"/>
                <a:cs typeface="Arial MT"/>
              </a:rPr>
              <a:t>the</a:t>
            </a:r>
            <a:r>
              <a:rPr sz="1500" spc="-45" dirty="0">
                <a:latin typeface="Arial MT"/>
                <a:cs typeface="Arial MT"/>
              </a:rPr>
              <a:t> </a:t>
            </a:r>
            <a:r>
              <a:rPr sz="1500" dirty="0">
                <a:latin typeface="Arial MT"/>
                <a:cs typeface="Arial MT"/>
              </a:rPr>
              <a:t>preferred</a:t>
            </a:r>
            <a:r>
              <a:rPr sz="1500" spc="-75" dirty="0">
                <a:latin typeface="Arial MT"/>
                <a:cs typeface="Arial MT"/>
              </a:rPr>
              <a:t> </a:t>
            </a:r>
            <a:r>
              <a:rPr sz="1500" dirty="0">
                <a:latin typeface="Arial MT"/>
                <a:cs typeface="Arial MT"/>
              </a:rPr>
              <a:t>platform</a:t>
            </a:r>
            <a:r>
              <a:rPr sz="1500" spc="-60" dirty="0">
                <a:latin typeface="Arial MT"/>
                <a:cs typeface="Arial MT"/>
              </a:rPr>
              <a:t> </a:t>
            </a:r>
            <a:r>
              <a:rPr sz="1500" dirty="0">
                <a:latin typeface="Arial MT"/>
                <a:cs typeface="Arial MT"/>
              </a:rPr>
              <a:t>chosen</a:t>
            </a:r>
            <a:r>
              <a:rPr sz="1500" spc="-60" dirty="0">
                <a:latin typeface="Arial MT"/>
                <a:cs typeface="Arial MT"/>
              </a:rPr>
              <a:t> </a:t>
            </a:r>
            <a:r>
              <a:rPr sz="1500" dirty="0">
                <a:latin typeface="Arial MT"/>
                <a:cs typeface="Arial MT"/>
              </a:rPr>
              <a:t>for</a:t>
            </a:r>
            <a:r>
              <a:rPr sz="1500" spc="-40" dirty="0">
                <a:latin typeface="Arial MT"/>
                <a:cs typeface="Arial MT"/>
              </a:rPr>
              <a:t> </a:t>
            </a:r>
            <a:r>
              <a:rPr sz="1500" dirty="0">
                <a:latin typeface="Arial MT"/>
                <a:cs typeface="Arial MT"/>
              </a:rPr>
              <a:t>advertising,</a:t>
            </a:r>
            <a:r>
              <a:rPr sz="1500" spc="-55" dirty="0">
                <a:latin typeface="Arial MT"/>
                <a:cs typeface="Arial MT"/>
              </a:rPr>
              <a:t> </a:t>
            </a:r>
            <a:r>
              <a:rPr sz="1500" dirty="0">
                <a:latin typeface="Arial MT"/>
                <a:cs typeface="Arial MT"/>
              </a:rPr>
              <a:t>Outreach</a:t>
            </a:r>
            <a:r>
              <a:rPr sz="1500" spc="-60" dirty="0">
                <a:latin typeface="Arial MT"/>
                <a:cs typeface="Arial MT"/>
              </a:rPr>
              <a:t> </a:t>
            </a:r>
            <a:r>
              <a:rPr sz="1500" dirty="0">
                <a:latin typeface="Arial MT"/>
                <a:cs typeface="Arial MT"/>
              </a:rPr>
              <a:t>Media</a:t>
            </a:r>
            <a:r>
              <a:rPr sz="1500" spc="-40" dirty="0">
                <a:latin typeface="Arial MT"/>
                <a:cs typeface="Arial MT"/>
              </a:rPr>
              <a:t> </a:t>
            </a:r>
            <a:r>
              <a:rPr sz="1500" dirty="0">
                <a:latin typeface="Arial MT"/>
                <a:cs typeface="Arial MT"/>
              </a:rPr>
              <a:t>will</a:t>
            </a:r>
            <a:r>
              <a:rPr sz="1500" spc="-20" dirty="0">
                <a:latin typeface="Arial MT"/>
                <a:cs typeface="Arial MT"/>
              </a:rPr>
              <a:t> </a:t>
            </a:r>
            <a:r>
              <a:rPr sz="1500" dirty="0">
                <a:latin typeface="Arial MT"/>
                <a:cs typeface="Arial MT"/>
              </a:rPr>
              <a:t>provide</a:t>
            </a:r>
            <a:r>
              <a:rPr sz="1500" spc="-35" dirty="0">
                <a:latin typeface="Arial MT"/>
                <a:cs typeface="Arial MT"/>
              </a:rPr>
              <a:t> </a:t>
            </a:r>
            <a:r>
              <a:rPr sz="1500" dirty="0">
                <a:latin typeface="Arial MT"/>
                <a:cs typeface="Arial MT"/>
              </a:rPr>
              <a:t>the</a:t>
            </a:r>
            <a:r>
              <a:rPr sz="1500" spc="325" dirty="0">
                <a:latin typeface="Arial MT"/>
                <a:cs typeface="Arial MT"/>
              </a:rPr>
              <a:t> </a:t>
            </a:r>
            <a:r>
              <a:rPr sz="1500" spc="-20" dirty="0">
                <a:latin typeface="Arial MT"/>
                <a:cs typeface="Arial MT"/>
              </a:rPr>
              <a:t>most </a:t>
            </a:r>
            <a:r>
              <a:rPr sz="1500" dirty="0">
                <a:latin typeface="Arial MT"/>
                <a:cs typeface="Arial MT"/>
              </a:rPr>
              <a:t>competitive</a:t>
            </a:r>
            <a:r>
              <a:rPr sz="1500" spc="-30" dirty="0">
                <a:latin typeface="Arial MT"/>
                <a:cs typeface="Arial MT"/>
              </a:rPr>
              <a:t> </a:t>
            </a:r>
            <a:r>
              <a:rPr sz="1500" dirty="0">
                <a:latin typeface="Arial MT"/>
                <a:cs typeface="Arial MT"/>
              </a:rPr>
              <a:t>rates</a:t>
            </a:r>
            <a:r>
              <a:rPr sz="1500" spc="-55" dirty="0">
                <a:latin typeface="Arial MT"/>
                <a:cs typeface="Arial MT"/>
              </a:rPr>
              <a:t> </a:t>
            </a:r>
            <a:r>
              <a:rPr sz="1500" dirty="0">
                <a:latin typeface="Arial MT"/>
                <a:cs typeface="Arial MT"/>
              </a:rPr>
              <a:t>and</a:t>
            </a:r>
            <a:r>
              <a:rPr sz="1500" spc="-30" dirty="0">
                <a:latin typeface="Arial MT"/>
                <a:cs typeface="Arial MT"/>
              </a:rPr>
              <a:t> </a:t>
            </a:r>
            <a:r>
              <a:rPr sz="1500" dirty="0">
                <a:latin typeface="Arial MT"/>
                <a:cs typeface="Arial MT"/>
              </a:rPr>
              <a:t>expertise</a:t>
            </a:r>
            <a:r>
              <a:rPr sz="1500" spc="-30" dirty="0">
                <a:latin typeface="Arial MT"/>
                <a:cs typeface="Arial MT"/>
              </a:rPr>
              <a:t> </a:t>
            </a:r>
            <a:r>
              <a:rPr sz="1500" dirty="0">
                <a:latin typeface="Arial MT"/>
                <a:cs typeface="Arial MT"/>
              </a:rPr>
              <a:t>in</a:t>
            </a:r>
            <a:r>
              <a:rPr sz="1500" spc="-30" dirty="0">
                <a:latin typeface="Arial MT"/>
                <a:cs typeface="Arial MT"/>
              </a:rPr>
              <a:t> </a:t>
            </a:r>
            <a:r>
              <a:rPr sz="1500" dirty="0">
                <a:latin typeface="Arial MT"/>
                <a:cs typeface="Arial MT"/>
              </a:rPr>
              <a:t>the</a:t>
            </a:r>
            <a:r>
              <a:rPr sz="1500" spc="-45" dirty="0">
                <a:latin typeface="Arial MT"/>
                <a:cs typeface="Arial MT"/>
              </a:rPr>
              <a:t> </a:t>
            </a:r>
            <a:r>
              <a:rPr sz="1500" dirty="0">
                <a:latin typeface="Arial MT"/>
                <a:cs typeface="Arial MT"/>
              </a:rPr>
              <a:t>industry</a:t>
            </a:r>
            <a:r>
              <a:rPr sz="1500" spc="-50" dirty="0">
                <a:latin typeface="Arial MT"/>
                <a:cs typeface="Arial MT"/>
              </a:rPr>
              <a:t> </a:t>
            </a:r>
            <a:r>
              <a:rPr sz="1500" dirty="0">
                <a:latin typeface="Arial MT"/>
                <a:cs typeface="Arial MT"/>
              </a:rPr>
              <a:t>as</a:t>
            </a:r>
            <a:r>
              <a:rPr sz="1500" spc="-30" dirty="0">
                <a:latin typeface="Arial MT"/>
                <a:cs typeface="Arial MT"/>
              </a:rPr>
              <a:t> </a:t>
            </a:r>
            <a:r>
              <a:rPr sz="1500" dirty="0">
                <a:latin typeface="Arial MT"/>
                <a:cs typeface="Arial MT"/>
              </a:rPr>
              <a:t>well</a:t>
            </a:r>
            <a:r>
              <a:rPr sz="1500" spc="-10" dirty="0">
                <a:latin typeface="Arial MT"/>
                <a:cs typeface="Arial MT"/>
              </a:rPr>
              <a:t> </a:t>
            </a:r>
            <a:r>
              <a:rPr sz="1500" dirty="0">
                <a:latin typeface="Arial MT"/>
                <a:cs typeface="Arial MT"/>
              </a:rPr>
              <a:t>as</a:t>
            </a:r>
            <a:r>
              <a:rPr sz="1500" spc="-30" dirty="0">
                <a:latin typeface="Arial MT"/>
                <a:cs typeface="Arial MT"/>
              </a:rPr>
              <a:t> </a:t>
            </a:r>
            <a:r>
              <a:rPr sz="1500" dirty="0">
                <a:latin typeface="Arial MT"/>
                <a:cs typeface="Arial MT"/>
              </a:rPr>
              <a:t>ensuring</a:t>
            </a:r>
            <a:r>
              <a:rPr sz="1500" spc="-55" dirty="0">
                <a:latin typeface="Arial MT"/>
                <a:cs typeface="Arial MT"/>
              </a:rPr>
              <a:t> </a:t>
            </a:r>
            <a:r>
              <a:rPr sz="1500" dirty="0">
                <a:latin typeface="Arial MT"/>
                <a:cs typeface="Arial MT"/>
              </a:rPr>
              <a:t>that</a:t>
            </a:r>
            <a:r>
              <a:rPr sz="1500" spc="-45" dirty="0">
                <a:latin typeface="Arial MT"/>
                <a:cs typeface="Arial MT"/>
              </a:rPr>
              <a:t> </a:t>
            </a:r>
            <a:r>
              <a:rPr sz="1500" dirty="0">
                <a:latin typeface="Arial MT"/>
                <a:cs typeface="Arial MT"/>
              </a:rPr>
              <a:t>jobs</a:t>
            </a:r>
            <a:r>
              <a:rPr sz="1500" spc="-30" dirty="0">
                <a:latin typeface="Arial MT"/>
                <a:cs typeface="Arial MT"/>
              </a:rPr>
              <a:t> </a:t>
            </a:r>
            <a:r>
              <a:rPr sz="1500" dirty="0">
                <a:latin typeface="Arial MT"/>
                <a:cs typeface="Arial MT"/>
              </a:rPr>
              <a:t>are</a:t>
            </a:r>
            <a:r>
              <a:rPr sz="1500" spc="-35" dirty="0">
                <a:latin typeface="Arial MT"/>
                <a:cs typeface="Arial MT"/>
              </a:rPr>
              <a:t> </a:t>
            </a:r>
            <a:r>
              <a:rPr sz="1500" dirty="0">
                <a:latin typeface="Arial MT"/>
                <a:cs typeface="Arial MT"/>
              </a:rPr>
              <a:t>carried</a:t>
            </a:r>
            <a:r>
              <a:rPr sz="1500" spc="340" dirty="0">
                <a:latin typeface="Arial MT"/>
                <a:cs typeface="Arial MT"/>
              </a:rPr>
              <a:t> </a:t>
            </a:r>
            <a:r>
              <a:rPr sz="1500" dirty="0">
                <a:latin typeface="Arial MT"/>
                <a:cs typeface="Arial MT"/>
              </a:rPr>
              <a:t>out</a:t>
            </a:r>
            <a:r>
              <a:rPr sz="1500" spc="-45" dirty="0">
                <a:latin typeface="Arial MT"/>
                <a:cs typeface="Arial MT"/>
              </a:rPr>
              <a:t> </a:t>
            </a:r>
            <a:r>
              <a:rPr sz="1500" dirty="0">
                <a:latin typeface="Arial MT"/>
                <a:cs typeface="Arial MT"/>
              </a:rPr>
              <a:t>by</a:t>
            </a:r>
            <a:r>
              <a:rPr sz="1500" spc="-45" dirty="0">
                <a:latin typeface="Arial MT"/>
                <a:cs typeface="Arial MT"/>
              </a:rPr>
              <a:t> </a:t>
            </a:r>
            <a:r>
              <a:rPr sz="1500" dirty="0">
                <a:latin typeface="Arial MT"/>
                <a:cs typeface="Arial MT"/>
              </a:rPr>
              <a:t>the</a:t>
            </a:r>
            <a:r>
              <a:rPr sz="1500" spc="-30" dirty="0">
                <a:latin typeface="Arial MT"/>
                <a:cs typeface="Arial MT"/>
              </a:rPr>
              <a:t> </a:t>
            </a:r>
            <a:r>
              <a:rPr sz="1500" spc="-10" dirty="0">
                <a:latin typeface="Arial MT"/>
                <a:cs typeface="Arial MT"/>
              </a:rPr>
              <a:t>highest </a:t>
            </a:r>
            <a:r>
              <a:rPr sz="1500" dirty="0">
                <a:latin typeface="Arial MT"/>
                <a:cs typeface="Arial MT"/>
              </a:rPr>
              <a:t>performing</a:t>
            </a:r>
            <a:r>
              <a:rPr sz="1500" spc="-70" dirty="0">
                <a:latin typeface="Arial MT"/>
                <a:cs typeface="Arial MT"/>
              </a:rPr>
              <a:t> </a:t>
            </a:r>
            <a:r>
              <a:rPr sz="1500" dirty="0">
                <a:latin typeface="Arial MT"/>
                <a:cs typeface="Arial MT"/>
              </a:rPr>
              <a:t>teams</a:t>
            </a:r>
            <a:r>
              <a:rPr sz="1500" spc="-60" dirty="0">
                <a:latin typeface="Arial MT"/>
                <a:cs typeface="Arial MT"/>
              </a:rPr>
              <a:t> </a:t>
            </a:r>
            <a:r>
              <a:rPr sz="1500" dirty="0">
                <a:latin typeface="Arial MT"/>
                <a:cs typeface="Arial MT"/>
              </a:rPr>
              <a:t>with</a:t>
            </a:r>
            <a:r>
              <a:rPr sz="1500" spc="-30" dirty="0">
                <a:latin typeface="Arial MT"/>
                <a:cs typeface="Arial MT"/>
              </a:rPr>
              <a:t> </a:t>
            </a:r>
            <a:r>
              <a:rPr sz="1500" dirty="0">
                <a:latin typeface="Arial MT"/>
                <a:cs typeface="Arial MT"/>
              </a:rPr>
              <a:t>the</a:t>
            </a:r>
            <a:r>
              <a:rPr sz="1500" spc="-55" dirty="0">
                <a:latin typeface="Arial MT"/>
                <a:cs typeface="Arial MT"/>
              </a:rPr>
              <a:t> </a:t>
            </a:r>
            <a:r>
              <a:rPr sz="1500" dirty="0">
                <a:latin typeface="Arial MT"/>
                <a:cs typeface="Arial MT"/>
              </a:rPr>
              <a:t>appropriate</a:t>
            </a:r>
            <a:r>
              <a:rPr sz="1500" spc="-70" dirty="0">
                <a:latin typeface="Arial MT"/>
                <a:cs typeface="Arial MT"/>
              </a:rPr>
              <a:t> </a:t>
            </a:r>
            <a:r>
              <a:rPr sz="1500" dirty="0">
                <a:latin typeface="Arial MT"/>
                <a:cs typeface="Arial MT"/>
              </a:rPr>
              <a:t>skill</a:t>
            </a:r>
            <a:r>
              <a:rPr sz="1500" spc="-60" dirty="0">
                <a:latin typeface="Arial MT"/>
                <a:cs typeface="Arial MT"/>
              </a:rPr>
              <a:t> </a:t>
            </a:r>
            <a:r>
              <a:rPr sz="1500" spc="-20" dirty="0">
                <a:latin typeface="Arial MT"/>
                <a:cs typeface="Arial MT"/>
              </a:rPr>
              <a:t>set.</a:t>
            </a:r>
            <a:endParaRPr sz="1500">
              <a:latin typeface="Arial MT"/>
              <a:cs typeface="Arial MT"/>
            </a:endParaRPr>
          </a:p>
          <a:p>
            <a:pPr>
              <a:lnSpc>
                <a:spcPct val="100000"/>
              </a:lnSpc>
              <a:spcBef>
                <a:spcPts val="80"/>
              </a:spcBef>
              <a:buFont typeface="Arial MT"/>
              <a:buChar char="•"/>
            </a:pPr>
            <a:endParaRPr sz="1500">
              <a:latin typeface="Arial MT"/>
              <a:cs typeface="Arial MT"/>
            </a:endParaRPr>
          </a:p>
          <a:p>
            <a:pPr marL="12700" marR="5080" indent="-8255">
              <a:lnSpc>
                <a:spcPct val="100000"/>
              </a:lnSpc>
              <a:buSzPct val="93333"/>
              <a:buChar char="•"/>
              <a:tabLst>
                <a:tab pos="79375" algn="l"/>
              </a:tabLst>
            </a:pPr>
            <a:r>
              <a:rPr sz="1500" dirty="0">
                <a:latin typeface="Arial MT"/>
                <a:cs typeface="Arial MT"/>
              </a:rPr>
              <a:t>	From</a:t>
            </a:r>
            <a:r>
              <a:rPr sz="1500" spc="-50" dirty="0">
                <a:latin typeface="Arial MT"/>
                <a:cs typeface="Arial MT"/>
              </a:rPr>
              <a:t> </a:t>
            </a:r>
            <a:r>
              <a:rPr sz="1500" dirty="0">
                <a:latin typeface="Arial MT"/>
                <a:cs typeface="Arial MT"/>
              </a:rPr>
              <a:t>inception</a:t>
            </a:r>
            <a:r>
              <a:rPr sz="1500" spc="-55" dirty="0">
                <a:latin typeface="Arial MT"/>
                <a:cs typeface="Arial MT"/>
              </a:rPr>
              <a:t> </a:t>
            </a:r>
            <a:r>
              <a:rPr sz="1500" dirty="0">
                <a:latin typeface="Arial MT"/>
                <a:cs typeface="Arial MT"/>
              </a:rPr>
              <a:t>until</a:t>
            </a:r>
            <a:r>
              <a:rPr sz="1500" spc="-45" dirty="0">
                <a:latin typeface="Arial MT"/>
                <a:cs typeface="Arial MT"/>
              </a:rPr>
              <a:t> </a:t>
            </a:r>
            <a:r>
              <a:rPr sz="1500" spc="-10" dirty="0">
                <a:latin typeface="Arial MT"/>
                <a:cs typeface="Arial MT"/>
              </a:rPr>
              <a:t>now,</a:t>
            </a:r>
            <a:r>
              <a:rPr sz="1500" spc="-30" dirty="0">
                <a:latin typeface="Arial MT"/>
                <a:cs typeface="Arial MT"/>
              </a:rPr>
              <a:t> </a:t>
            </a:r>
            <a:r>
              <a:rPr sz="1500" dirty="0">
                <a:latin typeface="Arial MT"/>
                <a:cs typeface="Arial MT"/>
              </a:rPr>
              <a:t>Outreach</a:t>
            </a:r>
            <a:r>
              <a:rPr sz="1500" spc="-60" dirty="0">
                <a:latin typeface="Arial MT"/>
                <a:cs typeface="Arial MT"/>
              </a:rPr>
              <a:t> </a:t>
            </a:r>
            <a:r>
              <a:rPr sz="1500" spc="-10" dirty="0">
                <a:latin typeface="Arial MT"/>
                <a:cs typeface="Arial MT"/>
              </a:rPr>
              <a:t>International</a:t>
            </a:r>
            <a:r>
              <a:rPr sz="1500" spc="-70" dirty="0">
                <a:latin typeface="Arial MT"/>
                <a:cs typeface="Arial MT"/>
              </a:rPr>
              <a:t> </a:t>
            </a:r>
            <a:r>
              <a:rPr sz="1500" dirty="0">
                <a:latin typeface="Arial MT"/>
                <a:cs typeface="Arial MT"/>
              </a:rPr>
              <a:t>Media</a:t>
            </a:r>
            <a:r>
              <a:rPr sz="1500" spc="-40" dirty="0">
                <a:latin typeface="Arial MT"/>
                <a:cs typeface="Arial MT"/>
              </a:rPr>
              <a:t> </a:t>
            </a:r>
            <a:r>
              <a:rPr sz="1500" dirty="0">
                <a:latin typeface="Arial MT"/>
                <a:cs typeface="Arial MT"/>
              </a:rPr>
              <a:t>Limited</a:t>
            </a:r>
            <a:r>
              <a:rPr sz="1500" spc="-35" dirty="0">
                <a:latin typeface="Arial MT"/>
                <a:cs typeface="Arial MT"/>
              </a:rPr>
              <a:t> </a:t>
            </a:r>
            <a:r>
              <a:rPr sz="1500" dirty="0">
                <a:latin typeface="Arial MT"/>
                <a:cs typeface="Arial MT"/>
              </a:rPr>
              <a:t>has</a:t>
            </a:r>
            <a:r>
              <a:rPr sz="1500" spc="-50" dirty="0">
                <a:latin typeface="Arial MT"/>
                <a:cs typeface="Arial MT"/>
              </a:rPr>
              <a:t> </a:t>
            </a:r>
            <a:r>
              <a:rPr sz="1500" dirty="0">
                <a:latin typeface="Arial MT"/>
                <a:cs typeface="Arial MT"/>
              </a:rPr>
              <a:t>successfully</a:t>
            </a:r>
            <a:r>
              <a:rPr sz="1500" spc="-70" dirty="0">
                <a:latin typeface="Arial MT"/>
                <a:cs typeface="Arial MT"/>
              </a:rPr>
              <a:t> </a:t>
            </a:r>
            <a:r>
              <a:rPr sz="1500" dirty="0">
                <a:latin typeface="Arial MT"/>
                <a:cs typeface="Arial MT"/>
              </a:rPr>
              <a:t>built</a:t>
            </a:r>
            <a:r>
              <a:rPr sz="1500" spc="-40" dirty="0">
                <a:latin typeface="Arial MT"/>
                <a:cs typeface="Arial MT"/>
              </a:rPr>
              <a:t> </a:t>
            </a:r>
            <a:r>
              <a:rPr sz="1500" dirty="0">
                <a:latin typeface="Arial MT"/>
                <a:cs typeface="Arial MT"/>
              </a:rPr>
              <a:t>and</a:t>
            </a:r>
            <a:r>
              <a:rPr sz="1500" spc="345" dirty="0">
                <a:latin typeface="Arial MT"/>
                <a:cs typeface="Arial MT"/>
              </a:rPr>
              <a:t> </a:t>
            </a:r>
            <a:r>
              <a:rPr sz="1500" dirty="0">
                <a:latin typeface="Arial MT"/>
                <a:cs typeface="Arial MT"/>
              </a:rPr>
              <a:t>maintained</a:t>
            </a:r>
            <a:r>
              <a:rPr sz="1500" spc="-60" dirty="0">
                <a:latin typeface="Arial MT"/>
                <a:cs typeface="Arial MT"/>
              </a:rPr>
              <a:t> </a:t>
            </a:r>
            <a:r>
              <a:rPr sz="1500" spc="-25" dirty="0">
                <a:latin typeface="Arial MT"/>
                <a:cs typeface="Arial MT"/>
              </a:rPr>
              <a:t>the </a:t>
            </a:r>
            <a:r>
              <a:rPr sz="1500" dirty="0">
                <a:latin typeface="Arial MT"/>
                <a:cs typeface="Arial MT"/>
              </a:rPr>
              <a:t>best</a:t>
            </a:r>
            <a:r>
              <a:rPr sz="1500" spc="-55" dirty="0">
                <a:latin typeface="Arial MT"/>
                <a:cs typeface="Arial MT"/>
              </a:rPr>
              <a:t> </a:t>
            </a:r>
            <a:r>
              <a:rPr sz="1500" dirty="0">
                <a:latin typeface="Arial MT"/>
                <a:cs typeface="Arial MT"/>
              </a:rPr>
              <a:t>working</a:t>
            </a:r>
            <a:r>
              <a:rPr sz="1500" spc="-35" dirty="0">
                <a:latin typeface="Arial MT"/>
                <a:cs typeface="Arial MT"/>
              </a:rPr>
              <a:t> </a:t>
            </a:r>
            <a:r>
              <a:rPr sz="1500" dirty="0">
                <a:latin typeface="Arial MT"/>
                <a:cs typeface="Arial MT"/>
              </a:rPr>
              <a:t>relationship</a:t>
            </a:r>
            <a:r>
              <a:rPr sz="1500" spc="-50" dirty="0">
                <a:latin typeface="Arial MT"/>
                <a:cs typeface="Arial MT"/>
              </a:rPr>
              <a:t> </a:t>
            </a:r>
            <a:r>
              <a:rPr sz="1500" dirty="0">
                <a:latin typeface="Arial MT"/>
                <a:cs typeface="Arial MT"/>
              </a:rPr>
              <a:t>with</a:t>
            </a:r>
            <a:r>
              <a:rPr sz="1500" spc="-30" dirty="0">
                <a:latin typeface="Arial MT"/>
                <a:cs typeface="Arial MT"/>
              </a:rPr>
              <a:t> </a:t>
            </a:r>
            <a:r>
              <a:rPr sz="1500" dirty="0">
                <a:latin typeface="Arial MT"/>
                <a:cs typeface="Arial MT"/>
              </a:rPr>
              <a:t>all</a:t>
            </a:r>
            <a:r>
              <a:rPr sz="1500" spc="-40" dirty="0">
                <a:latin typeface="Arial MT"/>
                <a:cs typeface="Arial MT"/>
              </a:rPr>
              <a:t> </a:t>
            </a:r>
            <a:r>
              <a:rPr sz="1500" dirty="0">
                <a:latin typeface="Arial MT"/>
                <a:cs typeface="Arial MT"/>
              </a:rPr>
              <a:t>local</a:t>
            </a:r>
            <a:r>
              <a:rPr sz="1500" spc="-40" dirty="0">
                <a:latin typeface="Arial MT"/>
                <a:cs typeface="Arial MT"/>
              </a:rPr>
              <a:t> </a:t>
            </a:r>
            <a:r>
              <a:rPr sz="1500" dirty="0">
                <a:latin typeface="Arial MT"/>
                <a:cs typeface="Arial MT"/>
              </a:rPr>
              <a:t>stakeholders</a:t>
            </a:r>
            <a:r>
              <a:rPr sz="1500" spc="-70" dirty="0">
                <a:latin typeface="Arial MT"/>
                <a:cs typeface="Arial MT"/>
              </a:rPr>
              <a:t> </a:t>
            </a:r>
            <a:r>
              <a:rPr sz="1500" dirty="0">
                <a:latin typeface="Arial MT"/>
                <a:cs typeface="Arial MT"/>
              </a:rPr>
              <a:t>e.g.</a:t>
            </a:r>
            <a:r>
              <a:rPr sz="1500" spc="-60" dirty="0">
                <a:latin typeface="Arial MT"/>
                <a:cs typeface="Arial MT"/>
              </a:rPr>
              <a:t> </a:t>
            </a:r>
            <a:r>
              <a:rPr sz="1500" dirty="0">
                <a:latin typeface="Arial MT"/>
                <a:cs typeface="Arial MT"/>
              </a:rPr>
              <a:t>land</a:t>
            </a:r>
            <a:r>
              <a:rPr sz="1500" spc="-35" dirty="0">
                <a:latin typeface="Arial MT"/>
                <a:cs typeface="Arial MT"/>
              </a:rPr>
              <a:t> </a:t>
            </a:r>
            <a:r>
              <a:rPr sz="1500" dirty="0">
                <a:latin typeface="Arial MT"/>
                <a:cs typeface="Arial MT"/>
              </a:rPr>
              <a:t>owners</a:t>
            </a:r>
            <a:r>
              <a:rPr sz="1500" spc="-30" dirty="0">
                <a:latin typeface="Arial MT"/>
                <a:cs typeface="Arial MT"/>
              </a:rPr>
              <a:t> </a:t>
            </a:r>
            <a:r>
              <a:rPr sz="1500" dirty="0">
                <a:latin typeface="Arial MT"/>
                <a:cs typeface="Arial MT"/>
              </a:rPr>
              <a:t>and</a:t>
            </a:r>
            <a:r>
              <a:rPr sz="1500" spc="340" dirty="0">
                <a:latin typeface="Arial MT"/>
                <a:cs typeface="Arial MT"/>
              </a:rPr>
              <a:t> </a:t>
            </a:r>
            <a:r>
              <a:rPr sz="1500" spc="-10" dirty="0">
                <a:latin typeface="Arial MT"/>
                <a:cs typeface="Arial MT"/>
              </a:rPr>
              <a:t>government</a:t>
            </a:r>
            <a:r>
              <a:rPr sz="1500" spc="-50" dirty="0">
                <a:latin typeface="Arial MT"/>
                <a:cs typeface="Arial MT"/>
              </a:rPr>
              <a:t> </a:t>
            </a:r>
            <a:r>
              <a:rPr sz="1500" dirty="0">
                <a:latin typeface="Arial MT"/>
                <a:cs typeface="Arial MT"/>
              </a:rPr>
              <a:t>authorities</a:t>
            </a:r>
            <a:r>
              <a:rPr sz="1500" spc="-75" dirty="0">
                <a:latin typeface="Arial MT"/>
                <a:cs typeface="Arial MT"/>
              </a:rPr>
              <a:t> </a:t>
            </a:r>
            <a:r>
              <a:rPr sz="1500" spc="-25" dirty="0">
                <a:latin typeface="Arial MT"/>
                <a:cs typeface="Arial MT"/>
              </a:rPr>
              <a:t>to</a:t>
            </a:r>
            <a:r>
              <a:rPr sz="1500" spc="500" dirty="0">
                <a:latin typeface="Arial MT"/>
                <a:cs typeface="Arial MT"/>
              </a:rPr>
              <a:t> </a:t>
            </a:r>
            <a:r>
              <a:rPr sz="1500" dirty="0">
                <a:latin typeface="Arial MT"/>
                <a:cs typeface="Arial MT"/>
              </a:rPr>
              <a:t>ensure</a:t>
            </a:r>
            <a:r>
              <a:rPr sz="1500" spc="-40" dirty="0">
                <a:latin typeface="Arial MT"/>
                <a:cs typeface="Arial MT"/>
              </a:rPr>
              <a:t> </a:t>
            </a:r>
            <a:r>
              <a:rPr sz="1500" dirty="0">
                <a:latin typeface="Arial MT"/>
                <a:cs typeface="Arial MT"/>
              </a:rPr>
              <a:t>the</a:t>
            </a:r>
            <a:r>
              <a:rPr sz="1500" spc="-45" dirty="0">
                <a:latin typeface="Arial MT"/>
                <a:cs typeface="Arial MT"/>
              </a:rPr>
              <a:t> </a:t>
            </a:r>
            <a:r>
              <a:rPr sz="1500" dirty="0">
                <a:latin typeface="Arial MT"/>
                <a:cs typeface="Arial MT"/>
              </a:rPr>
              <a:t>smooth</a:t>
            </a:r>
            <a:r>
              <a:rPr sz="1500" spc="-40" dirty="0">
                <a:latin typeface="Arial MT"/>
                <a:cs typeface="Arial MT"/>
              </a:rPr>
              <a:t> </a:t>
            </a:r>
            <a:r>
              <a:rPr sz="1500" dirty="0">
                <a:latin typeface="Arial MT"/>
                <a:cs typeface="Arial MT"/>
              </a:rPr>
              <a:t>run</a:t>
            </a:r>
            <a:r>
              <a:rPr sz="1500" spc="-40" dirty="0">
                <a:latin typeface="Arial MT"/>
                <a:cs typeface="Arial MT"/>
              </a:rPr>
              <a:t> </a:t>
            </a:r>
            <a:r>
              <a:rPr sz="1500" dirty="0">
                <a:latin typeface="Arial MT"/>
                <a:cs typeface="Arial MT"/>
              </a:rPr>
              <a:t>of</a:t>
            </a:r>
            <a:r>
              <a:rPr sz="1500" spc="-35" dirty="0">
                <a:latin typeface="Arial MT"/>
                <a:cs typeface="Arial MT"/>
              </a:rPr>
              <a:t> </a:t>
            </a:r>
            <a:r>
              <a:rPr sz="1500" dirty="0">
                <a:latin typeface="Arial MT"/>
                <a:cs typeface="Arial MT"/>
              </a:rPr>
              <a:t>all</a:t>
            </a:r>
            <a:r>
              <a:rPr sz="1500" spc="-35" dirty="0">
                <a:latin typeface="Arial MT"/>
                <a:cs typeface="Arial MT"/>
              </a:rPr>
              <a:t> </a:t>
            </a:r>
            <a:r>
              <a:rPr sz="1500" dirty="0">
                <a:latin typeface="Arial MT"/>
                <a:cs typeface="Arial MT"/>
              </a:rPr>
              <a:t>our</a:t>
            </a:r>
            <a:r>
              <a:rPr sz="1500" spc="-35" dirty="0">
                <a:latin typeface="Arial MT"/>
                <a:cs typeface="Arial MT"/>
              </a:rPr>
              <a:t> </a:t>
            </a:r>
            <a:r>
              <a:rPr sz="1500" spc="-10" dirty="0">
                <a:latin typeface="Arial MT"/>
                <a:cs typeface="Arial MT"/>
              </a:rPr>
              <a:t>campaigns.</a:t>
            </a:r>
            <a:endParaRPr sz="1500">
              <a:latin typeface="Arial MT"/>
              <a:cs typeface="Arial MT"/>
            </a:endParaRPr>
          </a:p>
        </p:txBody>
      </p:sp>
      <p:grpSp>
        <p:nvGrpSpPr>
          <p:cNvPr id="3" name="object 3"/>
          <p:cNvGrpSpPr/>
          <p:nvPr/>
        </p:nvGrpSpPr>
        <p:grpSpPr>
          <a:xfrm>
            <a:off x="0" y="858011"/>
            <a:ext cx="9144000" cy="722630"/>
            <a:chOff x="0" y="858011"/>
            <a:chExt cx="9144000" cy="722630"/>
          </a:xfrm>
        </p:grpSpPr>
        <p:pic>
          <p:nvPicPr>
            <p:cNvPr id="4" name="object 4"/>
            <p:cNvPicPr/>
            <p:nvPr/>
          </p:nvPicPr>
          <p:blipFill>
            <a:blip r:embed="rId2" cstate="print"/>
            <a:stretch>
              <a:fillRect/>
            </a:stretch>
          </p:blipFill>
          <p:spPr>
            <a:xfrm>
              <a:off x="0" y="911351"/>
              <a:ext cx="9144000" cy="669036"/>
            </a:xfrm>
            <a:prstGeom prst="rect">
              <a:avLst/>
            </a:prstGeom>
          </p:spPr>
        </p:pic>
        <p:pic>
          <p:nvPicPr>
            <p:cNvPr id="5" name="object 5"/>
            <p:cNvPicPr/>
            <p:nvPr/>
          </p:nvPicPr>
          <p:blipFill>
            <a:blip r:embed="rId3" cstate="print"/>
            <a:stretch>
              <a:fillRect/>
            </a:stretch>
          </p:blipFill>
          <p:spPr>
            <a:xfrm>
              <a:off x="7620" y="858011"/>
              <a:ext cx="708660" cy="722376"/>
            </a:xfrm>
            <a:prstGeom prst="rect">
              <a:avLst/>
            </a:prstGeom>
          </p:spPr>
        </p:pic>
      </p:grpSp>
      <p:sp>
        <p:nvSpPr>
          <p:cNvPr id="6" name="object 6" descr="$PPTXTitle"/>
          <p:cNvSpPr txBox="1">
            <a:spLocks noGrp="1"/>
          </p:cNvSpPr>
          <p:nvPr>
            <p:ph type="title"/>
          </p:nvPr>
        </p:nvSpPr>
        <p:spPr>
          <a:xfrm>
            <a:off x="3467861" y="608457"/>
            <a:ext cx="2387600" cy="696595"/>
          </a:xfrm>
          <a:prstGeom prst="rect">
            <a:avLst/>
          </a:prstGeom>
        </p:spPr>
        <p:txBody>
          <a:bodyPr vert="horz" wrap="square" lIns="0" tIns="13335" rIns="0" bIns="0" rtlCol="0">
            <a:spAutoFit/>
          </a:bodyPr>
          <a:lstStyle/>
          <a:p>
            <a:pPr marL="12700">
              <a:lnSpc>
                <a:spcPct val="100000"/>
              </a:lnSpc>
              <a:spcBef>
                <a:spcPts val="105"/>
              </a:spcBef>
            </a:pPr>
            <a:r>
              <a:rPr sz="4400" dirty="0"/>
              <a:t>ABOUT</a:t>
            </a:r>
            <a:r>
              <a:rPr sz="4400" spc="-75" dirty="0"/>
              <a:t> </a:t>
            </a:r>
            <a:r>
              <a:rPr sz="4400" spc="-25" dirty="0"/>
              <a:t>US</a:t>
            </a:r>
            <a:endParaRPr sz="4400"/>
          </a:p>
        </p:txBody>
      </p:sp>
      <p:sp>
        <p:nvSpPr>
          <p:cNvPr id="7" name="object 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98194" y="707961"/>
            <a:ext cx="6812915" cy="2178685"/>
          </a:xfrm>
          <a:prstGeom prst="rect">
            <a:avLst/>
          </a:prstGeom>
        </p:spPr>
        <p:txBody>
          <a:bodyPr vert="horz" wrap="square" lIns="0" tIns="227965" rIns="0" bIns="0" rtlCol="0">
            <a:spAutoFit/>
          </a:bodyPr>
          <a:lstStyle/>
          <a:p>
            <a:pPr marL="1276985">
              <a:lnSpc>
                <a:spcPct val="100000"/>
              </a:lnSpc>
              <a:spcBef>
                <a:spcPts val="1795"/>
              </a:spcBef>
            </a:pPr>
            <a:r>
              <a:rPr sz="4000" b="1" dirty="0">
                <a:solidFill>
                  <a:srgbClr val="C00000"/>
                </a:solidFill>
                <a:latin typeface="Calibri"/>
                <a:cs typeface="Calibri"/>
              </a:rPr>
              <a:t>OUR</a:t>
            </a:r>
            <a:r>
              <a:rPr sz="4000" b="1" spc="-95" dirty="0">
                <a:solidFill>
                  <a:srgbClr val="C00000"/>
                </a:solidFill>
                <a:latin typeface="Calibri"/>
                <a:cs typeface="Calibri"/>
              </a:rPr>
              <a:t> </a:t>
            </a:r>
            <a:r>
              <a:rPr sz="4000" b="1" spc="-10" dirty="0">
                <a:solidFill>
                  <a:srgbClr val="C00000"/>
                </a:solidFill>
                <a:latin typeface="Calibri"/>
                <a:cs typeface="Calibri"/>
              </a:rPr>
              <a:t>MISSION</a:t>
            </a:r>
            <a:endParaRPr sz="4000" dirty="0">
              <a:latin typeface="Calibri"/>
              <a:cs typeface="Calibri"/>
            </a:endParaRPr>
          </a:p>
          <a:p>
            <a:pPr marL="12700" marR="5080">
              <a:lnSpc>
                <a:spcPct val="100000"/>
              </a:lnSpc>
              <a:spcBef>
                <a:spcPts val="855"/>
              </a:spcBef>
            </a:pPr>
            <a:r>
              <a:rPr sz="2000" b="1" i="1" dirty="0">
                <a:solidFill>
                  <a:srgbClr val="000000"/>
                </a:solidFill>
                <a:latin typeface="Cambria"/>
                <a:cs typeface="Cambria"/>
              </a:rPr>
              <a:t>To</a:t>
            </a:r>
            <a:r>
              <a:rPr sz="2000" b="1" i="1" spc="55" dirty="0">
                <a:solidFill>
                  <a:srgbClr val="000000"/>
                </a:solidFill>
                <a:latin typeface="Cambria"/>
                <a:cs typeface="Cambria"/>
              </a:rPr>
              <a:t> </a:t>
            </a:r>
            <a:r>
              <a:rPr sz="2000" b="1" i="1" dirty="0">
                <a:solidFill>
                  <a:srgbClr val="000000"/>
                </a:solidFill>
                <a:latin typeface="Cambria"/>
                <a:cs typeface="Cambria"/>
              </a:rPr>
              <a:t>reach</a:t>
            </a:r>
            <a:r>
              <a:rPr sz="2000" b="1" i="1" spc="25" dirty="0">
                <a:solidFill>
                  <a:srgbClr val="000000"/>
                </a:solidFill>
                <a:latin typeface="Cambria"/>
                <a:cs typeface="Cambria"/>
              </a:rPr>
              <a:t> </a:t>
            </a:r>
            <a:r>
              <a:rPr sz="2000" b="1" i="1" dirty="0">
                <a:solidFill>
                  <a:srgbClr val="000000"/>
                </a:solidFill>
                <a:latin typeface="Cambria"/>
                <a:cs typeface="Cambria"/>
              </a:rPr>
              <a:t>out</a:t>
            </a:r>
            <a:r>
              <a:rPr sz="2000" b="1" i="1" spc="55" dirty="0">
                <a:solidFill>
                  <a:srgbClr val="000000"/>
                </a:solidFill>
                <a:latin typeface="Cambria"/>
                <a:cs typeface="Cambria"/>
              </a:rPr>
              <a:t> </a:t>
            </a:r>
            <a:r>
              <a:rPr sz="2000" b="1" i="1" dirty="0">
                <a:solidFill>
                  <a:srgbClr val="000000"/>
                </a:solidFill>
                <a:latin typeface="Cambria"/>
                <a:cs typeface="Cambria"/>
              </a:rPr>
              <a:t>to</a:t>
            </a:r>
            <a:r>
              <a:rPr sz="2000" b="1" i="1" spc="50" dirty="0">
                <a:solidFill>
                  <a:srgbClr val="000000"/>
                </a:solidFill>
                <a:latin typeface="Cambria"/>
                <a:cs typeface="Cambria"/>
              </a:rPr>
              <a:t> </a:t>
            </a:r>
            <a:r>
              <a:rPr sz="2000" b="1" i="1" dirty="0">
                <a:solidFill>
                  <a:srgbClr val="000000"/>
                </a:solidFill>
                <a:latin typeface="Cambria"/>
                <a:cs typeface="Cambria"/>
              </a:rPr>
              <a:t>the</a:t>
            </a:r>
            <a:r>
              <a:rPr sz="2000" b="1" i="1" spc="35" dirty="0">
                <a:solidFill>
                  <a:srgbClr val="000000"/>
                </a:solidFill>
                <a:latin typeface="Cambria"/>
                <a:cs typeface="Cambria"/>
              </a:rPr>
              <a:t> </a:t>
            </a:r>
            <a:r>
              <a:rPr sz="2000" b="1" i="1" dirty="0">
                <a:solidFill>
                  <a:srgbClr val="000000"/>
                </a:solidFill>
                <a:latin typeface="Cambria"/>
                <a:cs typeface="Cambria"/>
              </a:rPr>
              <a:t>desired</a:t>
            </a:r>
            <a:r>
              <a:rPr sz="2000" b="1" i="1" spc="35" dirty="0">
                <a:solidFill>
                  <a:srgbClr val="000000"/>
                </a:solidFill>
                <a:latin typeface="Cambria"/>
                <a:cs typeface="Cambria"/>
              </a:rPr>
              <a:t> </a:t>
            </a:r>
            <a:r>
              <a:rPr sz="2000" b="1" i="1" dirty="0">
                <a:solidFill>
                  <a:srgbClr val="000000"/>
                </a:solidFill>
                <a:latin typeface="Cambria"/>
                <a:cs typeface="Cambria"/>
              </a:rPr>
              <a:t>target</a:t>
            </a:r>
            <a:r>
              <a:rPr sz="2000" b="1" i="1" spc="35" dirty="0">
                <a:solidFill>
                  <a:srgbClr val="000000"/>
                </a:solidFill>
                <a:latin typeface="Cambria"/>
                <a:cs typeface="Cambria"/>
              </a:rPr>
              <a:t> </a:t>
            </a:r>
            <a:r>
              <a:rPr sz="2000" b="1" i="1" dirty="0">
                <a:solidFill>
                  <a:srgbClr val="000000"/>
                </a:solidFill>
                <a:latin typeface="Cambria"/>
                <a:cs typeface="Cambria"/>
              </a:rPr>
              <a:t>consumers</a:t>
            </a:r>
            <a:r>
              <a:rPr sz="2000" b="1" i="1" spc="15" dirty="0">
                <a:solidFill>
                  <a:srgbClr val="000000"/>
                </a:solidFill>
                <a:latin typeface="Cambria"/>
                <a:cs typeface="Cambria"/>
              </a:rPr>
              <a:t> </a:t>
            </a:r>
            <a:r>
              <a:rPr sz="2000" b="1" i="1" dirty="0">
                <a:solidFill>
                  <a:srgbClr val="000000"/>
                </a:solidFill>
                <a:latin typeface="Cambria"/>
                <a:cs typeface="Cambria"/>
              </a:rPr>
              <a:t>in</a:t>
            </a:r>
            <a:r>
              <a:rPr sz="2000" b="1" i="1" spc="60" dirty="0">
                <a:solidFill>
                  <a:srgbClr val="000000"/>
                </a:solidFill>
                <a:latin typeface="Cambria"/>
                <a:cs typeface="Cambria"/>
              </a:rPr>
              <a:t> </a:t>
            </a:r>
            <a:r>
              <a:rPr sz="2000" b="1" i="1" dirty="0">
                <a:solidFill>
                  <a:srgbClr val="000000"/>
                </a:solidFill>
                <a:latin typeface="Cambria"/>
                <a:cs typeface="Cambria"/>
              </a:rPr>
              <a:t>the</a:t>
            </a:r>
            <a:r>
              <a:rPr sz="2000" b="1" i="1" spc="45" dirty="0">
                <a:solidFill>
                  <a:srgbClr val="000000"/>
                </a:solidFill>
                <a:latin typeface="Cambria"/>
                <a:cs typeface="Cambria"/>
              </a:rPr>
              <a:t> </a:t>
            </a:r>
            <a:r>
              <a:rPr sz="2000" b="1" i="1" spc="-10" dirty="0">
                <a:solidFill>
                  <a:srgbClr val="000000"/>
                </a:solidFill>
                <a:latin typeface="Cambria"/>
                <a:cs typeface="Cambria"/>
              </a:rPr>
              <a:t>market </a:t>
            </a:r>
            <a:r>
              <a:rPr sz="2000" b="1" i="1" dirty="0">
                <a:solidFill>
                  <a:srgbClr val="000000"/>
                </a:solidFill>
                <a:latin typeface="Cambria"/>
                <a:cs typeface="Cambria"/>
              </a:rPr>
              <a:t>place</a:t>
            </a:r>
            <a:r>
              <a:rPr sz="2000" b="1" i="1" spc="85" dirty="0">
                <a:solidFill>
                  <a:srgbClr val="000000"/>
                </a:solidFill>
                <a:latin typeface="Cambria"/>
                <a:cs typeface="Cambria"/>
              </a:rPr>
              <a:t> </a:t>
            </a:r>
            <a:r>
              <a:rPr sz="2000" b="1" i="1" dirty="0">
                <a:solidFill>
                  <a:srgbClr val="000000"/>
                </a:solidFill>
                <a:latin typeface="Cambria"/>
                <a:cs typeface="Cambria"/>
              </a:rPr>
              <a:t>for</a:t>
            </a:r>
            <a:r>
              <a:rPr sz="2000" b="1" i="1" spc="110" dirty="0">
                <a:solidFill>
                  <a:srgbClr val="000000"/>
                </a:solidFill>
                <a:latin typeface="Cambria"/>
                <a:cs typeface="Cambria"/>
              </a:rPr>
              <a:t> </a:t>
            </a:r>
            <a:r>
              <a:rPr sz="2000" b="1" i="1" dirty="0">
                <a:solidFill>
                  <a:srgbClr val="000000"/>
                </a:solidFill>
                <a:latin typeface="Cambria"/>
                <a:cs typeface="Cambria"/>
              </a:rPr>
              <a:t>an</a:t>
            </a:r>
            <a:r>
              <a:rPr sz="2000" b="1" i="1" spc="95" dirty="0">
                <a:solidFill>
                  <a:srgbClr val="000000"/>
                </a:solidFill>
                <a:latin typeface="Cambria"/>
                <a:cs typeface="Cambria"/>
              </a:rPr>
              <a:t> </a:t>
            </a:r>
            <a:r>
              <a:rPr sz="2000" b="1" i="1" dirty="0">
                <a:solidFill>
                  <a:srgbClr val="000000"/>
                </a:solidFill>
                <a:latin typeface="Cambria"/>
                <a:cs typeface="Cambria"/>
              </a:rPr>
              <a:t>effective</a:t>
            </a:r>
            <a:r>
              <a:rPr sz="2000" b="1" i="1" spc="60" dirty="0">
                <a:solidFill>
                  <a:srgbClr val="000000"/>
                </a:solidFill>
                <a:latin typeface="Cambria"/>
                <a:cs typeface="Cambria"/>
              </a:rPr>
              <a:t> </a:t>
            </a:r>
            <a:r>
              <a:rPr sz="2000" b="1" i="1" dirty="0">
                <a:solidFill>
                  <a:srgbClr val="000000"/>
                </a:solidFill>
                <a:latin typeface="Cambria"/>
                <a:cs typeface="Cambria"/>
              </a:rPr>
              <a:t>creation</a:t>
            </a:r>
            <a:r>
              <a:rPr sz="2000" b="1" i="1" spc="70" dirty="0">
                <a:solidFill>
                  <a:srgbClr val="000000"/>
                </a:solidFill>
                <a:latin typeface="Cambria"/>
                <a:cs typeface="Cambria"/>
              </a:rPr>
              <a:t> </a:t>
            </a:r>
            <a:r>
              <a:rPr sz="2000" b="1" i="1" spc="55" dirty="0">
                <a:solidFill>
                  <a:srgbClr val="000000"/>
                </a:solidFill>
                <a:latin typeface="Cambria"/>
                <a:cs typeface="Cambria"/>
              </a:rPr>
              <a:t>of</a:t>
            </a:r>
            <a:r>
              <a:rPr sz="2000" b="1" i="1" spc="110" dirty="0">
                <a:solidFill>
                  <a:srgbClr val="000000"/>
                </a:solidFill>
                <a:latin typeface="Cambria"/>
                <a:cs typeface="Cambria"/>
              </a:rPr>
              <a:t>  </a:t>
            </a:r>
            <a:r>
              <a:rPr sz="2000" b="1" i="1" dirty="0">
                <a:solidFill>
                  <a:srgbClr val="000000"/>
                </a:solidFill>
                <a:latin typeface="Cambria"/>
                <a:cs typeface="Cambria"/>
              </a:rPr>
              <a:t>brand</a:t>
            </a:r>
            <a:r>
              <a:rPr sz="2000" b="1" i="1" spc="100" dirty="0">
                <a:solidFill>
                  <a:srgbClr val="000000"/>
                </a:solidFill>
                <a:latin typeface="Cambria"/>
                <a:cs typeface="Cambria"/>
              </a:rPr>
              <a:t> </a:t>
            </a:r>
            <a:r>
              <a:rPr sz="2000" b="1" i="1" spc="-10" dirty="0">
                <a:solidFill>
                  <a:srgbClr val="000000"/>
                </a:solidFill>
                <a:latin typeface="Cambria"/>
                <a:cs typeface="Cambria"/>
              </a:rPr>
              <a:t>awareness, </a:t>
            </a:r>
            <a:r>
              <a:rPr sz="2000" b="1" i="1" dirty="0">
                <a:solidFill>
                  <a:srgbClr val="000000"/>
                </a:solidFill>
                <a:latin typeface="Cambria"/>
                <a:cs typeface="Cambria"/>
              </a:rPr>
              <a:t>visibility,</a:t>
            </a:r>
            <a:r>
              <a:rPr sz="2000" b="1" i="1" spc="95" dirty="0">
                <a:solidFill>
                  <a:srgbClr val="000000"/>
                </a:solidFill>
                <a:latin typeface="Cambria"/>
                <a:cs typeface="Cambria"/>
              </a:rPr>
              <a:t> </a:t>
            </a:r>
            <a:r>
              <a:rPr sz="2000" b="1" i="1" dirty="0">
                <a:solidFill>
                  <a:srgbClr val="000000"/>
                </a:solidFill>
                <a:latin typeface="Cambria"/>
                <a:cs typeface="Cambria"/>
              </a:rPr>
              <a:t>acceptability</a:t>
            </a:r>
            <a:r>
              <a:rPr sz="2000" b="1" i="1" spc="70" dirty="0">
                <a:solidFill>
                  <a:srgbClr val="000000"/>
                </a:solidFill>
                <a:latin typeface="Cambria"/>
                <a:cs typeface="Cambria"/>
              </a:rPr>
              <a:t> </a:t>
            </a:r>
            <a:r>
              <a:rPr sz="2000" b="1" i="1" dirty="0">
                <a:solidFill>
                  <a:srgbClr val="000000"/>
                </a:solidFill>
                <a:latin typeface="Cambria"/>
                <a:cs typeface="Cambria"/>
              </a:rPr>
              <a:t>and</a:t>
            </a:r>
            <a:r>
              <a:rPr sz="2000" b="1" i="1" spc="110" dirty="0">
                <a:solidFill>
                  <a:srgbClr val="000000"/>
                </a:solidFill>
                <a:latin typeface="Cambria"/>
                <a:cs typeface="Cambria"/>
              </a:rPr>
              <a:t> </a:t>
            </a:r>
            <a:r>
              <a:rPr sz="2000" b="1" i="1" dirty="0">
                <a:solidFill>
                  <a:srgbClr val="000000"/>
                </a:solidFill>
                <a:latin typeface="Cambria"/>
                <a:cs typeface="Cambria"/>
              </a:rPr>
              <a:t>patronage</a:t>
            </a:r>
            <a:r>
              <a:rPr sz="2000" b="1" i="1" spc="65" dirty="0">
                <a:solidFill>
                  <a:srgbClr val="000000"/>
                </a:solidFill>
                <a:latin typeface="Cambria"/>
                <a:cs typeface="Cambria"/>
              </a:rPr>
              <a:t> </a:t>
            </a:r>
            <a:r>
              <a:rPr sz="2000" b="1" i="1" spc="55" dirty="0">
                <a:solidFill>
                  <a:srgbClr val="000000"/>
                </a:solidFill>
                <a:latin typeface="Cambria"/>
                <a:cs typeface="Cambria"/>
              </a:rPr>
              <a:t>of</a:t>
            </a:r>
            <a:r>
              <a:rPr sz="2000" b="1" i="1" spc="100" dirty="0">
                <a:solidFill>
                  <a:srgbClr val="000000"/>
                </a:solidFill>
                <a:latin typeface="Cambria"/>
                <a:cs typeface="Cambria"/>
              </a:rPr>
              <a:t>  </a:t>
            </a:r>
            <a:r>
              <a:rPr sz="2000" b="1" i="1" dirty="0">
                <a:solidFill>
                  <a:srgbClr val="000000"/>
                </a:solidFill>
                <a:latin typeface="Cambria"/>
                <a:cs typeface="Cambria"/>
              </a:rPr>
              <a:t>our</a:t>
            </a:r>
            <a:r>
              <a:rPr sz="2000" b="1" i="1" spc="120" dirty="0">
                <a:solidFill>
                  <a:srgbClr val="000000"/>
                </a:solidFill>
                <a:latin typeface="Cambria"/>
                <a:cs typeface="Cambria"/>
              </a:rPr>
              <a:t> </a:t>
            </a:r>
            <a:r>
              <a:rPr sz="2000" b="1" i="1" spc="-10" dirty="0">
                <a:solidFill>
                  <a:srgbClr val="000000"/>
                </a:solidFill>
                <a:latin typeface="Cambria"/>
                <a:cs typeface="Cambria"/>
              </a:rPr>
              <a:t>numerous </a:t>
            </a:r>
            <a:r>
              <a:rPr sz="2000" b="1" i="1" dirty="0">
                <a:solidFill>
                  <a:srgbClr val="000000"/>
                </a:solidFill>
                <a:latin typeface="Cambria"/>
                <a:cs typeface="Cambria"/>
              </a:rPr>
              <a:t>clientele</a:t>
            </a:r>
            <a:r>
              <a:rPr sz="2000" b="1" i="1" spc="130" dirty="0">
                <a:solidFill>
                  <a:srgbClr val="000000"/>
                </a:solidFill>
                <a:latin typeface="Cambria"/>
                <a:cs typeface="Cambria"/>
              </a:rPr>
              <a:t> </a:t>
            </a:r>
            <a:r>
              <a:rPr sz="2000" b="1" i="1" dirty="0">
                <a:solidFill>
                  <a:srgbClr val="000000"/>
                </a:solidFill>
                <a:latin typeface="Cambria"/>
                <a:cs typeface="Cambria"/>
              </a:rPr>
              <a:t>products</a:t>
            </a:r>
            <a:r>
              <a:rPr sz="2000" b="1" i="1" spc="125" dirty="0">
                <a:solidFill>
                  <a:srgbClr val="000000"/>
                </a:solidFill>
                <a:latin typeface="Cambria"/>
                <a:cs typeface="Cambria"/>
              </a:rPr>
              <a:t> </a:t>
            </a:r>
            <a:r>
              <a:rPr sz="2000" b="1" i="1" dirty="0">
                <a:solidFill>
                  <a:srgbClr val="000000"/>
                </a:solidFill>
                <a:latin typeface="Cambria"/>
                <a:cs typeface="Cambria"/>
              </a:rPr>
              <a:t>and</a:t>
            </a:r>
            <a:r>
              <a:rPr sz="2000" b="1" i="1" spc="170" dirty="0">
                <a:solidFill>
                  <a:srgbClr val="000000"/>
                </a:solidFill>
                <a:latin typeface="Cambria"/>
                <a:cs typeface="Cambria"/>
              </a:rPr>
              <a:t> </a:t>
            </a:r>
            <a:r>
              <a:rPr sz="2000" b="1" i="1" spc="-10" dirty="0">
                <a:solidFill>
                  <a:srgbClr val="000000"/>
                </a:solidFill>
                <a:latin typeface="Cambria"/>
                <a:cs typeface="Cambria"/>
              </a:rPr>
              <a:t>services</a:t>
            </a:r>
            <a:endParaRPr sz="2000" dirty="0">
              <a:latin typeface="Cambria"/>
              <a:cs typeface="Cambria"/>
            </a:endParaRPr>
          </a:p>
        </p:txBody>
      </p:sp>
      <p:sp>
        <p:nvSpPr>
          <p:cNvPr id="3" name="object 3"/>
          <p:cNvSpPr txBox="1"/>
          <p:nvPr/>
        </p:nvSpPr>
        <p:spPr>
          <a:xfrm>
            <a:off x="1298194" y="3154121"/>
            <a:ext cx="6880859" cy="1515745"/>
          </a:xfrm>
          <a:prstGeom prst="rect">
            <a:avLst/>
          </a:prstGeom>
        </p:spPr>
        <p:txBody>
          <a:bodyPr vert="horz" wrap="square" lIns="0" tIns="12065" rIns="0" bIns="0" rtlCol="0">
            <a:spAutoFit/>
          </a:bodyPr>
          <a:lstStyle/>
          <a:p>
            <a:pPr marR="939800" algn="ctr">
              <a:lnSpc>
                <a:spcPct val="100000"/>
              </a:lnSpc>
              <a:spcBef>
                <a:spcPts val="95"/>
              </a:spcBef>
            </a:pPr>
            <a:r>
              <a:rPr sz="4000" b="1" dirty="0">
                <a:solidFill>
                  <a:srgbClr val="C00000"/>
                </a:solidFill>
                <a:latin typeface="Calibri"/>
                <a:cs typeface="Calibri"/>
              </a:rPr>
              <a:t>OUR</a:t>
            </a:r>
            <a:r>
              <a:rPr sz="4000" b="1" spc="-20" dirty="0">
                <a:solidFill>
                  <a:srgbClr val="C00000"/>
                </a:solidFill>
                <a:latin typeface="Calibri"/>
                <a:cs typeface="Calibri"/>
              </a:rPr>
              <a:t> </a:t>
            </a:r>
            <a:r>
              <a:rPr sz="4000" b="1" spc="-10" dirty="0">
                <a:solidFill>
                  <a:srgbClr val="C00000"/>
                </a:solidFill>
                <a:latin typeface="Calibri"/>
                <a:cs typeface="Calibri"/>
              </a:rPr>
              <a:t>VISION</a:t>
            </a:r>
            <a:endParaRPr sz="4000">
              <a:latin typeface="Calibri"/>
              <a:cs typeface="Calibri"/>
            </a:endParaRPr>
          </a:p>
          <a:p>
            <a:pPr marL="12700" marR="5080" indent="60960">
              <a:lnSpc>
                <a:spcPct val="100000"/>
              </a:lnSpc>
              <a:spcBef>
                <a:spcPts val="2135"/>
              </a:spcBef>
            </a:pPr>
            <a:r>
              <a:rPr sz="2000" b="1" i="1" dirty="0">
                <a:latin typeface="Cambria"/>
                <a:cs typeface="Cambria"/>
              </a:rPr>
              <a:t>To</a:t>
            </a:r>
            <a:r>
              <a:rPr sz="2000" b="1" i="1" spc="65" dirty="0">
                <a:latin typeface="Cambria"/>
                <a:cs typeface="Cambria"/>
              </a:rPr>
              <a:t> </a:t>
            </a:r>
            <a:r>
              <a:rPr sz="2000" b="1" i="1" dirty="0">
                <a:latin typeface="Cambria"/>
                <a:cs typeface="Cambria"/>
              </a:rPr>
              <a:t>be</a:t>
            </a:r>
            <a:r>
              <a:rPr sz="2000" b="1" i="1" spc="45" dirty="0">
                <a:latin typeface="Cambria"/>
                <a:cs typeface="Cambria"/>
              </a:rPr>
              <a:t> </a:t>
            </a:r>
            <a:r>
              <a:rPr sz="2000" b="1" i="1" dirty="0">
                <a:latin typeface="Cambria"/>
                <a:cs typeface="Cambria"/>
              </a:rPr>
              <a:t>a</a:t>
            </a:r>
            <a:r>
              <a:rPr sz="2000" b="1" i="1" spc="65" dirty="0">
                <a:latin typeface="Cambria"/>
                <a:cs typeface="Cambria"/>
              </a:rPr>
              <a:t> </a:t>
            </a:r>
            <a:r>
              <a:rPr sz="2000" b="1" i="1" dirty="0">
                <a:latin typeface="Cambria"/>
                <a:cs typeface="Cambria"/>
              </a:rPr>
              <a:t>strong</a:t>
            </a:r>
            <a:r>
              <a:rPr sz="2000" b="1" i="1" spc="55" dirty="0">
                <a:latin typeface="Cambria"/>
                <a:cs typeface="Cambria"/>
              </a:rPr>
              <a:t> </a:t>
            </a:r>
            <a:r>
              <a:rPr sz="2000" b="1" i="1" dirty="0">
                <a:latin typeface="Cambria"/>
                <a:cs typeface="Cambria"/>
              </a:rPr>
              <a:t>player</a:t>
            </a:r>
            <a:r>
              <a:rPr sz="2000" b="1" i="1" spc="45" dirty="0">
                <a:latin typeface="Cambria"/>
                <a:cs typeface="Cambria"/>
              </a:rPr>
              <a:t> </a:t>
            </a:r>
            <a:r>
              <a:rPr sz="2000" b="1" i="1" dirty="0">
                <a:latin typeface="Cambria"/>
                <a:cs typeface="Cambria"/>
              </a:rPr>
              <a:t>within</a:t>
            </a:r>
            <a:r>
              <a:rPr sz="2000" b="1" i="1" spc="65" dirty="0">
                <a:latin typeface="Cambria"/>
                <a:cs typeface="Cambria"/>
              </a:rPr>
              <a:t> </a:t>
            </a:r>
            <a:r>
              <a:rPr sz="2000" b="1" i="1" dirty="0">
                <a:latin typeface="Cambria"/>
                <a:cs typeface="Cambria"/>
              </a:rPr>
              <a:t>the</a:t>
            </a:r>
            <a:r>
              <a:rPr sz="2000" b="1" i="1" spc="40" dirty="0">
                <a:latin typeface="Cambria"/>
                <a:cs typeface="Cambria"/>
              </a:rPr>
              <a:t> </a:t>
            </a:r>
            <a:r>
              <a:rPr sz="2000" b="1" i="1" dirty="0">
                <a:latin typeface="Cambria"/>
                <a:cs typeface="Cambria"/>
              </a:rPr>
              <a:t>elites</a:t>
            </a:r>
            <a:r>
              <a:rPr sz="2000" b="1" i="1" spc="45" dirty="0">
                <a:latin typeface="Cambria"/>
                <a:cs typeface="Cambria"/>
              </a:rPr>
              <a:t> </a:t>
            </a:r>
            <a:r>
              <a:rPr sz="2000" b="1" i="1" spc="55" dirty="0">
                <a:latin typeface="Cambria"/>
                <a:cs typeface="Cambria"/>
              </a:rPr>
              <a:t>of  </a:t>
            </a:r>
            <a:r>
              <a:rPr sz="2000" b="1" i="1" spc="254" dirty="0">
                <a:latin typeface="Cambria"/>
                <a:cs typeface="Cambria"/>
              </a:rPr>
              <a:t>OOH</a:t>
            </a:r>
            <a:r>
              <a:rPr sz="2000" b="1" i="1" spc="50" dirty="0">
                <a:latin typeface="Cambria"/>
                <a:cs typeface="Cambria"/>
              </a:rPr>
              <a:t> </a:t>
            </a:r>
            <a:r>
              <a:rPr sz="2000" b="1" i="1" spc="-10" dirty="0">
                <a:latin typeface="Cambria"/>
                <a:cs typeface="Cambria"/>
              </a:rPr>
              <a:t>advertising </a:t>
            </a:r>
            <a:r>
              <a:rPr sz="2000" b="1" i="1" dirty="0">
                <a:latin typeface="Cambria"/>
                <a:cs typeface="Cambria"/>
              </a:rPr>
              <a:t>practitioners</a:t>
            </a:r>
            <a:r>
              <a:rPr sz="2000" b="1" i="1" spc="100" dirty="0">
                <a:latin typeface="Cambria"/>
                <a:cs typeface="Cambria"/>
              </a:rPr>
              <a:t> </a:t>
            </a:r>
            <a:r>
              <a:rPr sz="2000" b="1" i="1" dirty="0">
                <a:latin typeface="Cambria"/>
                <a:cs typeface="Cambria"/>
              </a:rPr>
              <a:t>in</a:t>
            </a:r>
            <a:r>
              <a:rPr sz="2000" b="1" i="1" spc="120" dirty="0">
                <a:latin typeface="Cambria"/>
                <a:cs typeface="Cambria"/>
              </a:rPr>
              <a:t> </a:t>
            </a:r>
            <a:r>
              <a:rPr sz="2000" b="1" i="1" dirty="0">
                <a:latin typeface="Cambria"/>
                <a:cs typeface="Cambria"/>
              </a:rPr>
              <a:t>Nigeria</a:t>
            </a:r>
            <a:r>
              <a:rPr sz="2000" b="1" i="1" spc="125" dirty="0">
                <a:latin typeface="Cambria"/>
                <a:cs typeface="Cambria"/>
              </a:rPr>
              <a:t> </a:t>
            </a:r>
            <a:r>
              <a:rPr sz="2000" b="1" i="1" dirty="0">
                <a:latin typeface="Cambria"/>
                <a:cs typeface="Cambria"/>
              </a:rPr>
              <a:t>and</a:t>
            </a:r>
            <a:r>
              <a:rPr sz="2000" b="1" i="1" spc="125" dirty="0">
                <a:latin typeface="Cambria"/>
                <a:cs typeface="Cambria"/>
              </a:rPr>
              <a:t> </a:t>
            </a:r>
            <a:r>
              <a:rPr sz="2000" b="1" i="1" dirty="0">
                <a:latin typeface="Cambria"/>
                <a:cs typeface="Cambria"/>
              </a:rPr>
              <a:t>the</a:t>
            </a:r>
            <a:r>
              <a:rPr sz="2000" b="1" i="1" spc="110" dirty="0">
                <a:latin typeface="Cambria"/>
                <a:cs typeface="Cambria"/>
              </a:rPr>
              <a:t> </a:t>
            </a:r>
            <a:r>
              <a:rPr sz="2000" b="1" i="1" dirty="0">
                <a:latin typeface="Cambria"/>
                <a:cs typeface="Cambria"/>
              </a:rPr>
              <a:t>international</a:t>
            </a:r>
            <a:r>
              <a:rPr sz="2000" b="1" i="1" spc="110" dirty="0">
                <a:latin typeface="Cambria"/>
                <a:cs typeface="Cambria"/>
              </a:rPr>
              <a:t> </a:t>
            </a:r>
            <a:r>
              <a:rPr sz="2000" b="1" i="1" spc="-10" dirty="0">
                <a:latin typeface="Cambria"/>
                <a:cs typeface="Cambria"/>
              </a:rPr>
              <a:t>space.</a:t>
            </a:r>
            <a:endParaRPr sz="2000">
              <a:latin typeface="Cambria"/>
              <a:cs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descr="$PPTXTitle"/>
          <p:cNvSpPr txBox="1">
            <a:spLocks/>
          </p:cNvSpPr>
          <p:nvPr/>
        </p:nvSpPr>
        <p:spPr>
          <a:xfrm>
            <a:off x="3657600" y="533400"/>
            <a:ext cx="2794000" cy="696595"/>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4400" b="1" spc="-10" dirty="0" smtClean="0">
                <a:solidFill>
                  <a:srgbClr val="DA241D"/>
                </a:solidFill>
                <a:latin typeface="Calibri"/>
                <a:cs typeface="Calibri"/>
              </a:rPr>
              <a:t>AWARDS</a:t>
            </a:r>
            <a:endParaRPr lang="en-US" sz="4400" dirty="0">
              <a:latin typeface="Calibri"/>
              <a:cs typeface="Calibri"/>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1800" y="1636643"/>
            <a:ext cx="1872243" cy="2496324"/>
          </a:xfrm>
          <a:prstGeom prst="rect">
            <a:avLst/>
          </a:prstGeom>
        </p:spPr>
      </p:pic>
      <p:sp>
        <p:nvSpPr>
          <p:cNvPr id="7" name="object 2" descr="$PPTXTitle"/>
          <p:cNvSpPr txBox="1">
            <a:spLocks/>
          </p:cNvSpPr>
          <p:nvPr/>
        </p:nvSpPr>
        <p:spPr>
          <a:xfrm>
            <a:off x="434566" y="4307419"/>
            <a:ext cx="8458200" cy="1036181"/>
          </a:xfrm>
          <a:prstGeom prst="rect">
            <a:avLst/>
          </a:prstGeom>
        </p:spPr>
        <p:txBody>
          <a:bodyPr vert="horz" wrap="square" lIns="0" tIns="12700" rIns="0" bIns="0" rtlCol="0">
            <a:spAutoFit/>
          </a:bodyPr>
          <a:lstStyle>
            <a:lvl1pPr>
              <a:defRPr>
                <a:latin typeface="+mj-lt"/>
                <a:ea typeface="+mj-ea"/>
                <a:cs typeface="+mj-cs"/>
              </a:defRPr>
            </a:lvl1pPr>
          </a:lstStyle>
          <a:p>
            <a:pPr marL="298450" indent="-285750">
              <a:spcBef>
                <a:spcPts val="100"/>
              </a:spcBef>
              <a:buFont typeface="Arial" panose="020B0604020202020204" pitchFamily="34" charset="0"/>
              <a:buChar char="•"/>
            </a:pPr>
            <a:r>
              <a:rPr lang="en-US" sz="1600" b="1" spc="-10" dirty="0" smtClean="0">
                <a:solidFill>
                  <a:schemeClr val="tx1"/>
                </a:solidFill>
                <a:latin typeface="Calibri"/>
                <a:cs typeface="Calibri"/>
              </a:rPr>
              <a:t>Most </a:t>
            </a:r>
            <a:r>
              <a:rPr lang="en-US" sz="1600" b="1" spc="-10" dirty="0" err="1" smtClean="0">
                <a:solidFill>
                  <a:schemeClr val="tx1"/>
                </a:solidFill>
                <a:latin typeface="Calibri"/>
                <a:cs typeface="Calibri"/>
              </a:rPr>
              <a:t>Outstandung</a:t>
            </a:r>
            <a:r>
              <a:rPr lang="en-US" sz="1600" b="1" spc="-10" dirty="0" smtClean="0">
                <a:solidFill>
                  <a:schemeClr val="tx1"/>
                </a:solidFill>
                <a:latin typeface="Calibri"/>
                <a:cs typeface="Calibri"/>
              </a:rPr>
              <a:t> OOH Advertising Agency (NORTH Region)</a:t>
            </a:r>
          </a:p>
          <a:p>
            <a:pPr marL="298450" indent="-285750">
              <a:spcBef>
                <a:spcPts val="100"/>
              </a:spcBef>
              <a:buFont typeface="Arial" panose="020B0604020202020204" pitchFamily="34" charset="0"/>
              <a:buChar char="•"/>
            </a:pPr>
            <a:r>
              <a:rPr lang="en-US" sz="1600" b="1" spc="-10" dirty="0" smtClean="0">
                <a:solidFill>
                  <a:schemeClr val="tx1"/>
                </a:solidFill>
                <a:latin typeface="Calibri"/>
                <a:cs typeface="Calibri"/>
              </a:rPr>
              <a:t>Agile in static OOH implementation 2023</a:t>
            </a:r>
          </a:p>
          <a:p>
            <a:pPr marL="298450" indent="-285750">
              <a:spcBef>
                <a:spcPts val="100"/>
              </a:spcBef>
              <a:buFont typeface="Arial" panose="020B0604020202020204" pitchFamily="34" charset="0"/>
              <a:buChar char="•"/>
            </a:pPr>
            <a:r>
              <a:rPr lang="en-US" sz="1600" b="1" spc="-10" dirty="0" smtClean="0">
                <a:solidFill>
                  <a:schemeClr val="tx1"/>
                </a:solidFill>
                <a:latin typeface="Calibri"/>
                <a:cs typeface="Calibri"/>
              </a:rPr>
              <a:t>Outstanding OOH campaign for financial service</a:t>
            </a:r>
          </a:p>
          <a:p>
            <a:pPr marL="12700">
              <a:spcBef>
                <a:spcPts val="100"/>
              </a:spcBef>
            </a:pPr>
            <a:endParaRPr lang="en-US" sz="1600" b="1" dirty="0">
              <a:solidFill>
                <a:schemeClr val="tx1"/>
              </a:solidFill>
              <a:latin typeface="Calibri"/>
              <a:cs typeface="Calibri"/>
            </a:endParaRP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6566" y="1636643"/>
            <a:ext cx="1534954" cy="2046605"/>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58000" y="1587607"/>
            <a:ext cx="1771650" cy="2362200"/>
          </a:xfrm>
          <a:prstGeom prst="rect">
            <a:avLst/>
          </a:prstGeom>
        </p:spPr>
      </p:pic>
    </p:spTree>
    <p:extLst>
      <p:ext uri="{BB962C8B-B14F-4D97-AF65-F5344CB8AC3E}">
        <p14:creationId xmlns:p14="http://schemas.microsoft.com/office/powerpoint/2010/main" val="1796716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978657" y="1017270"/>
            <a:ext cx="2377440" cy="643890"/>
          </a:xfrm>
          <a:prstGeom prst="rect">
            <a:avLst/>
          </a:prstGeom>
        </p:spPr>
        <p:txBody>
          <a:bodyPr vert="horz" wrap="square" lIns="0" tIns="13335" rIns="0" bIns="0" rtlCol="0">
            <a:spAutoFit/>
          </a:bodyPr>
          <a:lstStyle/>
          <a:p>
            <a:pPr marL="12700">
              <a:lnSpc>
                <a:spcPct val="100000"/>
              </a:lnSpc>
              <a:spcBef>
                <a:spcPts val="105"/>
              </a:spcBef>
            </a:pPr>
            <a:r>
              <a:rPr sz="4050" b="1" dirty="0">
                <a:solidFill>
                  <a:srgbClr val="DA241D"/>
                </a:solidFill>
                <a:latin typeface="Calibri"/>
                <a:cs typeface="Calibri"/>
              </a:rPr>
              <a:t>OUR </a:t>
            </a:r>
            <a:r>
              <a:rPr sz="4050" b="1" spc="-20" dirty="0">
                <a:solidFill>
                  <a:srgbClr val="DA241D"/>
                </a:solidFill>
                <a:latin typeface="Calibri"/>
                <a:cs typeface="Calibri"/>
              </a:rPr>
              <a:t>TEAM</a:t>
            </a:r>
            <a:endParaRPr sz="4050">
              <a:latin typeface="Calibri"/>
              <a:cs typeface="Calibri"/>
            </a:endParaRPr>
          </a:p>
        </p:txBody>
      </p:sp>
      <p:sp>
        <p:nvSpPr>
          <p:cNvPr id="3" name="object 3"/>
          <p:cNvSpPr txBox="1"/>
          <p:nvPr/>
        </p:nvSpPr>
        <p:spPr>
          <a:xfrm>
            <a:off x="474065" y="1762455"/>
            <a:ext cx="8195309" cy="276987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Our</a:t>
            </a:r>
            <a:r>
              <a:rPr sz="1800" spc="-50" dirty="0">
                <a:latin typeface="Calibri"/>
                <a:cs typeface="Calibri"/>
              </a:rPr>
              <a:t> </a:t>
            </a:r>
            <a:r>
              <a:rPr sz="1800" spc="-35" dirty="0">
                <a:latin typeface="Calibri"/>
                <a:cs typeface="Calibri"/>
              </a:rPr>
              <a:t>Team</a:t>
            </a:r>
            <a:r>
              <a:rPr sz="1800" spc="-45" dirty="0">
                <a:latin typeface="Calibri"/>
                <a:cs typeface="Calibri"/>
              </a:rPr>
              <a:t> </a:t>
            </a:r>
            <a:r>
              <a:rPr sz="1800" dirty="0">
                <a:latin typeface="Calibri"/>
                <a:cs typeface="Calibri"/>
              </a:rPr>
              <a:t>comprises</a:t>
            </a:r>
            <a:r>
              <a:rPr sz="1800" spc="-40" dirty="0">
                <a:latin typeface="Calibri"/>
                <a:cs typeface="Calibri"/>
              </a:rPr>
              <a:t> </a:t>
            </a:r>
            <a:r>
              <a:rPr sz="1800" dirty="0">
                <a:latin typeface="Calibri"/>
                <a:cs typeface="Calibri"/>
              </a:rPr>
              <a:t>of</a:t>
            </a:r>
            <a:r>
              <a:rPr sz="1800" spc="-25" dirty="0">
                <a:latin typeface="Calibri"/>
                <a:cs typeface="Calibri"/>
              </a:rPr>
              <a:t> </a:t>
            </a:r>
            <a:r>
              <a:rPr sz="1800" dirty="0">
                <a:latin typeface="Calibri"/>
                <a:cs typeface="Calibri"/>
              </a:rPr>
              <a:t>highly</a:t>
            </a:r>
            <a:r>
              <a:rPr sz="1800" spc="-30" dirty="0">
                <a:latin typeface="Calibri"/>
                <a:cs typeface="Calibri"/>
              </a:rPr>
              <a:t> </a:t>
            </a:r>
            <a:r>
              <a:rPr sz="1800" dirty="0">
                <a:latin typeface="Calibri"/>
                <a:cs typeface="Calibri"/>
              </a:rPr>
              <a:t>trained,</a:t>
            </a:r>
            <a:r>
              <a:rPr sz="1800" spc="-40" dirty="0">
                <a:latin typeface="Calibri"/>
                <a:cs typeface="Calibri"/>
              </a:rPr>
              <a:t> </a:t>
            </a:r>
            <a:r>
              <a:rPr sz="1800" spc="-10" dirty="0">
                <a:latin typeface="Calibri"/>
                <a:cs typeface="Calibri"/>
              </a:rPr>
              <a:t>talented</a:t>
            </a:r>
            <a:r>
              <a:rPr sz="1800" spc="-25"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experienced</a:t>
            </a:r>
            <a:r>
              <a:rPr sz="1800" spc="-30" dirty="0">
                <a:latin typeface="Calibri"/>
                <a:cs typeface="Calibri"/>
              </a:rPr>
              <a:t> </a:t>
            </a:r>
            <a:r>
              <a:rPr sz="1800" spc="-10" dirty="0">
                <a:latin typeface="Calibri"/>
                <a:cs typeface="Calibri"/>
              </a:rPr>
              <a:t>professionals</a:t>
            </a:r>
            <a:r>
              <a:rPr sz="1800" spc="-45" dirty="0">
                <a:latin typeface="Calibri"/>
                <a:cs typeface="Calibri"/>
              </a:rPr>
              <a:t> </a:t>
            </a:r>
            <a:r>
              <a:rPr sz="1800" dirty="0">
                <a:latin typeface="Calibri"/>
                <a:cs typeface="Calibri"/>
              </a:rPr>
              <a:t>who</a:t>
            </a:r>
            <a:r>
              <a:rPr sz="1800" spc="-30" dirty="0">
                <a:latin typeface="Calibri"/>
                <a:cs typeface="Calibri"/>
              </a:rPr>
              <a:t> </a:t>
            </a:r>
            <a:r>
              <a:rPr sz="1800" spc="-25" dirty="0">
                <a:latin typeface="Calibri"/>
                <a:cs typeface="Calibri"/>
              </a:rPr>
              <a:t>are</a:t>
            </a:r>
            <a:endParaRPr sz="1800">
              <a:latin typeface="Calibri"/>
              <a:cs typeface="Calibri"/>
            </a:endParaRPr>
          </a:p>
          <a:p>
            <a:pPr marL="12700">
              <a:lnSpc>
                <a:spcPct val="100000"/>
              </a:lnSpc>
              <a:spcBef>
                <a:spcPts val="5"/>
              </a:spcBef>
            </a:pPr>
            <a:r>
              <a:rPr sz="1800" dirty="0">
                <a:latin typeface="Calibri"/>
                <a:cs typeface="Calibri"/>
              </a:rPr>
              <a:t>committed</a:t>
            </a:r>
            <a:r>
              <a:rPr sz="1800" spc="-55" dirty="0">
                <a:latin typeface="Calibri"/>
                <a:cs typeface="Calibri"/>
              </a:rPr>
              <a:t> </a:t>
            </a:r>
            <a:r>
              <a:rPr sz="1800" dirty="0">
                <a:latin typeface="Calibri"/>
                <a:cs typeface="Calibri"/>
              </a:rPr>
              <a:t>to</a:t>
            </a:r>
            <a:r>
              <a:rPr sz="1800" spc="-75" dirty="0">
                <a:latin typeface="Calibri"/>
                <a:cs typeface="Calibri"/>
              </a:rPr>
              <a:t> </a:t>
            </a:r>
            <a:r>
              <a:rPr sz="1800" dirty="0">
                <a:latin typeface="Calibri"/>
                <a:cs typeface="Calibri"/>
              </a:rPr>
              <a:t>rendering</a:t>
            </a:r>
            <a:r>
              <a:rPr sz="1800" spc="-45" dirty="0">
                <a:latin typeface="Calibri"/>
                <a:cs typeface="Calibri"/>
              </a:rPr>
              <a:t> </a:t>
            </a:r>
            <a:r>
              <a:rPr sz="1800" spc="-10" dirty="0">
                <a:latin typeface="Calibri"/>
                <a:cs typeface="Calibri"/>
              </a:rPr>
              <a:t>bespoke</a:t>
            </a:r>
            <a:r>
              <a:rPr sz="1800" spc="-65" dirty="0">
                <a:latin typeface="Calibri"/>
                <a:cs typeface="Calibri"/>
              </a:rPr>
              <a:t> </a:t>
            </a:r>
            <a:r>
              <a:rPr sz="1800" spc="-10" dirty="0">
                <a:latin typeface="Calibri"/>
                <a:cs typeface="Calibri"/>
              </a:rPr>
              <a:t>services.</a:t>
            </a:r>
            <a:endParaRPr sz="1800">
              <a:latin typeface="Calibri"/>
              <a:cs typeface="Calibri"/>
            </a:endParaRPr>
          </a:p>
          <a:p>
            <a:pPr marL="12700">
              <a:lnSpc>
                <a:spcPct val="100000"/>
              </a:lnSpc>
              <a:spcBef>
                <a:spcPts val="2160"/>
              </a:spcBef>
            </a:pPr>
            <a:r>
              <a:rPr sz="1800" spc="-20" dirty="0">
                <a:latin typeface="Calibri"/>
                <a:cs typeface="Calibri"/>
              </a:rPr>
              <a:t>Presently,</a:t>
            </a:r>
            <a:r>
              <a:rPr sz="1800" spc="-30" dirty="0">
                <a:latin typeface="Calibri"/>
                <a:cs typeface="Calibri"/>
              </a:rPr>
              <a:t> </a:t>
            </a:r>
            <a:r>
              <a:rPr sz="1800" dirty="0">
                <a:latin typeface="Calibri"/>
                <a:cs typeface="Calibri"/>
              </a:rPr>
              <a:t>the</a:t>
            </a:r>
            <a:r>
              <a:rPr sz="1800" spc="-35" dirty="0">
                <a:latin typeface="Calibri"/>
                <a:cs typeface="Calibri"/>
              </a:rPr>
              <a:t> </a:t>
            </a:r>
            <a:r>
              <a:rPr sz="1800" dirty="0">
                <a:latin typeface="Calibri"/>
                <a:cs typeface="Calibri"/>
              </a:rPr>
              <a:t>Company</a:t>
            </a:r>
            <a:r>
              <a:rPr sz="1800" spc="-25" dirty="0">
                <a:latin typeface="Calibri"/>
                <a:cs typeface="Calibri"/>
              </a:rPr>
              <a:t> </a:t>
            </a:r>
            <a:r>
              <a:rPr sz="1800" dirty="0">
                <a:latin typeface="Calibri"/>
                <a:cs typeface="Calibri"/>
              </a:rPr>
              <a:t>has</a:t>
            </a:r>
            <a:r>
              <a:rPr sz="1800" spc="-30" dirty="0">
                <a:latin typeface="Calibri"/>
                <a:cs typeface="Calibri"/>
              </a:rPr>
              <a:t> </a:t>
            </a:r>
            <a:r>
              <a:rPr sz="1800" dirty="0">
                <a:latin typeface="Calibri"/>
                <a:cs typeface="Calibri"/>
              </a:rPr>
              <a:t>a</a:t>
            </a:r>
            <a:r>
              <a:rPr sz="1800" spc="-40" dirty="0">
                <a:latin typeface="Calibri"/>
                <a:cs typeface="Calibri"/>
              </a:rPr>
              <a:t> </a:t>
            </a:r>
            <a:r>
              <a:rPr sz="1800" spc="-10" dirty="0">
                <a:latin typeface="Calibri"/>
                <a:cs typeface="Calibri"/>
              </a:rPr>
              <a:t>staff</a:t>
            </a:r>
            <a:r>
              <a:rPr sz="1800" spc="-45" dirty="0">
                <a:latin typeface="Calibri"/>
                <a:cs typeface="Calibri"/>
              </a:rPr>
              <a:t> </a:t>
            </a:r>
            <a:r>
              <a:rPr sz="1800" spc="-10" dirty="0">
                <a:latin typeface="Calibri"/>
                <a:cs typeface="Calibri"/>
              </a:rPr>
              <a:t>strength</a:t>
            </a:r>
            <a:r>
              <a:rPr sz="1800" spc="-40" dirty="0">
                <a:latin typeface="Calibri"/>
                <a:cs typeface="Calibri"/>
              </a:rPr>
              <a:t> </a:t>
            </a:r>
            <a:r>
              <a:rPr sz="1800" dirty="0">
                <a:latin typeface="Calibri"/>
                <a:cs typeface="Calibri"/>
              </a:rPr>
              <a:t>of</a:t>
            </a:r>
            <a:r>
              <a:rPr sz="1800" spc="-5" dirty="0">
                <a:latin typeface="Calibri"/>
                <a:cs typeface="Calibri"/>
              </a:rPr>
              <a:t> </a:t>
            </a:r>
            <a:r>
              <a:rPr sz="1800" dirty="0">
                <a:latin typeface="Calibri"/>
                <a:cs typeface="Calibri"/>
              </a:rPr>
              <a:t>Fourty</a:t>
            </a:r>
            <a:r>
              <a:rPr sz="1800" spc="-35" dirty="0">
                <a:latin typeface="Calibri"/>
                <a:cs typeface="Calibri"/>
              </a:rPr>
              <a:t> </a:t>
            </a:r>
            <a:r>
              <a:rPr sz="1800" dirty="0">
                <a:latin typeface="Calibri"/>
                <a:cs typeface="Calibri"/>
              </a:rPr>
              <a:t>six</a:t>
            </a:r>
            <a:r>
              <a:rPr sz="1800" spc="-40" dirty="0">
                <a:latin typeface="Calibri"/>
                <a:cs typeface="Calibri"/>
              </a:rPr>
              <a:t> </a:t>
            </a:r>
            <a:r>
              <a:rPr sz="1800" spc="-20" dirty="0">
                <a:latin typeface="Calibri"/>
                <a:cs typeface="Calibri"/>
              </a:rPr>
              <a:t>(46)</a:t>
            </a:r>
            <a:endParaRPr sz="1800">
              <a:latin typeface="Calibri"/>
              <a:cs typeface="Calibri"/>
            </a:endParaRPr>
          </a:p>
          <a:p>
            <a:pPr marL="12700" marR="5080">
              <a:lnSpc>
                <a:spcPct val="100000"/>
              </a:lnSpc>
              <a:spcBef>
                <a:spcPts val="2160"/>
              </a:spcBef>
            </a:pPr>
            <a:r>
              <a:rPr sz="1800" dirty="0">
                <a:latin typeface="Calibri"/>
                <a:cs typeface="Calibri"/>
              </a:rPr>
              <a:t>We</a:t>
            </a:r>
            <a:r>
              <a:rPr sz="1800" spc="-55" dirty="0">
                <a:latin typeface="Calibri"/>
                <a:cs typeface="Calibri"/>
              </a:rPr>
              <a:t> </a:t>
            </a:r>
            <a:r>
              <a:rPr sz="1800" dirty="0">
                <a:latin typeface="Calibri"/>
                <a:cs typeface="Calibri"/>
              </a:rPr>
              <a:t>have</a:t>
            </a:r>
            <a:r>
              <a:rPr sz="1800" spc="-60" dirty="0">
                <a:latin typeface="Calibri"/>
                <a:cs typeface="Calibri"/>
              </a:rPr>
              <a:t> </a:t>
            </a:r>
            <a:r>
              <a:rPr sz="1800" dirty="0">
                <a:latin typeface="Calibri"/>
                <a:cs typeface="Calibri"/>
              </a:rPr>
              <a:t>professionals</a:t>
            </a:r>
            <a:r>
              <a:rPr sz="1800" spc="-55" dirty="0">
                <a:latin typeface="Calibri"/>
                <a:cs typeface="Calibri"/>
              </a:rPr>
              <a:t> </a:t>
            </a:r>
            <a:r>
              <a:rPr sz="1800" dirty="0">
                <a:latin typeface="Calibri"/>
                <a:cs typeface="Calibri"/>
              </a:rPr>
              <a:t>who</a:t>
            </a:r>
            <a:r>
              <a:rPr sz="1800" spc="-40" dirty="0">
                <a:latin typeface="Calibri"/>
                <a:cs typeface="Calibri"/>
              </a:rPr>
              <a:t> </a:t>
            </a:r>
            <a:r>
              <a:rPr sz="1800" dirty="0">
                <a:latin typeface="Calibri"/>
                <a:cs typeface="Calibri"/>
              </a:rPr>
              <a:t>are</a:t>
            </a:r>
            <a:r>
              <a:rPr sz="1800" spc="-55" dirty="0">
                <a:latin typeface="Calibri"/>
                <a:cs typeface="Calibri"/>
              </a:rPr>
              <a:t> </a:t>
            </a:r>
            <a:r>
              <a:rPr sz="1800" dirty="0">
                <a:latin typeface="Calibri"/>
                <a:cs typeface="Calibri"/>
              </a:rPr>
              <a:t>specialists</a:t>
            </a:r>
            <a:r>
              <a:rPr sz="1800" spc="-45" dirty="0">
                <a:latin typeface="Calibri"/>
                <a:cs typeface="Calibri"/>
              </a:rPr>
              <a:t> </a:t>
            </a:r>
            <a:r>
              <a:rPr sz="1800" dirty="0">
                <a:latin typeface="Calibri"/>
                <a:cs typeface="Calibri"/>
              </a:rPr>
              <a:t>from</a:t>
            </a:r>
            <a:r>
              <a:rPr sz="1800" spc="-65" dirty="0">
                <a:latin typeface="Calibri"/>
                <a:cs typeface="Calibri"/>
              </a:rPr>
              <a:t> </a:t>
            </a:r>
            <a:r>
              <a:rPr sz="1800" dirty="0">
                <a:latin typeface="Calibri"/>
                <a:cs typeface="Calibri"/>
              </a:rPr>
              <a:t>various</a:t>
            </a:r>
            <a:r>
              <a:rPr sz="1800" spc="-50" dirty="0">
                <a:latin typeface="Calibri"/>
                <a:cs typeface="Calibri"/>
              </a:rPr>
              <a:t> </a:t>
            </a:r>
            <a:r>
              <a:rPr sz="1800" dirty="0">
                <a:latin typeface="Calibri"/>
                <a:cs typeface="Calibri"/>
              </a:rPr>
              <a:t>field</a:t>
            </a:r>
            <a:r>
              <a:rPr sz="1800" spc="-50"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works,</a:t>
            </a:r>
            <a:r>
              <a:rPr sz="1800" spc="-55" dirty="0">
                <a:latin typeface="Calibri"/>
                <a:cs typeface="Calibri"/>
              </a:rPr>
              <a:t> </a:t>
            </a:r>
            <a:r>
              <a:rPr sz="1800" dirty="0">
                <a:latin typeface="Calibri"/>
                <a:cs typeface="Calibri"/>
              </a:rPr>
              <a:t>which</a:t>
            </a:r>
            <a:r>
              <a:rPr sz="1800" spc="-45" dirty="0">
                <a:latin typeface="Calibri"/>
                <a:cs typeface="Calibri"/>
              </a:rPr>
              <a:t> </a:t>
            </a:r>
            <a:r>
              <a:rPr sz="1800" spc="-10" dirty="0">
                <a:latin typeface="Calibri"/>
                <a:cs typeface="Calibri"/>
              </a:rPr>
              <a:t>includes; </a:t>
            </a:r>
            <a:r>
              <a:rPr sz="1800" dirty="0">
                <a:latin typeface="Calibri"/>
                <a:cs typeface="Calibri"/>
              </a:rPr>
              <a:t>Engineering,</a:t>
            </a:r>
            <a:r>
              <a:rPr sz="1800" spc="-50" dirty="0">
                <a:latin typeface="Calibri"/>
                <a:cs typeface="Calibri"/>
              </a:rPr>
              <a:t> </a:t>
            </a:r>
            <a:r>
              <a:rPr sz="1800" dirty="0">
                <a:latin typeface="Calibri"/>
                <a:cs typeface="Calibri"/>
              </a:rPr>
              <a:t>Marketing,</a:t>
            </a:r>
            <a:r>
              <a:rPr sz="1800" spc="-40" dirty="0">
                <a:latin typeface="Calibri"/>
                <a:cs typeface="Calibri"/>
              </a:rPr>
              <a:t> </a:t>
            </a:r>
            <a:r>
              <a:rPr sz="1800" dirty="0">
                <a:latin typeface="Calibri"/>
                <a:cs typeface="Calibri"/>
              </a:rPr>
              <a:t>Accounting</a:t>
            </a:r>
            <a:r>
              <a:rPr sz="1800" spc="-35" dirty="0">
                <a:latin typeface="Calibri"/>
                <a:cs typeface="Calibri"/>
              </a:rPr>
              <a:t> </a:t>
            </a:r>
            <a:r>
              <a:rPr sz="1800" dirty="0">
                <a:latin typeface="Calibri"/>
                <a:cs typeface="Calibri"/>
              </a:rPr>
              <a:t>,</a:t>
            </a:r>
            <a:r>
              <a:rPr sz="1800" spc="-50" dirty="0">
                <a:latin typeface="Calibri"/>
                <a:cs typeface="Calibri"/>
              </a:rPr>
              <a:t> </a:t>
            </a:r>
            <a:r>
              <a:rPr sz="1800" dirty="0">
                <a:latin typeface="Calibri"/>
                <a:cs typeface="Calibri"/>
              </a:rPr>
              <a:t>Public</a:t>
            </a:r>
            <a:r>
              <a:rPr sz="1800" spc="-35" dirty="0">
                <a:latin typeface="Calibri"/>
                <a:cs typeface="Calibri"/>
              </a:rPr>
              <a:t> </a:t>
            </a:r>
            <a:r>
              <a:rPr sz="1800" spc="-10" dirty="0">
                <a:latin typeface="Calibri"/>
                <a:cs typeface="Calibri"/>
              </a:rPr>
              <a:t>Relations,</a:t>
            </a:r>
            <a:r>
              <a:rPr sz="1800" spc="-50" dirty="0">
                <a:latin typeface="Calibri"/>
                <a:cs typeface="Calibri"/>
              </a:rPr>
              <a:t> </a:t>
            </a:r>
            <a:r>
              <a:rPr sz="1800" spc="-10" dirty="0">
                <a:latin typeface="Calibri"/>
                <a:cs typeface="Calibri"/>
              </a:rPr>
              <a:t>Information</a:t>
            </a:r>
            <a:r>
              <a:rPr sz="1800" spc="-55" dirty="0">
                <a:latin typeface="Calibri"/>
                <a:cs typeface="Calibri"/>
              </a:rPr>
              <a:t> </a:t>
            </a:r>
            <a:r>
              <a:rPr sz="1800" spc="-10" dirty="0">
                <a:latin typeface="Calibri"/>
                <a:cs typeface="Calibri"/>
              </a:rPr>
              <a:t>Technology, Envoronmental</a:t>
            </a:r>
            <a:r>
              <a:rPr sz="1800" spc="-55" dirty="0">
                <a:latin typeface="Calibri"/>
                <a:cs typeface="Calibri"/>
              </a:rPr>
              <a:t> </a:t>
            </a:r>
            <a:r>
              <a:rPr sz="1800" spc="-10" dirty="0">
                <a:latin typeface="Calibri"/>
                <a:cs typeface="Calibri"/>
              </a:rPr>
              <a:t>Beautifications</a:t>
            </a:r>
            <a:r>
              <a:rPr sz="1800" spc="-25" dirty="0">
                <a:latin typeface="Calibri"/>
                <a:cs typeface="Calibri"/>
              </a:rPr>
              <a:t> </a:t>
            </a:r>
            <a:r>
              <a:rPr sz="1800" dirty="0">
                <a:latin typeface="Calibri"/>
                <a:cs typeface="Calibri"/>
              </a:rPr>
              <a:t>etc,</a:t>
            </a:r>
            <a:r>
              <a:rPr sz="1800" spc="-30" dirty="0">
                <a:latin typeface="Calibri"/>
                <a:cs typeface="Calibri"/>
              </a:rPr>
              <a:t> </a:t>
            </a:r>
            <a:r>
              <a:rPr sz="1800" dirty="0">
                <a:latin typeface="Calibri"/>
                <a:cs typeface="Calibri"/>
              </a:rPr>
              <a:t>this</a:t>
            </a:r>
            <a:r>
              <a:rPr sz="1800" spc="-25" dirty="0">
                <a:latin typeface="Calibri"/>
                <a:cs typeface="Calibri"/>
              </a:rPr>
              <a:t> </a:t>
            </a:r>
            <a:r>
              <a:rPr sz="1800" spc="-10" dirty="0">
                <a:latin typeface="Calibri"/>
                <a:cs typeface="Calibri"/>
              </a:rPr>
              <a:t>therefore</a:t>
            </a:r>
            <a:r>
              <a:rPr sz="1800" spc="-35" dirty="0">
                <a:latin typeface="Calibri"/>
                <a:cs typeface="Calibri"/>
              </a:rPr>
              <a:t> </a:t>
            </a:r>
            <a:r>
              <a:rPr sz="1800" spc="-10" dirty="0">
                <a:latin typeface="Calibri"/>
                <a:cs typeface="Calibri"/>
              </a:rPr>
              <a:t>provides</a:t>
            </a:r>
            <a:r>
              <a:rPr sz="1800" spc="-35" dirty="0">
                <a:latin typeface="Calibri"/>
                <a:cs typeface="Calibri"/>
              </a:rPr>
              <a:t> </a:t>
            </a:r>
            <a:r>
              <a:rPr sz="1800" dirty="0">
                <a:latin typeface="Calibri"/>
                <a:cs typeface="Calibri"/>
              </a:rPr>
              <a:t>the</a:t>
            </a:r>
            <a:r>
              <a:rPr sz="1800" spc="-25" dirty="0">
                <a:latin typeface="Calibri"/>
                <a:cs typeface="Calibri"/>
              </a:rPr>
              <a:t> </a:t>
            </a:r>
            <a:r>
              <a:rPr sz="1800" spc="-10" dirty="0">
                <a:latin typeface="Calibri"/>
                <a:cs typeface="Calibri"/>
              </a:rPr>
              <a:t>company</a:t>
            </a:r>
            <a:r>
              <a:rPr sz="1800" spc="-35" dirty="0">
                <a:latin typeface="Calibri"/>
                <a:cs typeface="Calibri"/>
              </a:rPr>
              <a:t> </a:t>
            </a:r>
            <a:r>
              <a:rPr sz="1800" dirty="0">
                <a:latin typeface="Calibri"/>
                <a:cs typeface="Calibri"/>
              </a:rPr>
              <a:t>with</a:t>
            </a:r>
            <a:r>
              <a:rPr sz="1800" spc="-20" dirty="0">
                <a:latin typeface="Calibri"/>
                <a:cs typeface="Calibri"/>
              </a:rPr>
              <a:t> </a:t>
            </a:r>
            <a:r>
              <a:rPr sz="1800" dirty="0">
                <a:latin typeface="Calibri"/>
                <a:cs typeface="Calibri"/>
              </a:rPr>
              <a:t>a</a:t>
            </a:r>
            <a:r>
              <a:rPr sz="1800" spc="-45" dirty="0">
                <a:latin typeface="Calibri"/>
                <a:cs typeface="Calibri"/>
              </a:rPr>
              <a:t> </a:t>
            </a:r>
            <a:r>
              <a:rPr sz="1800" spc="-10" dirty="0">
                <a:latin typeface="Calibri"/>
                <a:cs typeface="Calibri"/>
              </a:rPr>
              <a:t>veritable </a:t>
            </a:r>
            <a:r>
              <a:rPr sz="1800" dirty="0">
                <a:latin typeface="Calibri"/>
                <a:cs typeface="Calibri"/>
              </a:rPr>
              <a:t>pool</a:t>
            </a:r>
            <a:r>
              <a:rPr sz="1800" spc="-40"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skills</a:t>
            </a:r>
            <a:r>
              <a:rPr sz="1800" spc="-50" dirty="0">
                <a:latin typeface="Calibri"/>
                <a:cs typeface="Calibri"/>
              </a:rPr>
              <a:t> </a:t>
            </a:r>
            <a:r>
              <a:rPr sz="1800" dirty="0">
                <a:latin typeface="Calibri"/>
                <a:cs typeface="Calibri"/>
              </a:rPr>
              <a:t>and</a:t>
            </a:r>
            <a:r>
              <a:rPr sz="1800" spc="-25" dirty="0">
                <a:latin typeface="Calibri"/>
                <a:cs typeface="Calibri"/>
              </a:rPr>
              <a:t> </a:t>
            </a:r>
            <a:r>
              <a:rPr sz="1800" dirty="0">
                <a:latin typeface="Calibri"/>
                <a:cs typeface="Calibri"/>
              </a:rPr>
              <a:t>potentials</a:t>
            </a:r>
            <a:r>
              <a:rPr sz="1800" spc="-30" dirty="0">
                <a:latin typeface="Calibri"/>
                <a:cs typeface="Calibri"/>
              </a:rPr>
              <a:t> </a:t>
            </a:r>
            <a:r>
              <a:rPr sz="1800" dirty="0">
                <a:latin typeface="Calibri"/>
                <a:cs typeface="Calibri"/>
              </a:rPr>
              <a:t>needed</a:t>
            </a:r>
            <a:r>
              <a:rPr sz="1800" spc="-25" dirty="0">
                <a:latin typeface="Calibri"/>
                <a:cs typeface="Calibri"/>
              </a:rPr>
              <a:t> </a:t>
            </a:r>
            <a:r>
              <a:rPr sz="1800" dirty="0">
                <a:latin typeface="Calibri"/>
                <a:cs typeface="Calibri"/>
              </a:rPr>
              <a:t>for</a:t>
            </a:r>
            <a:r>
              <a:rPr sz="1800" spc="-40"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quality</a:t>
            </a:r>
            <a:r>
              <a:rPr sz="1800" spc="-35" dirty="0">
                <a:latin typeface="Calibri"/>
                <a:cs typeface="Calibri"/>
              </a:rPr>
              <a:t> </a:t>
            </a:r>
            <a:r>
              <a:rPr sz="1800" dirty="0">
                <a:latin typeface="Calibri"/>
                <a:cs typeface="Calibri"/>
              </a:rPr>
              <a:t>services</a:t>
            </a:r>
            <a:r>
              <a:rPr sz="1800" spc="-35" dirty="0">
                <a:latin typeface="Calibri"/>
                <a:cs typeface="Calibri"/>
              </a:rPr>
              <a:t> </a:t>
            </a:r>
            <a:r>
              <a:rPr sz="1800" dirty="0">
                <a:latin typeface="Calibri"/>
                <a:cs typeface="Calibri"/>
              </a:rPr>
              <a:t>which</a:t>
            </a:r>
            <a:r>
              <a:rPr sz="1800" spc="-15" dirty="0">
                <a:latin typeface="Calibri"/>
                <a:cs typeface="Calibri"/>
              </a:rPr>
              <a:t> </a:t>
            </a:r>
            <a:r>
              <a:rPr sz="1800" dirty="0">
                <a:latin typeface="Calibri"/>
                <a:cs typeface="Calibri"/>
              </a:rPr>
              <a:t>our</a:t>
            </a:r>
            <a:r>
              <a:rPr sz="1800" spc="-35" dirty="0">
                <a:latin typeface="Calibri"/>
                <a:cs typeface="Calibri"/>
              </a:rPr>
              <a:t> </a:t>
            </a:r>
            <a:r>
              <a:rPr sz="1800" dirty="0">
                <a:latin typeface="Calibri"/>
                <a:cs typeface="Calibri"/>
              </a:rPr>
              <a:t>name</a:t>
            </a:r>
            <a:r>
              <a:rPr sz="1800" spc="-40" dirty="0">
                <a:latin typeface="Calibri"/>
                <a:cs typeface="Calibri"/>
              </a:rPr>
              <a:t> </a:t>
            </a:r>
            <a:r>
              <a:rPr sz="1800" dirty="0">
                <a:latin typeface="Calibri"/>
                <a:cs typeface="Calibri"/>
              </a:rPr>
              <a:t>has</a:t>
            </a:r>
            <a:r>
              <a:rPr sz="1800" spc="-50" dirty="0">
                <a:latin typeface="Calibri"/>
                <a:cs typeface="Calibri"/>
              </a:rPr>
              <a:t> </a:t>
            </a:r>
            <a:r>
              <a:rPr sz="1800" spc="-10" dirty="0">
                <a:latin typeface="Calibri"/>
                <a:cs typeface="Calibri"/>
              </a:rPr>
              <a:t>grown </a:t>
            </a:r>
            <a:r>
              <a:rPr sz="1800" dirty="0">
                <a:latin typeface="Calibri"/>
                <a:cs typeface="Calibri"/>
              </a:rPr>
              <a:t>to</a:t>
            </a:r>
            <a:r>
              <a:rPr sz="1800" spc="-55" dirty="0">
                <a:latin typeface="Calibri"/>
                <a:cs typeface="Calibri"/>
              </a:rPr>
              <a:t> </a:t>
            </a:r>
            <a:r>
              <a:rPr sz="1800" dirty="0">
                <a:latin typeface="Calibri"/>
                <a:cs typeface="Calibri"/>
              </a:rPr>
              <a:t>become</a:t>
            </a:r>
            <a:r>
              <a:rPr sz="1800" spc="-30" dirty="0">
                <a:latin typeface="Calibri"/>
                <a:cs typeface="Calibri"/>
              </a:rPr>
              <a:t> </a:t>
            </a:r>
            <a:r>
              <a:rPr sz="1800" spc="-10" dirty="0">
                <a:latin typeface="Calibri"/>
                <a:cs typeface="Calibri"/>
              </a:rPr>
              <a:t>synonymous</a:t>
            </a:r>
            <a:r>
              <a:rPr sz="1800" spc="-55" dirty="0">
                <a:latin typeface="Calibri"/>
                <a:cs typeface="Calibri"/>
              </a:rPr>
              <a:t> </a:t>
            </a:r>
            <a:r>
              <a:rPr sz="1800" spc="-20" dirty="0">
                <a:latin typeface="Calibri"/>
                <a:cs typeface="Calibri"/>
              </a:rPr>
              <a:t>with.</a:t>
            </a:r>
            <a:endParaRPr sz="18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53944" y="71285"/>
            <a:ext cx="5575300" cy="1055370"/>
          </a:xfrm>
          <a:prstGeom prst="rect">
            <a:avLst/>
          </a:prstGeom>
        </p:spPr>
        <p:txBody>
          <a:bodyPr vert="horz" wrap="square" lIns="0" tIns="133985" rIns="0" bIns="0" rtlCol="0">
            <a:spAutoFit/>
          </a:bodyPr>
          <a:lstStyle/>
          <a:p>
            <a:pPr marL="12700">
              <a:lnSpc>
                <a:spcPct val="100000"/>
              </a:lnSpc>
              <a:spcBef>
                <a:spcPts val="1055"/>
              </a:spcBef>
            </a:pPr>
            <a:r>
              <a:rPr sz="4050" b="1" spc="-10" dirty="0">
                <a:solidFill>
                  <a:srgbClr val="DA241D"/>
                </a:solidFill>
                <a:latin typeface="Calibri"/>
                <a:cs typeface="Calibri"/>
              </a:rPr>
              <a:t>PERSONNEL</a:t>
            </a:r>
            <a:endParaRPr sz="4050">
              <a:latin typeface="Calibri"/>
              <a:cs typeface="Calibri"/>
            </a:endParaRPr>
          </a:p>
          <a:p>
            <a:pPr marL="1130300">
              <a:lnSpc>
                <a:spcPct val="100000"/>
              </a:lnSpc>
              <a:spcBef>
                <a:spcPts val="370"/>
              </a:spcBef>
            </a:pPr>
            <a:r>
              <a:rPr sz="1600" b="1" dirty="0">
                <a:solidFill>
                  <a:srgbClr val="000000"/>
                </a:solidFill>
                <a:latin typeface="Calibri"/>
                <a:cs typeface="Calibri"/>
              </a:rPr>
              <a:t>Late</a:t>
            </a:r>
            <a:r>
              <a:rPr sz="1600" b="1" spc="-45" dirty="0">
                <a:solidFill>
                  <a:srgbClr val="000000"/>
                </a:solidFill>
                <a:latin typeface="Calibri"/>
                <a:cs typeface="Calibri"/>
              </a:rPr>
              <a:t> Mr.</a:t>
            </a:r>
            <a:r>
              <a:rPr sz="1600" b="1" spc="-30" dirty="0">
                <a:solidFill>
                  <a:srgbClr val="000000"/>
                </a:solidFill>
                <a:latin typeface="Calibri"/>
                <a:cs typeface="Calibri"/>
              </a:rPr>
              <a:t> </a:t>
            </a:r>
            <a:r>
              <a:rPr sz="1600" b="1" dirty="0">
                <a:solidFill>
                  <a:srgbClr val="000000"/>
                </a:solidFill>
                <a:latin typeface="Calibri"/>
                <a:cs typeface="Calibri"/>
              </a:rPr>
              <a:t>Moses</a:t>
            </a:r>
            <a:r>
              <a:rPr sz="1600" b="1" spc="-30" dirty="0">
                <a:solidFill>
                  <a:srgbClr val="000000"/>
                </a:solidFill>
                <a:latin typeface="Calibri"/>
                <a:cs typeface="Calibri"/>
              </a:rPr>
              <a:t> </a:t>
            </a:r>
            <a:r>
              <a:rPr sz="1600" b="1" dirty="0">
                <a:solidFill>
                  <a:srgbClr val="000000"/>
                </a:solidFill>
                <a:latin typeface="Calibri"/>
                <a:cs typeface="Calibri"/>
              </a:rPr>
              <a:t>Orife</a:t>
            </a:r>
            <a:r>
              <a:rPr sz="1600" b="1" spc="-35" dirty="0">
                <a:solidFill>
                  <a:srgbClr val="000000"/>
                </a:solidFill>
                <a:latin typeface="Calibri"/>
                <a:cs typeface="Calibri"/>
              </a:rPr>
              <a:t> </a:t>
            </a:r>
            <a:r>
              <a:rPr sz="1600" b="1" dirty="0">
                <a:solidFill>
                  <a:srgbClr val="000000"/>
                </a:solidFill>
                <a:latin typeface="Calibri"/>
                <a:cs typeface="Calibri"/>
              </a:rPr>
              <a:t>is</a:t>
            </a:r>
            <a:r>
              <a:rPr sz="1600" b="1" spc="-45" dirty="0">
                <a:solidFill>
                  <a:srgbClr val="000000"/>
                </a:solidFill>
                <a:latin typeface="Calibri"/>
                <a:cs typeface="Calibri"/>
              </a:rPr>
              <a:t> </a:t>
            </a:r>
            <a:r>
              <a:rPr sz="1600" b="1" dirty="0">
                <a:solidFill>
                  <a:srgbClr val="000000"/>
                </a:solidFill>
                <a:latin typeface="Calibri"/>
                <a:cs typeface="Calibri"/>
              </a:rPr>
              <a:t>the</a:t>
            </a:r>
            <a:r>
              <a:rPr sz="1600" b="1" spc="-40" dirty="0">
                <a:solidFill>
                  <a:srgbClr val="000000"/>
                </a:solidFill>
                <a:latin typeface="Calibri"/>
                <a:cs typeface="Calibri"/>
              </a:rPr>
              <a:t> </a:t>
            </a:r>
            <a:r>
              <a:rPr sz="1600" b="1" dirty="0">
                <a:solidFill>
                  <a:srgbClr val="000000"/>
                </a:solidFill>
                <a:latin typeface="Calibri"/>
                <a:cs typeface="Calibri"/>
              </a:rPr>
              <a:t>Founder</a:t>
            </a:r>
            <a:r>
              <a:rPr sz="1600" b="1" spc="-5" dirty="0">
                <a:solidFill>
                  <a:srgbClr val="000000"/>
                </a:solidFill>
                <a:latin typeface="Calibri"/>
                <a:cs typeface="Calibri"/>
              </a:rPr>
              <a:t> </a:t>
            </a:r>
            <a:r>
              <a:rPr sz="1600" b="1" dirty="0">
                <a:solidFill>
                  <a:srgbClr val="000000"/>
                </a:solidFill>
                <a:latin typeface="Calibri"/>
                <a:cs typeface="Calibri"/>
              </a:rPr>
              <a:t>of</a:t>
            </a:r>
            <a:r>
              <a:rPr sz="1600" b="1" spc="-35" dirty="0">
                <a:solidFill>
                  <a:srgbClr val="000000"/>
                </a:solidFill>
                <a:latin typeface="Calibri"/>
                <a:cs typeface="Calibri"/>
              </a:rPr>
              <a:t> </a:t>
            </a:r>
            <a:r>
              <a:rPr sz="1600" b="1" dirty="0">
                <a:solidFill>
                  <a:srgbClr val="000000"/>
                </a:solidFill>
                <a:latin typeface="Calibri"/>
                <a:cs typeface="Calibri"/>
              </a:rPr>
              <a:t>the</a:t>
            </a:r>
            <a:r>
              <a:rPr sz="1600" b="1" spc="-35" dirty="0">
                <a:solidFill>
                  <a:srgbClr val="000000"/>
                </a:solidFill>
                <a:latin typeface="Calibri"/>
                <a:cs typeface="Calibri"/>
              </a:rPr>
              <a:t> </a:t>
            </a:r>
            <a:r>
              <a:rPr sz="1600" b="1" spc="-10" dirty="0">
                <a:solidFill>
                  <a:srgbClr val="000000"/>
                </a:solidFill>
                <a:latin typeface="Calibri"/>
                <a:cs typeface="Calibri"/>
              </a:rPr>
              <a:t>Company.</a:t>
            </a:r>
            <a:endParaRPr sz="1600">
              <a:latin typeface="Calibri"/>
              <a:cs typeface="Calibri"/>
            </a:endParaRPr>
          </a:p>
        </p:txBody>
      </p:sp>
      <p:sp>
        <p:nvSpPr>
          <p:cNvPr id="3" name="object 3"/>
          <p:cNvSpPr txBox="1"/>
          <p:nvPr/>
        </p:nvSpPr>
        <p:spPr>
          <a:xfrm>
            <a:off x="3971925" y="1345437"/>
            <a:ext cx="4875530" cy="1488440"/>
          </a:xfrm>
          <a:prstGeom prst="rect">
            <a:avLst/>
          </a:prstGeom>
        </p:spPr>
        <p:txBody>
          <a:bodyPr vert="horz" wrap="square" lIns="0" tIns="12065" rIns="0" bIns="0" rtlCol="0">
            <a:spAutoFit/>
          </a:bodyPr>
          <a:lstStyle/>
          <a:p>
            <a:pPr marL="12700" marR="5080">
              <a:lnSpc>
                <a:spcPct val="100000"/>
              </a:lnSpc>
              <a:spcBef>
                <a:spcPts val="95"/>
              </a:spcBef>
            </a:pPr>
            <a:r>
              <a:rPr sz="1600" b="1" dirty="0">
                <a:latin typeface="Calibri"/>
                <a:cs typeface="Calibri"/>
              </a:rPr>
              <a:t>He</a:t>
            </a:r>
            <a:r>
              <a:rPr sz="1600" b="1" spc="-45" dirty="0">
                <a:latin typeface="Calibri"/>
                <a:cs typeface="Calibri"/>
              </a:rPr>
              <a:t> </a:t>
            </a:r>
            <a:r>
              <a:rPr sz="1600" b="1" dirty="0">
                <a:latin typeface="Calibri"/>
                <a:cs typeface="Calibri"/>
              </a:rPr>
              <a:t>studied</a:t>
            </a:r>
            <a:r>
              <a:rPr sz="1600" b="1" spc="-30" dirty="0">
                <a:latin typeface="Calibri"/>
                <a:cs typeface="Calibri"/>
              </a:rPr>
              <a:t> </a:t>
            </a:r>
            <a:r>
              <a:rPr sz="1600" b="1" spc="-10" dirty="0">
                <a:latin typeface="Calibri"/>
                <a:cs typeface="Calibri"/>
              </a:rPr>
              <a:t>marketing</a:t>
            </a:r>
            <a:r>
              <a:rPr sz="1600" b="1" spc="-25" dirty="0">
                <a:latin typeface="Calibri"/>
                <a:cs typeface="Calibri"/>
              </a:rPr>
              <a:t> </a:t>
            </a:r>
            <a:r>
              <a:rPr sz="1600" b="1" dirty="0">
                <a:latin typeface="Calibri"/>
                <a:cs typeface="Calibri"/>
              </a:rPr>
              <a:t>at</a:t>
            </a:r>
            <a:r>
              <a:rPr sz="1600" b="1" spc="-50" dirty="0">
                <a:latin typeface="Calibri"/>
                <a:cs typeface="Calibri"/>
              </a:rPr>
              <a:t> </a:t>
            </a:r>
            <a:r>
              <a:rPr sz="1600" b="1" dirty="0">
                <a:latin typeface="Calibri"/>
                <a:cs typeface="Calibri"/>
              </a:rPr>
              <a:t>the</a:t>
            </a:r>
            <a:r>
              <a:rPr sz="1600" b="1" spc="-35" dirty="0">
                <a:latin typeface="Calibri"/>
                <a:cs typeface="Calibri"/>
              </a:rPr>
              <a:t> </a:t>
            </a:r>
            <a:r>
              <a:rPr sz="1600" b="1" dirty="0">
                <a:latin typeface="Calibri"/>
                <a:cs typeface="Calibri"/>
              </a:rPr>
              <a:t>National</a:t>
            </a:r>
            <a:r>
              <a:rPr sz="1600" b="1" spc="-55" dirty="0">
                <a:latin typeface="Calibri"/>
                <a:cs typeface="Calibri"/>
              </a:rPr>
              <a:t> </a:t>
            </a:r>
            <a:r>
              <a:rPr sz="1600" b="1" dirty="0">
                <a:latin typeface="Calibri"/>
                <a:cs typeface="Calibri"/>
              </a:rPr>
              <a:t>School</a:t>
            </a:r>
            <a:r>
              <a:rPr sz="1600" b="1" spc="-25" dirty="0">
                <a:latin typeface="Calibri"/>
                <a:cs typeface="Calibri"/>
              </a:rPr>
              <a:t> of </a:t>
            </a:r>
            <a:r>
              <a:rPr sz="1600" b="1" dirty="0">
                <a:latin typeface="Calibri"/>
                <a:cs typeface="Calibri"/>
              </a:rPr>
              <a:t>Salesmanship,</a:t>
            </a:r>
            <a:r>
              <a:rPr sz="1600" b="1" spc="-45" dirty="0">
                <a:latin typeface="Calibri"/>
                <a:cs typeface="Calibri"/>
              </a:rPr>
              <a:t> </a:t>
            </a:r>
            <a:r>
              <a:rPr sz="1600" b="1" spc="-20" dirty="0">
                <a:latin typeface="Calibri"/>
                <a:cs typeface="Calibri"/>
              </a:rPr>
              <a:t>Manchester,</a:t>
            </a:r>
            <a:r>
              <a:rPr sz="1600" b="1" spc="-40" dirty="0">
                <a:latin typeface="Calibri"/>
                <a:cs typeface="Calibri"/>
              </a:rPr>
              <a:t> </a:t>
            </a:r>
            <a:r>
              <a:rPr sz="1600" b="1" dirty="0">
                <a:latin typeface="Calibri"/>
                <a:cs typeface="Calibri"/>
              </a:rPr>
              <a:t>England,</a:t>
            </a:r>
            <a:r>
              <a:rPr sz="1600" b="1" spc="-40" dirty="0">
                <a:latin typeface="Calibri"/>
                <a:cs typeface="Calibri"/>
              </a:rPr>
              <a:t> </a:t>
            </a:r>
            <a:r>
              <a:rPr sz="1600" b="1" dirty="0">
                <a:latin typeface="Calibri"/>
                <a:cs typeface="Calibri"/>
              </a:rPr>
              <a:t>where</a:t>
            </a:r>
            <a:r>
              <a:rPr sz="1600" b="1" spc="-55" dirty="0">
                <a:latin typeface="Calibri"/>
                <a:cs typeface="Calibri"/>
              </a:rPr>
              <a:t> </a:t>
            </a:r>
            <a:r>
              <a:rPr sz="1600" b="1" dirty="0">
                <a:latin typeface="Calibri"/>
                <a:cs typeface="Calibri"/>
              </a:rPr>
              <a:t>he</a:t>
            </a:r>
            <a:r>
              <a:rPr sz="1600" b="1" spc="-55" dirty="0">
                <a:latin typeface="Calibri"/>
                <a:cs typeface="Calibri"/>
              </a:rPr>
              <a:t> </a:t>
            </a:r>
            <a:r>
              <a:rPr sz="1600" b="1" dirty="0">
                <a:latin typeface="Calibri"/>
                <a:cs typeface="Calibri"/>
              </a:rPr>
              <a:t>obtained</a:t>
            </a:r>
            <a:r>
              <a:rPr sz="1600" b="1" spc="-50" dirty="0">
                <a:latin typeface="Calibri"/>
                <a:cs typeface="Calibri"/>
              </a:rPr>
              <a:t> a </a:t>
            </a:r>
            <a:r>
              <a:rPr sz="1600" b="1" dirty="0">
                <a:latin typeface="Calibri"/>
                <a:cs typeface="Calibri"/>
              </a:rPr>
              <a:t>Diploma</a:t>
            </a:r>
            <a:r>
              <a:rPr sz="1600" b="1" spc="-35" dirty="0">
                <a:latin typeface="Calibri"/>
                <a:cs typeface="Calibri"/>
              </a:rPr>
              <a:t> </a:t>
            </a:r>
            <a:r>
              <a:rPr sz="1600" b="1" dirty="0">
                <a:latin typeface="Calibri"/>
                <a:cs typeface="Calibri"/>
              </a:rPr>
              <a:t>in</a:t>
            </a:r>
            <a:r>
              <a:rPr sz="1600" b="1" spc="-35" dirty="0">
                <a:latin typeface="Calibri"/>
                <a:cs typeface="Calibri"/>
              </a:rPr>
              <a:t> </a:t>
            </a:r>
            <a:r>
              <a:rPr sz="1600" b="1" dirty="0">
                <a:latin typeface="Calibri"/>
                <a:cs typeface="Calibri"/>
              </a:rPr>
              <a:t>sales</a:t>
            </a:r>
            <a:r>
              <a:rPr sz="1600" b="1" spc="-40" dirty="0">
                <a:latin typeface="Calibri"/>
                <a:cs typeface="Calibri"/>
              </a:rPr>
              <a:t> </a:t>
            </a:r>
            <a:r>
              <a:rPr sz="1600" b="1" spc="-10" dirty="0">
                <a:latin typeface="Calibri"/>
                <a:cs typeface="Calibri"/>
              </a:rPr>
              <a:t>Marketing</a:t>
            </a:r>
            <a:r>
              <a:rPr sz="1600" b="1" spc="-15" dirty="0">
                <a:latin typeface="Calibri"/>
                <a:cs typeface="Calibri"/>
              </a:rPr>
              <a:t> </a:t>
            </a:r>
            <a:r>
              <a:rPr sz="1600" b="1" dirty="0">
                <a:latin typeface="Calibri"/>
                <a:cs typeface="Calibri"/>
              </a:rPr>
              <a:t>and</a:t>
            </a:r>
            <a:r>
              <a:rPr sz="1600" b="1" spc="-25" dirty="0">
                <a:latin typeface="Calibri"/>
                <a:cs typeface="Calibri"/>
              </a:rPr>
              <a:t> </a:t>
            </a:r>
            <a:r>
              <a:rPr sz="1600" b="1" spc="-10" dirty="0">
                <a:latin typeface="Calibri"/>
                <a:cs typeface="Calibri"/>
              </a:rPr>
              <a:t>Management.</a:t>
            </a:r>
            <a:endParaRPr sz="1600">
              <a:latin typeface="Calibri"/>
              <a:cs typeface="Calibri"/>
            </a:endParaRPr>
          </a:p>
          <a:p>
            <a:pPr marL="12700" marR="78740">
              <a:lnSpc>
                <a:spcPct val="100000"/>
              </a:lnSpc>
              <a:spcBef>
                <a:spcPts val="1925"/>
              </a:spcBef>
            </a:pPr>
            <a:r>
              <a:rPr sz="1600" b="1" dirty="0">
                <a:latin typeface="Calibri"/>
                <a:cs typeface="Calibri"/>
              </a:rPr>
              <a:t>He</a:t>
            </a:r>
            <a:r>
              <a:rPr sz="1600" b="1" spc="-35" dirty="0">
                <a:latin typeface="Calibri"/>
                <a:cs typeface="Calibri"/>
              </a:rPr>
              <a:t> </a:t>
            </a:r>
            <a:r>
              <a:rPr sz="1600" b="1" dirty="0">
                <a:latin typeface="Calibri"/>
                <a:cs typeface="Calibri"/>
              </a:rPr>
              <a:t>is</a:t>
            </a:r>
            <a:r>
              <a:rPr sz="1600" b="1" spc="-30" dirty="0">
                <a:latin typeface="Calibri"/>
                <a:cs typeface="Calibri"/>
              </a:rPr>
              <a:t> </a:t>
            </a:r>
            <a:r>
              <a:rPr sz="1600" b="1" dirty="0">
                <a:latin typeface="Calibri"/>
                <a:cs typeface="Calibri"/>
              </a:rPr>
              <a:t>an</a:t>
            </a:r>
            <a:r>
              <a:rPr sz="1600" b="1" spc="-20" dirty="0">
                <a:latin typeface="Calibri"/>
                <a:cs typeface="Calibri"/>
              </a:rPr>
              <a:t> </a:t>
            </a:r>
            <a:r>
              <a:rPr sz="1600" b="1" spc="-10" dirty="0">
                <a:latin typeface="Calibri"/>
                <a:cs typeface="Calibri"/>
              </a:rPr>
              <a:t>Associate</a:t>
            </a:r>
            <a:r>
              <a:rPr sz="1600" b="1" spc="-40" dirty="0">
                <a:latin typeface="Calibri"/>
                <a:cs typeface="Calibri"/>
              </a:rPr>
              <a:t> </a:t>
            </a:r>
            <a:r>
              <a:rPr sz="1600" b="1" dirty="0">
                <a:latin typeface="Calibri"/>
                <a:cs typeface="Calibri"/>
              </a:rPr>
              <a:t>member</a:t>
            </a:r>
            <a:r>
              <a:rPr sz="1600" b="1" spc="-15" dirty="0">
                <a:latin typeface="Calibri"/>
                <a:cs typeface="Calibri"/>
              </a:rPr>
              <a:t> </a:t>
            </a:r>
            <a:r>
              <a:rPr sz="1600" b="1" dirty="0">
                <a:latin typeface="Calibri"/>
                <a:cs typeface="Calibri"/>
              </a:rPr>
              <a:t>of</a:t>
            </a:r>
            <a:r>
              <a:rPr sz="1600" b="1" spc="-20" dirty="0">
                <a:latin typeface="Calibri"/>
                <a:cs typeface="Calibri"/>
              </a:rPr>
              <a:t> </a:t>
            </a:r>
            <a:r>
              <a:rPr sz="1600" b="1" dirty="0">
                <a:latin typeface="Calibri"/>
                <a:cs typeface="Calibri"/>
              </a:rPr>
              <a:t>Nigerian</a:t>
            </a:r>
            <a:r>
              <a:rPr sz="1600" b="1" spc="-45" dirty="0">
                <a:latin typeface="Calibri"/>
                <a:cs typeface="Calibri"/>
              </a:rPr>
              <a:t> </a:t>
            </a:r>
            <a:r>
              <a:rPr sz="1600" b="1" dirty="0">
                <a:latin typeface="Calibri"/>
                <a:cs typeface="Calibri"/>
              </a:rPr>
              <a:t>Institute</a:t>
            </a:r>
            <a:r>
              <a:rPr sz="1600" b="1" spc="-20" dirty="0">
                <a:latin typeface="Calibri"/>
                <a:cs typeface="Calibri"/>
              </a:rPr>
              <a:t> </a:t>
            </a:r>
            <a:r>
              <a:rPr sz="1600" b="1" dirty="0">
                <a:latin typeface="Calibri"/>
                <a:cs typeface="Calibri"/>
              </a:rPr>
              <a:t>of</a:t>
            </a:r>
            <a:r>
              <a:rPr sz="1600" b="1" spc="-25" dirty="0">
                <a:latin typeface="Calibri"/>
                <a:cs typeface="Calibri"/>
              </a:rPr>
              <a:t> </a:t>
            </a:r>
            <a:r>
              <a:rPr sz="1600" b="1" spc="-10" dirty="0">
                <a:latin typeface="Calibri"/>
                <a:cs typeface="Calibri"/>
              </a:rPr>
              <a:t>Public </a:t>
            </a:r>
            <a:r>
              <a:rPr sz="1600" b="1" dirty="0">
                <a:latin typeface="Calibri"/>
                <a:cs typeface="Calibri"/>
              </a:rPr>
              <a:t>Relations</a:t>
            </a:r>
            <a:r>
              <a:rPr sz="1600" b="1" spc="-50" dirty="0">
                <a:latin typeface="Calibri"/>
                <a:cs typeface="Calibri"/>
              </a:rPr>
              <a:t> </a:t>
            </a:r>
            <a:r>
              <a:rPr sz="1600" b="1" dirty="0">
                <a:latin typeface="Calibri"/>
                <a:cs typeface="Calibri"/>
              </a:rPr>
              <a:t>and</a:t>
            </a:r>
            <a:r>
              <a:rPr sz="1600" b="1" spc="-35" dirty="0">
                <a:latin typeface="Calibri"/>
                <a:cs typeface="Calibri"/>
              </a:rPr>
              <a:t> </a:t>
            </a:r>
            <a:r>
              <a:rPr sz="1600" b="1" dirty="0">
                <a:latin typeface="Calibri"/>
                <a:cs typeface="Calibri"/>
              </a:rPr>
              <a:t>also</a:t>
            </a:r>
            <a:r>
              <a:rPr sz="1600" b="1" spc="-45" dirty="0">
                <a:latin typeface="Calibri"/>
                <a:cs typeface="Calibri"/>
              </a:rPr>
              <a:t> </a:t>
            </a:r>
            <a:r>
              <a:rPr sz="1600" b="1" dirty="0">
                <a:latin typeface="Calibri"/>
                <a:cs typeface="Calibri"/>
              </a:rPr>
              <a:t>a</a:t>
            </a:r>
            <a:r>
              <a:rPr sz="1600" b="1" spc="-40" dirty="0">
                <a:latin typeface="Calibri"/>
                <a:cs typeface="Calibri"/>
              </a:rPr>
              <a:t> </a:t>
            </a:r>
            <a:r>
              <a:rPr sz="1600" b="1" dirty="0">
                <a:latin typeface="Calibri"/>
                <a:cs typeface="Calibri"/>
              </a:rPr>
              <a:t>full</a:t>
            </a:r>
            <a:r>
              <a:rPr sz="1600" b="1" spc="-25" dirty="0">
                <a:latin typeface="Calibri"/>
                <a:cs typeface="Calibri"/>
              </a:rPr>
              <a:t> </a:t>
            </a:r>
            <a:r>
              <a:rPr sz="1600" b="1" dirty="0">
                <a:latin typeface="Calibri"/>
                <a:cs typeface="Calibri"/>
              </a:rPr>
              <a:t>member</a:t>
            </a:r>
            <a:r>
              <a:rPr sz="1600" b="1" spc="-20" dirty="0">
                <a:latin typeface="Calibri"/>
                <a:cs typeface="Calibri"/>
              </a:rPr>
              <a:t> </a:t>
            </a:r>
            <a:r>
              <a:rPr sz="1600" b="1" dirty="0">
                <a:latin typeface="Calibri"/>
                <a:cs typeface="Calibri"/>
              </a:rPr>
              <a:t>of</a:t>
            </a:r>
            <a:r>
              <a:rPr sz="1600" b="1" spc="-40" dirty="0">
                <a:latin typeface="Calibri"/>
                <a:cs typeface="Calibri"/>
              </a:rPr>
              <a:t> </a:t>
            </a:r>
            <a:r>
              <a:rPr sz="1600" b="1" dirty="0">
                <a:latin typeface="Calibri"/>
                <a:cs typeface="Calibri"/>
              </a:rPr>
              <a:t>APCON</a:t>
            </a:r>
            <a:r>
              <a:rPr sz="1600" b="1" spc="-15" dirty="0">
                <a:latin typeface="Calibri"/>
                <a:cs typeface="Calibri"/>
              </a:rPr>
              <a:t> </a:t>
            </a:r>
            <a:r>
              <a:rPr sz="1600" b="1" dirty="0">
                <a:latin typeface="Calibri"/>
                <a:cs typeface="Calibri"/>
              </a:rPr>
              <a:t>and</a:t>
            </a:r>
            <a:r>
              <a:rPr sz="1600" b="1" spc="-35" dirty="0">
                <a:latin typeface="Calibri"/>
                <a:cs typeface="Calibri"/>
              </a:rPr>
              <a:t> </a:t>
            </a:r>
            <a:r>
              <a:rPr sz="1600" b="1" spc="-20" dirty="0">
                <a:latin typeface="Calibri"/>
                <a:cs typeface="Calibri"/>
              </a:rPr>
              <a:t>OOAN</a:t>
            </a:r>
            <a:endParaRPr sz="1600">
              <a:latin typeface="Calibri"/>
              <a:cs typeface="Calibri"/>
            </a:endParaRPr>
          </a:p>
        </p:txBody>
      </p:sp>
      <p:sp>
        <p:nvSpPr>
          <p:cNvPr id="4" name="object 4"/>
          <p:cNvSpPr txBox="1"/>
          <p:nvPr/>
        </p:nvSpPr>
        <p:spPr>
          <a:xfrm>
            <a:off x="3971925" y="3052698"/>
            <a:ext cx="4980305" cy="1488440"/>
          </a:xfrm>
          <a:prstGeom prst="rect">
            <a:avLst/>
          </a:prstGeom>
        </p:spPr>
        <p:txBody>
          <a:bodyPr vert="horz" wrap="square" lIns="0" tIns="12065" rIns="0" bIns="0" rtlCol="0">
            <a:spAutoFit/>
          </a:bodyPr>
          <a:lstStyle/>
          <a:p>
            <a:pPr marL="12700" marR="5080">
              <a:lnSpc>
                <a:spcPct val="100000"/>
              </a:lnSpc>
              <a:spcBef>
                <a:spcPts val="95"/>
              </a:spcBef>
            </a:pPr>
            <a:r>
              <a:rPr sz="1600" b="1" dirty="0">
                <a:latin typeface="Calibri"/>
                <a:cs typeface="Calibri"/>
              </a:rPr>
              <a:t>After</a:t>
            </a:r>
            <a:r>
              <a:rPr sz="1600" b="1" spc="-40" dirty="0">
                <a:latin typeface="Calibri"/>
                <a:cs typeface="Calibri"/>
              </a:rPr>
              <a:t> </a:t>
            </a:r>
            <a:r>
              <a:rPr sz="1600" b="1" dirty="0">
                <a:latin typeface="Calibri"/>
                <a:cs typeface="Calibri"/>
              </a:rPr>
              <a:t>working</a:t>
            </a:r>
            <a:r>
              <a:rPr sz="1600" b="1" spc="-40" dirty="0">
                <a:latin typeface="Calibri"/>
                <a:cs typeface="Calibri"/>
              </a:rPr>
              <a:t> </a:t>
            </a:r>
            <a:r>
              <a:rPr sz="1600" b="1" dirty="0">
                <a:latin typeface="Calibri"/>
                <a:cs typeface="Calibri"/>
              </a:rPr>
              <a:t>in</a:t>
            </a:r>
            <a:r>
              <a:rPr sz="1600" b="1" spc="-55" dirty="0">
                <a:latin typeface="Calibri"/>
                <a:cs typeface="Calibri"/>
              </a:rPr>
              <a:t> </a:t>
            </a:r>
            <a:r>
              <a:rPr sz="1600" b="1" dirty="0">
                <a:latin typeface="Calibri"/>
                <a:cs typeface="Calibri"/>
              </a:rPr>
              <a:t>various</a:t>
            </a:r>
            <a:r>
              <a:rPr sz="1600" b="1" spc="-35" dirty="0">
                <a:latin typeface="Calibri"/>
                <a:cs typeface="Calibri"/>
              </a:rPr>
              <a:t> </a:t>
            </a:r>
            <a:r>
              <a:rPr sz="1600" b="1" dirty="0">
                <a:latin typeface="Calibri"/>
                <a:cs typeface="Calibri"/>
              </a:rPr>
              <a:t>capacities</a:t>
            </a:r>
            <a:r>
              <a:rPr sz="1600" b="1" spc="-60" dirty="0">
                <a:latin typeface="Calibri"/>
                <a:cs typeface="Calibri"/>
              </a:rPr>
              <a:t> </a:t>
            </a:r>
            <a:r>
              <a:rPr sz="1600" b="1" dirty="0">
                <a:latin typeface="Calibri"/>
                <a:cs typeface="Calibri"/>
              </a:rPr>
              <a:t>in</a:t>
            </a:r>
            <a:r>
              <a:rPr sz="1600" b="1" spc="-45" dirty="0">
                <a:latin typeface="Calibri"/>
                <a:cs typeface="Calibri"/>
              </a:rPr>
              <a:t> </a:t>
            </a:r>
            <a:r>
              <a:rPr sz="1600" b="1" dirty="0">
                <a:latin typeface="Calibri"/>
                <a:cs typeface="Calibri"/>
              </a:rPr>
              <a:t>a</a:t>
            </a:r>
            <a:r>
              <a:rPr sz="1600" b="1" spc="-55" dirty="0">
                <a:latin typeface="Calibri"/>
                <a:cs typeface="Calibri"/>
              </a:rPr>
              <a:t> </a:t>
            </a:r>
            <a:r>
              <a:rPr sz="1600" b="1" dirty="0">
                <a:latin typeface="Calibri"/>
                <a:cs typeface="Calibri"/>
              </a:rPr>
              <a:t>number</a:t>
            </a:r>
            <a:r>
              <a:rPr sz="1600" b="1" spc="-15" dirty="0">
                <a:latin typeface="Calibri"/>
                <a:cs typeface="Calibri"/>
              </a:rPr>
              <a:t> </a:t>
            </a:r>
            <a:r>
              <a:rPr sz="1600" b="1" spc="-25" dirty="0">
                <a:latin typeface="Calibri"/>
                <a:cs typeface="Calibri"/>
              </a:rPr>
              <a:t>of </a:t>
            </a:r>
            <a:r>
              <a:rPr sz="1600" b="1" spc="-10" dirty="0">
                <a:latin typeface="Calibri"/>
                <a:cs typeface="Calibri"/>
              </a:rPr>
              <a:t>organisations,</a:t>
            </a:r>
            <a:r>
              <a:rPr sz="1600" b="1" spc="-25" dirty="0">
                <a:latin typeface="Calibri"/>
                <a:cs typeface="Calibri"/>
              </a:rPr>
              <a:t> </a:t>
            </a:r>
            <a:r>
              <a:rPr sz="1600" b="1" dirty="0">
                <a:latin typeface="Calibri"/>
                <a:cs typeface="Calibri"/>
              </a:rPr>
              <a:t>he</a:t>
            </a:r>
            <a:r>
              <a:rPr sz="1600" b="1" spc="-20" dirty="0">
                <a:latin typeface="Calibri"/>
                <a:cs typeface="Calibri"/>
              </a:rPr>
              <a:t> </a:t>
            </a:r>
            <a:r>
              <a:rPr sz="1600" b="1" spc="-10" dirty="0">
                <a:latin typeface="Calibri"/>
                <a:cs typeface="Calibri"/>
              </a:rPr>
              <a:t>started</a:t>
            </a:r>
            <a:r>
              <a:rPr sz="1600" b="1" spc="-20" dirty="0">
                <a:latin typeface="Calibri"/>
                <a:cs typeface="Calibri"/>
              </a:rPr>
              <a:t> </a:t>
            </a:r>
            <a:r>
              <a:rPr sz="1600" b="1" dirty="0">
                <a:latin typeface="Calibri"/>
                <a:cs typeface="Calibri"/>
              </a:rPr>
              <a:t>Outreach</a:t>
            </a:r>
            <a:r>
              <a:rPr sz="1600" b="1" spc="-10" dirty="0">
                <a:latin typeface="Calibri"/>
                <a:cs typeface="Calibri"/>
              </a:rPr>
              <a:t> International</a:t>
            </a:r>
            <a:r>
              <a:rPr sz="1600" b="1" spc="-15" dirty="0">
                <a:latin typeface="Calibri"/>
                <a:cs typeface="Calibri"/>
              </a:rPr>
              <a:t> </a:t>
            </a:r>
            <a:r>
              <a:rPr sz="1600" b="1" spc="-10" dirty="0">
                <a:latin typeface="Calibri"/>
                <a:cs typeface="Calibri"/>
              </a:rPr>
              <a:t>Media </a:t>
            </a:r>
            <a:r>
              <a:rPr sz="1600" b="1" dirty="0">
                <a:latin typeface="Calibri"/>
                <a:cs typeface="Calibri"/>
              </a:rPr>
              <a:t>Limited</a:t>
            </a:r>
            <a:r>
              <a:rPr sz="1600" b="1" spc="-60" dirty="0">
                <a:latin typeface="Calibri"/>
                <a:cs typeface="Calibri"/>
              </a:rPr>
              <a:t> </a:t>
            </a:r>
            <a:r>
              <a:rPr sz="1600" b="1" dirty="0">
                <a:latin typeface="Calibri"/>
                <a:cs typeface="Calibri"/>
              </a:rPr>
              <a:t>in</a:t>
            </a:r>
            <a:r>
              <a:rPr sz="1600" b="1" spc="-50" dirty="0">
                <a:latin typeface="Calibri"/>
                <a:cs typeface="Calibri"/>
              </a:rPr>
              <a:t> </a:t>
            </a:r>
            <a:r>
              <a:rPr sz="1600" b="1" dirty="0">
                <a:latin typeface="Calibri"/>
                <a:cs typeface="Calibri"/>
              </a:rPr>
              <a:t>2002</a:t>
            </a:r>
            <a:r>
              <a:rPr sz="1600" b="1" spc="-15" dirty="0">
                <a:latin typeface="Calibri"/>
                <a:cs typeface="Calibri"/>
              </a:rPr>
              <a:t> </a:t>
            </a:r>
            <a:r>
              <a:rPr sz="1600" b="1" dirty="0">
                <a:latin typeface="Calibri"/>
                <a:cs typeface="Calibri"/>
              </a:rPr>
              <a:t>as</a:t>
            </a:r>
            <a:r>
              <a:rPr sz="1600" b="1" spc="-45" dirty="0">
                <a:latin typeface="Calibri"/>
                <a:cs typeface="Calibri"/>
              </a:rPr>
              <a:t> </a:t>
            </a:r>
            <a:r>
              <a:rPr sz="1600" b="1" dirty="0">
                <a:latin typeface="Calibri"/>
                <a:cs typeface="Calibri"/>
              </a:rPr>
              <a:t>the</a:t>
            </a:r>
            <a:r>
              <a:rPr sz="1600" b="1" spc="-45" dirty="0">
                <a:latin typeface="Calibri"/>
                <a:cs typeface="Calibri"/>
              </a:rPr>
              <a:t> </a:t>
            </a:r>
            <a:r>
              <a:rPr sz="1600" b="1" dirty="0">
                <a:latin typeface="Calibri"/>
                <a:cs typeface="Calibri"/>
              </a:rPr>
              <a:t>founder</a:t>
            </a:r>
            <a:r>
              <a:rPr sz="1600" b="1" spc="-10" dirty="0">
                <a:latin typeface="Calibri"/>
                <a:cs typeface="Calibri"/>
              </a:rPr>
              <a:t> </a:t>
            </a:r>
            <a:r>
              <a:rPr sz="1600" b="1" dirty="0">
                <a:latin typeface="Calibri"/>
                <a:cs typeface="Calibri"/>
              </a:rPr>
              <a:t>and</a:t>
            </a:r>
            <a:r>
              <a:rPr sz="1600" b="1" spc="-35" dirty="0">
                <a:latin typeface="Calibri"/>
                <a:cs typeface="Calibri"/>
              </a:rPr>
              <a:t> </a:t>
            </a:r>
            <a:r>
              <a:rPr sz="1600" b="1" dirty="0">
                <a:latin typeface="Calibri"/>
                <a:cs typeface="Calibri"/>
              </a:rPr>
              <a:t>pioneer</a:t>
            </a:r>
            <a:r>
              <a:rPr sz="1600" b="1" spc="-40" dirty="0">
                <a:latin typeface="Calibri"/>
                <a:cs typeface="Calibri"/>
              </a:rPr>
              <a:t> </a:t>
            </a:r>
            <a:r>
              <a:rPr sz="1600" b="1" dirty="0">
                <a:latin typeface="Calibri"/>
                <a:cs typeface="Calibri"/>
              </a:rPr>
              <a:t>Chief</a:t>
            </a:r>
            <a:r>
              <a:rPr sz="1600" b="1" spc="-30" dirty="0">
                <a:latin typeface="Calibri"/>
                <a:cs typeface="Calibri"/>
              </a:rPr>
              <a:t> </a:t>
            </a:r>
            <a:r>
              <a:rPr sz="1600" b="1" spc="-10" dirty="0">
                <a:latin typeface="Calibri"/>
                <a:cs typeface="Calibri"/>
              </a:rPr>
              <a:t>Executive </a:t>
            </a:r>
            <a:r>
              <a:rPr sz="1600" b="1" spc="-20" dirty="0">
                <a:latin typeface="Calibri"/>
                <a:cs typeface="Calibri"/>
              </a:rPr>
              <a:t>Officer.</a:t>
            </a:r>
            <a:r>
              <a:rPr sz="1600" b="1" spc="-35" dirty="0">
                <a:latin typeface="Calibri"/>
                <a:cs typeface="Calibri"/>
              </a:rPr>
              <a:t> </a:t>
            </a:r>
            <a:r>
              <a:rPr sz="1600" b="1" dirty="0">
                <a:latin typeface="Calibri"/>
                <a:cs typeface="Calibri"/>
              </a:rPr>
              <a:t>He</a:t>
            </a:r>
            <a:r>
              <a:rPr sz="1600" b="1" spc="-55" dirty="0">
                <a:latin typeface="Calibri"/>
                <a:cs typeface="Calibri"/>
              </a:rPr>
              <a:t> </a:t>
            </a:r>
            <a:r>
              <a:rPr sz="1600" b="1" dirty="0">
                <a:latin typeface="Calibri"/>
                <a:cs typeface="Calibri"/>
              </a:rPr>
              <a:t>has</a:t>
            </a:r>
            <a:r>
              <a:rPr sz="1600" b="1" spc="-45" dirty="0">
                <a:latin typeface="Calibri"/>
                <a:cs typeface="Calibri"/>
              </a:rPr>
              <a:t> </a:t>
            </a:r>
            <a:r>
              <a:rPr sz="1600" b="1" dirty="0">
                <a:latin typeface="Calibri"/>
                <a:cs typeface="Calibri"/>
              </a:rPr>
              <a:t>nurtured</a:t>
            </a:r>
            <a:r>
              <a:rPr sz="1600" b="1" spc="-10" dirty="0">
                <a:latin typeface="Calibri"/>
                <a:cs typeface="Calibri"/>
              </a:rPr>
              <a:t> </a:t>
            </a:r>
            <a:r>
              <a:rPr sz="1600" b="1" dirty="0">
                <a:latin typeface="Calibri"/>
                <a:cs typeface="Calibri"/>
              </a:rPr>
              <a:t>the</a:t>
            </a:r>
            <a:r>
              <a:rPr sz="1600" b="1" spc="-55" dirty="0">
                <a:latin typeface="Calibri"/>
                <a:cs typeface="Calibri"/>
              </a:rPr>
              <a:t> </a:t>
            </a:r>
            <a:r>
              <a:rPr sz="1600" b="1" dirty="0">
                <a:latin typeface="Calibri"/>
                <a:cs typeface="Calibri"/>
              </a:rPr>
              <a:t>company</a:t>
            </a:r>
            <a:r>
              <a:rPr sz="1600" b="1" spc="-30" dirty="0">
                <a:latin typeface="Calibri"/>
                <a:cs typeface="Calibri"/>
              </a:rPr>
              <a:t> </a:t>
            </a:r>
            <a:r>
              <a:rPr sz="1600" b="1" dirty="0">
                <a:latin typeface="Calibri"/>
                <a:cs typeface="Calibri"/>
              </a:rPr>
              <a:t>from</a:t>
            </a:r>
            <a:r>
              <a:rPr sz="1600" b="1" spc="-35" dirty="0">
                <a:latin typeface="Calibri"/>
                <a:cs typeface="Calibri"/>
              </a:rPr>
              <a:t> </a:t>
            </a:r>
            <a:r>
              <a:rPr sz="1600" b="1" dirty="0">
                <a:latin typeface="Calibri"/>
                <a:cs typeface="Calibri"/>
              </a:rPr>
              <a:t>then</a:t>
            </a:r>
            <a:r>
              <a:rPr sz="1600" b="1" spc="-40" dirty="0">
                <a:latin typeface="Calibri"/>
                <a:cs typeface="Calibri"/>
              </a:rPr>
              <a:t> </a:t>
            </a:r>
            <a:r>
              <a:rPr sz="1600" b="1" dirty="0">
                <a:latin typeface="Calibri"/>
                <a:cs typeface="Calibri"/>
              </a:rPr>
              <a:t>to</a:t>
            </a:r>
            <a:r>
              <a:rPr sz="1600" b="1" spc="-60" dirty="0">
                <a:latin typeface="Calibri"/>
                <a:cs typeface="Calibri"/>
              </a:rPr>
              <a:t> </a:t>
            </a:r>
            <a:r>
              <a:rPr sz="1600" b="1" spc="-25" dirty="0">
                <a:latin typeface="Calibri"/>
                <a:cs typeface="Calibri"/>
              </a:rPr>
              <a:t>the </a:t>
            </a:r>
            <a:r>
              <a:rPr sz="1600" b="1" dirty="0">
                <a:latin typeface="Calibri"/>
                <a:cs typeface="Calibri"/>
              </a:rPr>
              <a:t>enviable</a:t>
            </a:r>
            <a:r>
              <a:rPr sz="1600" b="1" spc="-40" dirty="0">
                <a:latin typeface="Calibri"/>
                <a:cs typeface="Calibri"/>
              </a:rPr>
              <a:t> </a:t>
            </a:r>
            <a:r>
              <a:rPr sz="1600" b="1" dirty="0">
                <a:latin typeface="Calibri"/>
                <a:cs typeface="Calibri"/>
              </a:rPr>
              <a:t>position</a:t>
            </a:r>
            <a:r>
              <a:rPr sz="1600" b="1" spc="-40" dirty="0">
                <a:latin typeface="Calibri"/>
                <a:cs typeface="Calibri"/>
              </a:rPr>
              <a:t> </a:t>
            </a:r>
            <a:r>
              <a:rPr sz="1600" b="1" dirty="0">
                <a:latin typeface="Calibri"/>
                <a:cs typeface="Calibri"/>
              </a:rPr>
              <a:t>it</a:t>
            </a:r>
            <a:r>
              <a:rPr sz="1600" b="1" spc="-35" dirty="0">
                <a:latin typeface="Calibri"/>
                <a:cs typeface="Calibri"/>
              </a:rPr>
              <a:t> </a:t>
            </a:r>
            <a:r>
              <a:rPr sz="1600" b="1" spc="-10" dirty="0">
                <a:latin typeface="Calibri"/>
                <a:cs typeface="Calibri"/>
              </a:rPr>
              <a:t>currently</a:t>
            </a:r>
            <a:r>
              <a:rPr sz="1600" b="1" spc="-15" dirty="0">
                <a:latin typeface="Calibri"/>
                <a:cs typeface="Calibri"/>
              </a:rPr>
              <a:t> </a:t>
            </a:r>
            <a:r>
              <a:rPr sz="1600" b="1" dirty="0">
                <a:latin typeface="Calibri"/>
                <a:cs typeface="Calibri"/>
              </a:rPr>
              <a:t>occupies</a:t>
            </a:r>
            <a:r>
              <a:rPr sz="1600" b="1" spc="-15" dirty="0">
                <a:latin typeface="Calibri"/>
                <a:cs typeface="Calibri"/>
              </a:rPr>
              <a:t> </a:t>
            </a:r>
            <a:r>
              <a:rPr sz="1600" b="1" dirty="0">
                <a:latin typeface="Calibri"/>
                <a:cs typeface="Calibri"/>
              </a:rPr>
              <a:t>in</a:t>
            </a:r>
            <a:r>
              <a:rPr sz="1600" b="1" spc="-35" dirty="0">
                <a:latin typeface="Calibri"/>
                <a:cs typeface="Calibri"/>
              </a:rPr>
              <a:t> </a:t>
            </a:r>
            <a:r>
              <a:rPr sz="1600" b="1" dirty="0">
                <a:latin typeface="Calibri"/>
                <a:cs typeface="Calibri"/>
              </a:rPr>
              <a:t>the</a:t>
            </a:r>
            <a:r>
              <a:rPr sz="1600" b="1" spc="-30" dirty="0">
                <a:latin typeface="Calibri"/>
                <a:cs typeface="Calibri"/>
              </a:rPr>
              <a:t> </a:t>
            </a:r>
            <a:r>
              <a:rPr sz="1600" b="1" spc="-10" dirty="0">
                <a:latin typeface="Calibri"/>
                <a:cs typeface="Calibri"/>
              </a:rPr>
              <a:t>advertising landscape.</a:t>
            </a:r>
            <a:endParaRPr sz="1600">
              <a:latin typeface="Calibri"/>
              <a:cs typeface="Calibri"/>
            </a:endParaRPr>
          </a:p>
        </p:txBody>
      </p:sp>
      <p:sp>
        <p:nvSpPr>
          <p:cNvPr id="5" name="object 5"/>
          <p:cNvSpPr txBox="1"/>
          <p:nvPr/>
        </p:nvSpPr>
        <p:spPr>
          <a:xfrm>
            <a:off x="3971925" y="4759833"/>
            <a:ext cx="4723765" cy="756920"/>
          </a:xfrm>
          <a:prstGeom prst="rect">
            <a:avLst/>
          </a:prstGeom>
        </p:spPr>
        <p:txBody>
          <a:bodyPr vert="horz" wrap="square" lIns="0" tIns="12065" rIns="0" bIns="0" rtlCol="0">
            <a:spAutoFit/>
          </a:bodyPr>
          <a:lstStyle/>
          <a:p>
            <a:pPr marL="12700" marR="5080">
              <a:lnSpc>
                <a:spcPct val="100000"/>
              </a:lnSpc>
              <a:spcBef>
                <a:spcPts val="95"/>
              </a:spcBef>
            </a:pPr>
            <a:r>
              <a:rPr sz="1600" b="1" spc="-45" dirty="0">
                <a:latin typeface="Calibri"/>
                <a:cs typeface="Calibri"/>
              </a:rPr>
              <a:t>Mr.</a:t>
            </a:r>
            <a:r>
              <a:rPr sz="1600" b="1" spc="-30" dirty="0">
                <a:latin typeface="Calibri"/>
                <a:cs typeface="Calibri"/>
              </a:rPr>
              <a:t> </a:t>
            </a:r>
            <a:r>
              <a:rPr sz="1600" b="1" dirty="0">
                <a:latin typeface="Calibri"/>
                <a:cs typeface="Calibri"/>
              </a:rPr>
              <a:t>Orife</a:t>
            </a:r>
            <a:r>
              <a:rPr sz="1600" b="1" spc="-20" dirty="0">
                <a:latin typeface="Calibri"/>
                <a:cs typeface="Calibri"/>
              </a:rPr>
              <a:t> </a:t>
            </a:r>
            <a:r>
              <a:rPr sz="1600" b="1" dirty="0">
                <a:latin typeface="Calibri"/>
                <a:cs typeface="Calibri"/>
              </a:rPr>
              <a:t>is</a:t>
            </a:r>
            <a:r>
              <a:rPr sz="1600" b="1" spc="-50" dirty="0">
                <a:latin typeface="Calibri"/>
                <a:cs typeface="Calibri"/>
              </a:rPr>
              <a:t> </a:t>
            </a:r>
            <a:r>
              <a:rPr sz="1600" b="1" dirty="0">
                <a:latin typeface="Calibri"/>
                <a:cs typeface="Calibri"/>
              </a:rPr>
              <a:t>an</a:t>
            </a:r>
            <a:r>
              <a:rPr sz="1600" b="1" spc="-35" dirty="0">
                <a:latin typeface="Calibri"/>
                <a:cs typeface="Calibri"/>
              </a:rPr>
              <a:t> </a:t>
            </a:r>
            <a:r>
              <a:rPr sz="1600" b="1" dirty="0">
                <a:latin typeface="Calibri"/>
                <a:cs typeface="Calibri"/>
              </a:rPr>
              <a:t>astute</a:t>
            </a:r>
            <a:r>
              <a:rPr sz="1600" b="1" spc="-40" dirty="0">
                <a:latin typeface="Calibri"/>
                <a:cs typeface="Calibri"/>
              </a:rPr>
              <a:t> </a:t>
            </a:r>
            <a:r>
              <a:rPr sz="1600" b="1" dirty="0">
                <a:latin typeface="Calibri"/>
                <a:cs typeface="Calibri"/>
              </a:rPr>
              <a:t>business</a:t>
            </a:r>
            <a:r>
              <a:rPr sz="1600" b="1" spc="-25" dirty="0">
                <a:latin typeface="Calibri"/>
                <a:cs typeface="Calibri"/>
              </a:rPr>
              <a:t> </a:t>
            </a:r>
            <a:r>
              <a:rPr sz="1600" b="1" spc="-10" dirty="0">
                <a:latin typeface="Calibri"/>
                <a:cs typeface="Calibri"/>
              </a:rPr>
              <a:t>executive</a:t>
            </a:r>
            <a:r>
              <a:rPr sz="1600" b="1" spc="-40" dirty="0">
                <a:latin typeface="Calibri"/>
                <a:cs typeface="Calibri"/>
              </a:rPr>
              <a:t> </a:t>
            </a:r>
            <a:r>
              <a:rPr sz="1600" b="1" dirty="0">
                <a:latin typeface="Calibri"/>
                <a:cs typeface="Calibri"/>
              </a:rPr>
              <a:t>with</a:t>
            </a:r>
            <a:r>
              <a:rPr sz="1600" b="1" spc="-40" dirty="0">
                <a:latin typeface="Calibri"/>
                <a:cs typeface="Calibri"/>
              </a:rPr>
              <a:t> </a:t>
            </a:r>
            <a:r>
              <a:rPr sz="1600" b="1" spc="-10" dirty="0">
                <a:latin typeface="Calibri"/>
                <a:cs typeface="Calibri"/>
              </a:rPr>
              <a:t>interest</a:t>
            </a:r>
            <a:r>
              <a:rPr sz="1600" b="1" spc="-40" dirty="0">
                <a:latin typeface="Calibri"/>
                <a:cs typeface="Calibri"/>
              </a:rPr>
              <a:t> </a:t>
            </a:r>
            <a:r>
              <a:rPr sz="1600" b="1" spc="-25" dirty="0">
                <a:latin typeface="Calibri"/>
                <a:cs typeface="Calibri"/>
              </a:rPr>
              <a:t>in </a:t>
            </a:r>
            <a:r>
              <a:rPr sz="1600" b="1" spc="-10" dirty="0">
                <a:latin typeface="Calibri"/>
                <a:cs typeface="Calibri"/>
              </a:rPr>
              <a:t>Advertising, </a:t>
            </a:r>
            <a:r>
              <a:rPr sz="1600" b="1" spc="-20" dirty="0">
                <a:latin typeface="Calibri"/>
                <a:cs typeface="Calibri"/>
              </a:rPr>
              <a:t>Agro-</a:t>
            </a:r>
            <a:r>
              <a:rPr sz="1600" b="1" spc="-10" dirty="0">
                <a:latin typeface="Calibri"/>
                <a:cs typeface="Calibri"/>
              </a:rPr>
              <a:t>industry,</a:t>
            </a:r>
            <a:r>
              <a:rPr sz="1600" b="1" spc="20" dirty="0">
                <a:latin typeface="Calibri"/>
                <a:cs typeface="Calibri"/>
              </a:rPr>
              <a:t> </a:t>
            </a:r>
            <a:r>
              <a:rPr sz="1600" b="1" dirty="0">
                <a:latin typeface="Calibri"/>
                <a:cs typeface="Calibri"/>
              </a:rPr>
              <a:t>Oil</a:t>
            </a:r>
            <a:r>
              <a:rPr sz="1600" b="1" spc="-30" dirty="0">
                <a:latin typeface="Calibri"/>
                <a:cs typeface="Calibri"/>
              </a:rPr>
              <a:t> </a:t>
            </a:r>
            <a:r>
              <a:rPr sz="1600" b="1" dirty="0">
                <a:latin typeface="Calibri"/>
                <a:cs typeface="Calibri"/>
              </a:rPr>
              <a:t>and</a:t>
            </a:r>
            <a:r>
              <a:rPr sz="1600" b="1" spc="-10" dirty="0">
                <a:latin typeface="Calibri"/>
                <a:cs typeface="Calibri"/>
              </a:rPr>
              <a:t> </a:t>
            </a:r>
            <a:r>
              <a:rPr sz="1600" b="1" dirty="0">
                <a:latin typeface="Calibri"/>
                <a:cs typeface="Calibri"/>
              </a:rPr>
              <a:t>Gas,</a:t>
            </a:r>
            <a:r>
              <a:rPr sz="1600" b="1" spc="-25" dirty="0">
                <a:latin typeface="Calibri"/>
                <a:cs typeface="Calibri"/>
              </a:rPr>
              <a:t> </a:t>
            </a:r>
            <a:r>
              <a:rPr sz="1600" b="1" dirty="0">
                <a:latin typeface="Calibri"/>
                <a:cs typeface="Calibri"/>
              </a:rPr>
              <a:t>Banking,</a:t>
            </a:r>
            <a:r>
              <a:rPr sz="1600" b="1" spc="-15" dirty="0">
                <a:latin typeface="Calibri"/>
                <a:cs typeface="Calibri"/>
              </a:rPr>
              <a:t> </a:t>
            </a:r>
            <a:r>
              <a:rPr sz="1600" b="1" spc="-20" dirty="0">
                <a:latin typeface="Calibri"/>
                <a:cs typeface="Calibri"/>
              </a:rPr>
              <a:t>Real </a:t>
            </a:r>
            <a:r>
              <a:rPr sz="1600" b="1" dirty="0">
                <a:latin typeface="Calibri"/>
                <a:cs typeface="Calibri"/>
              </a:rPr>
              <a:t>Estate,</a:t>
            </a:r>
            <a:r>
              <a:rPr sz="1600" b="1" spc="-15" dirty="0">
                <a:latin typeface="Calibri"/>
                <a:cs typeface="Calibri"/>
              </a:rPr>
              <a:t> </a:t>
            </a:r>
            <a:r>
              <a:rPr sz="1600" b="1" spc="-20" dirty="0">
                <a:latin typeface="Calibri"/>
                <a:cs typeface="Calibri"/>
              </a:rPr>
              <a:t>Telecommunications,</a:t>
            </a:r>
            <a:r>
              <a:rPr sz="1600" b="1" spc="10" dirty="0">
                <a:latin typeface="Calibri"/>
                <a:cs typeface="Calibri"/>
              </a:rPr>
              <a:t> </a:t>
            </a:r>
            <a:r>
              <a:rPr sz="1600" b="1" spc="-20" dirty="0">
                <a:latin typeface="Calibri"/>
                <a:cs typeface="Calibri"/>
              </a:rPr>
              <a:t>etc.</a:t>
            </a:r>
            <a:endParaRPr sz="1600">
              <a:latin typeface="Calibri"/>
              <a:cs typeface="Calibri"/>
            </a:endParaRPr>
          </a:p>
        </p:txBody>
      </p:sp>
      <p:sp>
        <p:nvSpPr>
          <p:cNvPr id="6" name="object 6"/>
          <p:cNvSpPr txBox="1"/>
          <p:nvPr/>
        </p:nvSpPr>
        <p:spPr>
          <a:xfrm>
            <a:off x="534416" y="4236846"/>
            <a:ext cx="2326005" cy="665480"/>
          </a:xfrm>
          <a:prstGeom prst="rect">
            <a:avLst/>
          </a:prstGeom>
        </p:spPr>
        <p:txBody>
          <a:bodyPr vert="horz" wrap="square" lIns="0" tIns="12700" rIns="0" bIns="0" rtlCol="0">
            <a:spAutoFit/>
          </a:bodyPr>
          <a:lstStyle/>
          <a:p>
            <a:pPr marL="314325" marR="5080" indent="-302260">
              <a:lnSpc>
                <a:spcPct val="100000"/>
              </a:lnSpc>
              <a:spcBef>
                <a:spcPts val="100"/>
              </a:spcBef>
            </a:pPr>
            <a:r>
              <a:rPr sz="2100" b="1" dirty="0">
                <a:solidFill>
                  <a:srgbClr val="DA241D"/>
                </a:solidFill>
                <a:latin typeface="Calibri"/>
                <a:cs typeface="Calibri"/>
              </a:rPr>
              <a:t>Late</a:t>
            </a:r>
            <a:r>
              <a:rPr sz="2100" b="1" spc="-75" dirty="0">
                <a:solidFill>
                  <a:srgbClr val="DA241D"/>
                </a:solidFill>
                <a:latin typeface="Calibri"/>
                <a:cs typeface="Calibri"/>
              </a:rPr>
              <a:t> </a:t>
            </a:r>
            <a:r>
              <a:rPr sz="2100" b="1" spc="-50" dirty="0">
                <a:solidFill>
                  <a:srgbClr val="DA241D"/>
                </a:solidFill>
                <a:latin typeface="Calibri"/>
                <a:cs typeface="Calibri"/>
              </a:rPr>
              <a:t>Mr.</a:t>
            </a:r>
            <a:r>
              <a:rPr sz="2100" b="1" spc="-65" dirty="0">
                <a:solidFill>
                  <a:srgbClr val="DA241D"/>
                </a:solidFill>
                <a:latin typeface="Calibri"/>
                <a:cs typeface="Calibri"/>
              </a:rPr>
              <a:t> </a:t>
            </a:r>
            <a:r>
              <a:rPr sz="2100" b="1" dirty="0">
                <a:solidFill>
                  <a:srgbClr val="DA241D"/>
                </a:solidFill>
                <a:latin typeface="Calibri"/>
                <a:cs typeface="Calibri"/>
              </a:rPr>
              <a:t>Moses</a:t>
            </a:r>
            <a:r>
              <a:rPr sz="2100" b="1" spc="-65" dirty="0">
                <a:solidFill>
                  <a:srgbClr val="DA241D"/>
                </a:solidFill>
                <a:latin typeface="Calibri"/>
                <a:cs typeface="Calibri"/>
              </a:rPr>
              <a:t> </a:t>
            </a:r>
            <a:r>
              <a:rPr sz="2100" b="1" spc="-10" dirty="0">
                <a:solidFill>
                  <a:srgbClr val="DA241D"/>
                </a:solidFill>
                <a:latin typeface="Calibri"/>
                <a:cs typeface="Calibri"/>
              </a:rPr>
              <a:t>Orife FOUNDER</a:t>
            </a:r>
            <a:endParaRPr sz="2100">
              <a:latin typeface="Calibri"/>
              <a:cs typeface="Calibri"/>
            </a:endParaRPr>
          </a:p>
        </p:txBody>
      </p:sp>
      <p:pic>
        <p:nvPicPr>
          <p:cNvPr id="7" name="object 7"/>
          <p:cNvPicPr/>
          <p:nvPr/>
        </p:nvPicPr>
        <p:blipFill>
          <a:blip r:embed="rId2" cstate="print"/>
          <a:stretch>
            <a:fillRect/>
          </a:stretch>
        </p:blipFill>
        <p:spPr>
          <a:xfrm>
            <a:off x="455676" y="918972"/>
            <a:ext cx="3311652" cy="3086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51505" y="112521"/>
            <a:ext cx="2794000" cy="696595"/>
          </a:xfrm>
          <a:prstGeom prst="rect">
            <a:avLst/>
          </a:prstGeom>
        </p:spPr>
        <p:txBody>
          <a:bodyPr vert="horz" wrap="square" lIns="0" tIns="12700" rIns="0" bIns="0" rtlCol="0">
            <a:spAutoFit/>
          </a:bodyPr>
          <a:lstStyle/>
          <a:p>
            <a:pPr marL="12700">
              <a:lnSpc>
                <a:spcPct val="100000"/>
              </a:lnSpc>
              <a:spcBef>
                <a:spcPts val="100"/>
              </a:spcBef>
            </a:pPr>
            <a:r>
              <a:rPr sz="4400" b="1" spc="-10" dirty="0">
                <a:solidFill>
                  <a:srgbClr val="DA241D"/>
                </a:solidFill>
                <a:latin typeface="Calibri"/>
                <a:cs typeface="Calibri"/>
              </a:rPr>
              <a:t>PERSONNEL</a:t>
            </a:r>
            <a:endParaRPr sz="4400" dirty="0">
              <a:latin typeface="Calibri"/>
              <a:cs typeface="Calibri"/>
            </a:endParaRPr>
          </a:p>
        </p:txBody>
      </p:sp>
      <p:sp>
        <p:nvSpPr>
          <p:cNvPr id="5" name="object 5"/>
          <p:cNvSpPr txBox="1"/>
          <p:nvPr/>
        </p:nvSpPr>
        <p:spPr>
          <a:xfrm>
            <a:off x="3528186" y="857758"/>
            <a:ext cx="5022215" cy="482600"/>
          </a:xfrm>
          <a:prstGeom prst="rect">
            <a:avLst/>
          </a:prstGeom>
        </p:spPr>
        <p:txBody>
          <a:bodyPr vert="horz" wrap="square" lIns="0" tIns="12700" rIns="0" bIns="0" rtlCol="0">
            <a:spAutoFit/>
          </a:bodyPr>
          <a:lstStyle/>
          <a:p>
            <a:pPr marL="12700" marR="5080">
              <a:lnSpc>
                <a:spcPct val="100000"/>
              </a:lnSpc>
              <a:spcBef>
                <a:spcPts val="100"/>
              </a:spcBef>
            </a:pPr>
            <a:r>
              <a:rPr sz="1500" spc="-45" dirty="0">
                <a:latin typeface="Calibri"/>
                <a:cs typeface="Calibri"/>
              </a:rPr>
              <a:t>Mr.</a:t>
            </a:r>
            <a:r>
              <a:rPr sz="1500" spc="-20" dirty="0">
                <a:latin typeface="Calibri"/>
                <a:cs typeface="Calibri"/>
              </a:rPr>
              <a:t> </a:t>
            </a:r>
            <a:r>
              <a:rPr sz="1500" spc="-10" dirty="0">
                <a:latin typeface="Calibri"/>
                <a:cs typeface="Calibri"/>
              </a:rPr>
              <a:t>Darlington</a:t>
            </a:r>
            <a:r>
              <a:rPr sz="1500" spc="-55" dirty="0">
                <a:latin typeface="Calibri"/>
                <a:cs typeface="Calibri"/>
              </a:rPr>
              <a:t> </a:t>
            </a:r>
            <a:r>
              <a:rPr sz="1500" dirty="0">
                <a:latin typeface="Calibri"/>
                <a:cs typeface="Calibri"/>
              </a:rPr>
              <a:t>Orife</a:t>
            </a:r>
            <a:r>
              <a:rPr sz="1500" spc="-10" dirty="0">
                <a:latin typeface="Calibri"/>
                <a:cs typeface="Calibri"/>
              </a:rPr>
              <a:t> </a:t>
            </a:r>
            <a:r>
              <a:rPr sz="1500" dirty="0">
                <a:latin typeface="Calibri"/>
                <a:cs typeface="Calibri"/>
              </a:rPr>
              <a:t>is</a:t>
            </a:r>
            <a:r>
              <a:rPr sz="1500" spc="-20" dirty="0">
                <a:latin typeface="Calibri"/>
                <a:cs typeface="Calibri"/>
              </a:rPr>
              <a:t> </a:t>
            </a:r>
            <a:r>
              <a:rPr sz="1500" dirty="0">
                <a:latin typeface="Calibri"/>
                <a:cs typeface="Calibri"/>
              </a:rPr>
              <a:t>a</a:t>
            </a:r>
            <a:r>
              <a:rPr sz="1500" spc="-35" dirty="0">
                <a:latin typeface="Calibri"/>
                <a:cs typeface="Calibri"/>
              </a:rPr>
              <a:t> </a:t>
            </a:r>
            <a:r>
              <a:rPr sz="1500" dirty="0">
                <a:latin typeface="Calibri"/>
                <a:cs typeface="Calibri"/>
              </a:rPr>
              <a:t>visionary</a:t>
            </a:r>
            <a:r>
              <a:rPr sz="1500" spc="-45" dirty="0">
                <a:latin typeface="Calibri"/>
                <a:cs typeface="Calibri"/>
              </a:rPr>
              <a:t> </a:t>
            </a:r>
            <a:r>
              <a:rPr sz="1500" dirty="0">
                <a:latin typeface="Calibri"/>
                <a:cs typeface="Calibri"/>
              </a:rPr>
              <a:t>and</a:t>
            </a:r>
            <a:r>
              <a:rPr sz="1500" spc="-30" dirty="0">
                <a:latin typeface="Calibri"/>
                <a:cs typeface="Calibri"/>
              </a:rPr>
              <a:t> </a:t>
            </a:r>
            <a:r>
              <a:rPr sz="1500" spc="-10" dirty="0">
                <a:latin typeface="Calibri"/>
                <a:cs typeface="Calibri"/>
              </a:rPr>
              <a:t>result-</a:t>
            </a:r>
            <a:r>
              <a:rPr sz="1500" dirty="0">
                <a:latin typeface="Calibri"/>
                <a:cs typeface="Calibri"/>
              </a:rPr>
              <a:t>driven</a:t>
            </a:r>
            <a:r>
              <a:rPr sz="1500" spc="-25" dirty="0">
                <a:latin typeface="Calibri"/>
                <a:cs typeface="Calibri"/>
              </a:rPr>
              <a:t> </a:t>
            </a:r>
            <a:r>
              <a:rPr sz="1500" dirty="0">
                <a:latin typeface="Calibri"/>
                <a:cs typeface="Calibri"/>
              </a:rPr>
              <a:t>leader</a:t>
            </a:r>
            <a:r>
              <a:rPr sz="1500" spc="-20" dirty="0">
                <a:latin typeface="Calibri"/>
                <a:cs typeface="Calibri"/>
              </a:rPr>
              <a:t> </a:t>
            </a:r>
            <a:r>
              <a:rPr sz="1500" dirty="0">
                <a:latin typeface="Calibri"/>
                <a:cs typeface="Calibri"/>
              </a:rPr>
              <a:t>with</a:t>
            </a:r>
            <a:r>
              <a:rPr sz="1500" spc="-15" dirty="0">
                <a:latin typeface="Calibri"/>
                <a:cs typeface="Calibri"/>
              </a:rPr>
              <a:t> </a:t>
            </a:r>
            <a:r>
              <a:rPr sz="1500" spc="-50" dirty="0">
                <a:latin typeface="Calibri"/>
                <a:cs typeface="Calibri"/>
              </a:rPr>
              <a:t>a </a:t>
            </a:r>
            <a:r>
              <a:rPr sz="1500" dirty="0">
                <a:latin typeface="Calibri"/>
                <a:cs typeface="Calibri"/>
              </a:rPr>
              <a:t>solid</a:t>
            </a:r>
            <a:r>
              <a:rPr sz="1500" spc="-5" dirty="0">
                <a:latin typeface="Calibri"/>
                <a:cs typeface="Calibri"/>
              </a:rPr>
              <a:t> </a:t>
            </a:r>
            <a:r>
              <a:rPr sz="1500" dirty="0">
                <a:latin typeface="Calibri"/>
                <a:cs typeface="Calibri"/>
              </a:rPr>
              <a:t>academic</a:t>
            </a:r>
            <a:r>
              <a:rPr sz="1500" spc="-20" dirty="0">
                <a:latin typeface="Calibri"/>
                <a:cs typeface="Calibri"/>
              </a:rPr>
              <a:t> </a:t>
            </a:r>
            <a:r>
              <a:rPr sz="1500" spc="-10" dirty="0">
                <a:latin typeface="Calibri"/>
                <a:cs typeface="Calibri"/>
              </a:rPr>
              <a:t>foundation</a:t>
            </a:r>
            <a:r>
              <a:rPr sz="1500" spc="-30" dirty="0">
                <a:latin typeface="Calibri"/>
                <a:cs typeface="Calibri"/>
              </a:rPr>
              <a:t> </a:t>
            </a:r>
            <a:r>
              <a:rPr sz="1500" dirty="0">
                <a:latin typeface="Calibri"/>
                <a:cs typeface="Calibri"/>
              </a:rPr>
              <a:t>in</a:t>
            </a:r>
            <a:r>
              <a:rPr sz="1500" spc="-5" dirty="0">
                <a:latin typeface="Calibri"/>
                <a:cs typeface="Calibri"/>
              </a:rPr>
              <a:t> </a:t>
            </a:r>
            <a:r>
              <a:rPr sz="1500" spc="-10" dirty="0">
                <a:latin typeface="Calibri"/>
                <a:cs typeface="Calibri"/>
              </a:rPr>
              <a:t>Accounting</a:t>
            </a:r>
            <a:r>
              <a:rPr sz="1500" spc="-35" dirty="0">
                <a:latin typeface="Calibri"/>
                <a:cs typeface="Calibri"/>
              </a:rPr>
              <a:t> </a:t>
            </a:r>
            <a:r>
              <a:rPr sz="1500" dirty="0">
                <a:latin typeface="Calibri"/>
                <a:cs typeface="Calibri"/>
              </a:rPr>
              <a:t>and</a:t>
            </a:r>
            <a:r>
              <a:rPr sz="1500" spc="-30" dirty="0">
                <a:latin typeface="Calibri"/>
                <a:cs typeface="Calibri"/>
              </a:rPr>
              <a:t> </a:t>
            </a:r>
            <a:r>
              <a:rPr sz="1500" spc="-10" dirty="0">
                <a:latin typeface="Calibri"/>
                <a:cs typeface="Calibri"/>
              </a:rPr>
              <a:t>International</a:t>
            </a:r>
            <a:endParaRPr sz="1500">
              <a:latin typeface="Calibri"/>
              <a:cs typeface="Calibri"/>
            </a:endParaRPr>
          </a:p>
        </p:txBody>
      </p:sp>
      <p:sp>
        <p:nvSpPr>
          <p:cNvPr id="6" name="object 6"/>
          <p:cNvSpPr txBox="1"/>
          <p:nvPr/>
        </p:nvSpPr>
        <p:spPr>
          <a:xfrm>
            <a:off x="3528186" y="1269615"/>
            <a:ext cx="5200650" cy="4918710"/>
          </a:xfrm>
          <a:prstGeom prst="rect">
            <a:avLst/>
          </a:prstGeom>
        </p:spPr>
        <p:txBody>
          <a:bodyPr vert="horz" wrap="square" lIns="0" tIns="57785" rIns="0" bIns="0" rtlCol="0">
            <a:spAutoFit/>
          </a:bodyPr>
          <a:lstStyle/>
          <a:p>
            <a:pPr marL="12700">
              <a:lnSpc>
                <a:spcPct val="100000"/>
              </a:lnSpc>
              <a:spcBef>
                <a:spcPts val="455"/>
              </a:spcBef>
            </a:pPr>
            <a:r>
              <a:rPr sz="1500" spc="-10" dirty="0">
                <a:latin typeface="Calibri"/>
                <a:cs typeface="Calibri"/>
              </a:rPr>
              <a:t>Business.</a:t>
            </a:r>
            <a:endParaRPr sz="1500" dirty="0">
              <a:latin typeface="Calibri"/>
              <a:cs typeface="Calibri"/>
            </a:endParaRPr>
          </a:p>
          <a:p>
            <a:pPr marL="12700" marR="79375">
              <a:lnSpc>
                <a:spcPct val="100000"/>
              </a:lnSpc>
              <a:spcBef>
                <a:spcPts val="360"/>
              </a:spcBef>
            </a:pPr>
            <a:r>
              <a:rPr sz="1500" dirty="0">
                <a:latin typeface="Calibri"/>
                <a:cs typeface="Calibri"/>
              </a:rPr>
              <a:t>He</a:t>
            </a:r>
            <a:r>
              <a:rPr sz="1500" spc="-10" dirty="0">
                <a:latin typeface="Calibri"/>
                <a:cs typeface="Calibri"/>
              </a:rPr>
              <a:t> </a:t>
            </a:r>
            <a:r>
              <a:rPr sz="1500" dirty="0">
                <a:latin typeface="Calibri"/>
                <a:cs typeface="Calibri"/>
              </a:rPr>
              <a:t>holds</a:t>
            </a:r>
            <a:r>
              <a:rPr sz="1500" spc="-20" dirty="0">
                <a:latin typeface="Calibri"/>
                <a:cs typeface="Calibri"/>
              </a:rPr>
              <a:t> </a:t>
            </a:r>
            <a:r>
              <a:rPr sz="1500" dirty="0">
                <a:latin typeface="Calibri"/>
                <a:cs typeface="Calibri"/>
              </a:rPr>
              <a:t>a</a:t>
            </a:r>
            <a:r>
              <a:rPr sz="1500" spc="-25" dirty="0">
                <a:latin typeface="Calibri"/>
                <a:cs typeface="Calibri"/>
              </a:rPr>
              <a:t> </a:t>
            </a:r>
            <a:r>
              <a:rPr sz="1500" dirty="0">
                <a:latin typeface="Calibri"/>
                <a:cs typeface="Calibri"/>
              </a:rPr>
              <a:t>B.Sc.</a:t>
            </a:r>
            <a:r>
              <a:rPr sz="1500" spc="-25" dirty="0">
                <a:latin typeface="Calibri"/>
                <a:cs typeface="Calibri"/>
              </a:rPr>
              <a:t> </a:t>
            </a:r>
            <a:r>
              <a:rPr sz="1500" dirty="0">
                <a:latin typeface="Calibri"/>
                <a:cs typeface="Calibri"/>
              </a:rPr>
              <a:t>in</a:t>
            </a:r>
            <a:r>
              <a:rPr sz="1500" spc="-10" dirty="0">
                <a:latin typeface="Calibri"/>
                <a:cs typeface="Calibri"/>
              </a:rPr>
              <a:t> Accounting</a:t>
            </a:r>
            <a:r>
              <a:rPr sz="1500" spc="-40" dirty="0">
                <a:latin typeface="Calibri"/>
                <a:cs typeface="Calibri"/>
              </a:rPr>
              <a:t> </a:t>
            </a:r>
            <a:r>
              <a:rPr sz="1500" dirty="0">
                <a:latin typeface="Calibri"/>
                <a:cs typeface="Calibri"/>
              </a:rPr>
              <a:t>from</a:t>
            </a:r>
            <a:r>
              <a:rPr sz="1500" spc="-10" dirty="0">
                <a:latin typeface="Calibri"/>
                <a:cs typeface="Calibri"/>
              </a:rPr>
              <a:t> </a:t>
            </a:r>
            <a:r>
              <a:rPr sz="1500" dirty="0">
                <a:latin typeface="Calibri"/>
                <a:cs typeface="Calibri"/>
              </a:rPr>
              <a:t>Benson</a:t>
            </a:r>
            <a:r>
              <a:rPr sz="1500" spc="-15" dirty="0">
                <a:latin typeface="Calibri"/>
                <a:cs typeface="Calibri"/>
              </a:rPr>
              <a:t> </a:t>
            </a:r>
            <a:r>
              <a:rPr sz="1500" dirty="0">
                <a:latin typeface="Calibri"/>
                <a:cs typeface="Calibri"/>
              </a:rPr>
              <a:t>Idahosa</a:t>
            </a:r>
            <a:r>
              <a:rPr sz="1500" spc="-45" dirty="0">
                <a:latin typeface="Calibri"/>
                <a:cs typeface="Calibri"/>
              </a:rPr>
              <a:t> </a:t>
            </a:r>
            <a:r>
              <a:rPr sz="1500" spc="-10" dirty="0">
                <a:latin typeface="Calibri"/>
                <a:cs typeface="Calibri"/>
              </a:rPr>
              <a:t>University, </a:t>
            </a:r>
            <a:r>
              <a:rPr sz="1500" dirty="0">
                <a:latin typeface="Calibri"/>
                <a:cs typeface="Calibri"/>
              </a:rPr>
              <a:t>Benin</a:t>
            </a:r>
            <a:r>
              <a:rPr sz="1500" spc="-25" dirty="0">
                <a:latin typeface="Calibri"/>
                <a:cs typeface="Calibri"/>
              </a:rPr>
              <a:t> </a:t>
            </a:r>
            <a:r>
              <a:rPr sz="1500" spc="-20" dirty="0">
                <a:latin typeface="Calibri"/>
                <a:cs typeface="Calibri"/>
              </a:rPr>
              <a:t>City,</a:t>
            </a:r>
            <a:r>
              <a:rPr sz="1500" spc="-50" dirty="0">
                <a:latin typeface="Calibri"/>
                <a:cs typeface="Calibri"/>
              </a:rPr>
              <a:t> </a:t>
            </a:r>
            <a:r>
              <a:rPr sz="1500" dirty="0">
                <a:latin typeface="Calibri"/>
                <a:cs typeface="Calibri"/>
              </a:rPr>
              <a:t>Edo</a:t>
            </a:r>
            <a:r>
              <a:rPr sz="1500" spc="-35" dirty="0">
                <a:latin typeface="Calibri"/>
                <a:cs typeface="Calibri"/>
              </a:rPr>
              <a:t> </a:t>
            </a:r>
            <a:r>
              <a:rPr sz="1500" dirty="0">
                <a:latin typeface="Calibri"/>
                <a:cs typeface="Calibri"/>
              </a:rPr>
              <a:t>State</a:t>
            </a:r>
            <a:r>
              <a:rPr sz="1500" spc="-35" dirty="0">
                <a:latin typeface="Calibri"/>
                <a:cs typeface="Calibri"/>
              </a:rPr>
              <a:t> </a:t>
            </a:r>
            <a:r>
              <a:rPr sz="1500" dirty="0">
                <a:latin typeface="Calibri"/>
                <a:cs typeface="Calibri"/>
              </a:rPr>
              <a:t>(2012),</a:t>
            </a:r>
            <a:r>
              <a:rPr sz="1500" spc="-25" dirty="0">
                <a:latin typeface="Calibri"/>
                <a:cs typeface="Calibri"/>
              </a:rPr>
              <a:t> </a:t>
            </a:r>
            <a:r>
              <a:rPr sz="1500" dirty="0">
                <a:latin typeface="Calibri"/>
                <a:cs typeface="Calibri"/>
              </a:rPr>
              <a:t>and</a:t>
            </a:r>
            <a:r>
              <a:rPr sz="1500" spc="-45" dirty="0">
                <a:latin typeface="Calibri"/>
                <a:cs typeface="Calibri"/>
              </a:rPr>
              <a:t> </a:t>
            </a:r>
            <a:r>
              <a:rPr sz="1500" dirty="0">
                <a:latin typeface="Calibri"/>
                <a:cs typeface="Calibri"/>
              </a:rPr>
              <a:t>an</a:t>
            </a:r>
            <a:r>
              <a:rPr sz="1500" spc="-40" dirty="0">
                <a:latin typeface="Calibri"/>
                <a:cs typeface="Calibri"/>
              </a:rPr>
              <a:t> </a:t>
            </a:r>
            <a:r>
              <a:rPr sz="1500" dirty="0">
                <a:latin typeface="Calibri"/>
                <a:cs typeface="Calibri"/>
              </a:rPr>
              <a:t>MBA</a:t>
            </a:r>
            <a:r>
              <a:rPr sz="1500" spc="-35" dirty="0">
                <a:latin typeface="Calibri"/>
                <a:cs typeface="Calibri"/>
              </a:rPr>
              <a:t> </a:t>
            </a:r>
            <a:r>
              <a:rPr sz="1500" dirty="0">
                <a:latin typeface="Calibri"/>
                <a:cs typeface="Calibri"/>
              </a:rPr>
              <a:t>in</a:t>
            </a:r>
            <a:r>
              <a:rPr sz="1500" spc="-30" dirty="0">
                <a:latin typeface="Calibri"/>
                <a:cs typeface="Calibri"/>
              </a:rPr>
              <a:t> </a:t>
            </a:r>
            <a:r>
              <a:rPr sz="1500" spc="-10" dirty="0">
                <a:latin typeface="Calibri"/>
                <a:cs typeface="Calibri"/>
              </a:rPr>
              <a:t>International</a:t>
            </a:r>
            <a:r>
              <a:rPr sz="1500" spc="-50" dirty="0">
                <a:latin typeface="Calibri"/>
                <a:cs typeface="Calibri"/>
              </a:rPr>
              <a:t> </a:t>
            </a:r>
            <a:r>
              <a:rPr sz="1500" spc="-10" dirty="0">
                <a:latin typeface="Calibri"/>
                <a:cs typeface="Calibri"/>
              </a:rPr>
              <a:t>Business </a:t>
            </a:r>
            <a:r>
              <a:rPr sz="1500" dirty="0">
                <a:latin typeface="Calibri"/>
                <a:cs typeface="Calibri"/>
              </a:rPr>
              <a:t>from</a:t>
            </a:r>
            <a:r>
              <a:rPr sz="1500" spc="-30" dirty="0">
                <a:latin typeface="Calibri"/>
                <a:cs typeface="Calibri"/>
              </a:rPr>
              <a:t> </a:t>
            </a:r>
            <a:r>
              <a:rPr sz="1500" dirty="0">
                <a:latin typeface="Calibri"/>
                <a:cs typeface="Calibri"/>
              </a:rPr>
              <a:t>Birmingham</a:t>
            </a:r>
            <a:r>
              <a:rPr sz="1500" spc="-50" dirty="0">
                <a:latin typeface="Calibri"/>
                <a:cs typeface="Calibri"/>
              </a:rPr>
              <a:t> </a:t>
            </a:r>
            <a:r>
              <a:rPr sz="1500" dirty="0">
                <a:latin typeface="Calibri"/>
                <a:cs typeface="Calibri"/>
              </a:rPr>
              <a:t>City</a:t>
            </a:r>
            <a:r>
              <a:rPr sz="1500" spc="-40" dirty="0">
                <a:latin typeface="Calibri"/>
                <a:cs typeface="Calibri"/>
              </a:rPr>
              <a:t> </a:t>
            </a:r>
            <a:r>
              <a:rPr sz="1500" spc="-20" dirty="0">
                <a:latin typeface="Calibri"/>
                <a:cs typeface="Calibri"/>
              </a:rPr>
              <a:t>University,</a:t>
            </a:r>
            <a:r>
              <a:rPr sz="1500" spc="-45" dirty="0">
                <a:latin typeface="Calibri"/>
                <a:cs typeface="Calibri"/>
              </a:rPr>
              <a:t> </a:t>
            </a:r>
            <a:r>
              <a:rPr sz="1500" dirty="0">
                <a:latin typeface="Calibri"/>
                <a:cs typeface="Calibri"/>
              </a:rPr>
              <a:t>United</a:t>
            </a:r>
            <a:r>
              <a:rPr sz="1500" spc="-30" dirty="0">
                <a:latin typeface="Calibri"/>
                <a:cs typeface="Calibri"/>
              </a:rPr>
              <a:t> </a:t>
            </a:r>
            <a:r>
              <a:rPr sz="1500" dirty="0">
                <a:latin typeface="Calibri"/>
                <a:cs typeface="Calibri"/>
              </a:rPr>
              <a:t>Kingdom</a:t>
            </a:r>
            <a:r>
              <a:rPr sz="1500" spc="-50" dirty="0">
                <a:latin typeface="Calibri"/>
                <a:cs typeface="Calibri"/>
              </a:rPr>
              <a:t> </a:t>
            </a:r>
            <a:r>
              <a:rPr sz="1500" spc="-10" dirty="0">
                <a:latin typeface="Calibri"/>
                <a:cs typeface="Calibri"/>
              </a:rPr>
              <a:t>(2015).</a:t>
            </a:r>
            <a:endParaRPr sz="1500" dirty="0">
              <a:latin typeface="Calibri"/>
              <a:cs typeface="Calibri"/>
            </a:endParaRPr>
          </a:p>
          <a:p>
            <a:pPr marL="12700" marR="36830">
              <a:lnSpc>
                <a:spcPct val="100000"/>
              </a:lnSpc>
              <a:spcBef>
                <a:spcPts val="365"/>
              </a:spcBef>
            </a:pPr>
            <a:r>
              <a:rPr sz="1500" dirty="0">
                <a:latin typeface="Calibri"/>
                <a:cs typeface="Calibri"/>
              </a:rPr>
              <a:t>As</a:t>
            </a:r>
            <a:r>
              <a:rPr sz="1500" spc="-30" dirty="0">
                <a:latin typeface="Calibri"/>
                <a:cs typeface="Calibri"/>
              </a:rPr>
              <a:t> </a:t>
            </a:r>
            <a:r>
              <a:rPr sz="1500" dirty="0">
                <a:latin typeface="Calibri"/>
                <a:cs typeface="Calibri"/>
              </a:rPr>
              <a:t>a</a:t>
            </a:r>
            <a:r>
              <a:rPr sz="1500" spc="-35" dirty="0">
                <a:latin typeface="Calibri"/>
                <a:cs typeface="Calibri"/>
              </a:rPr>
              <a:t> </a:t>
            </a:r>
            <a:r>
              <a:rPr sz="1500" spc="-10" dirty="0">
                <a:latin typeface="Calibri"/>
                <a:cs typeface="Calibri"/>
              </a:rPr>
              <a:t>dedicated</a:t>
            </a:r>
            <a:r>
              <a:rPr sz="1500" spc="-35" dirty="0">
                <a:latin typeface="Calibri"/>
                <a:cs typeface="Calibri"/>
              </a:rPr>
              <a:t> </a:t>
            </a:r>
            <a:r>
              <a:rPr sz="1500" spc="-10" dirty="0">
                <a:latin typeface="Calibri"/>
                <a:cs typeface="Calibri"/>
              </a:rPr>
              <a:t>professional,</a:t>
            </a:r>
            <a:r>
              <a:rPr sz="1500" spc="-40" dirty="0">
                <a:latin typeface="Calibri"/>
                <a:cs typeface="Calibri"/>
              </a:rPr>
              <a:t> </a:t>
            </a:r>
            <a:r>
              <a:rPr sz="1500" spc="-45" dirty="0">
                <a:latin typeface="Calibri"/>
                <a:cs typeface="Calibri"/>
              </a:rPr>
              <a:t>Mr.</a:t>
            </a:r>
            <a:r>
              <a:rPr sz="1500" spc="-20" dirty="0">
                <a:latin typeface="Calibri"/>
                <a:cs typeface="Calibri"/>
              </a:rPr>
              <a:t> </a:t>
            </a:r>
            <a:r>
              <a:rPr sz="1500" dirty="0">
                <a:latin typeface="Calibri"/>
                <a:cs typeface="Calibri"/>
              </a:rPr>
              <a:t>Darlington</a:t>
            </a:r>
            <a:r>
              <a:rPr sz="1500" spc="-25" dirty="0">
                <a:latin typeface="Calibri"/>
                <a:cs typeface="Calibri"/>
              </a:rPr>
              <a:t> </a:t>
            </a:r>
            <a:r>
              <a:rPr sz="1500" dirty="0">
                <a:latin typeface="Calibri"/>
                <a:cs typeface="Calibri"/>
              </a:rPr>
              <a:t>Orife</a:t>
            </a:r>
            <a:r>
              <a:rPr sz="1500" spc="-25" dirty="0">
                <a:latin typeface="Calibri"/>
                <a:cs typeface="Calibri"/>
              </a:rPr>
              <a:t> </a:t>
            </a:r>
            <a:r>
              <a:rPr sz="1500" dirty="0">
                <a:latin typeface="Calibri"/>
                <a:cs typeface="Calibri"/>
              </a:rPr>
              <a:t>is</a:t>
            </a:r>
            <a:r>
              <a:rPr sz="1500" spc="-20" dirty="0">
                <a:latin typeface="Calibri"/>
                <a:cs typeface="Calibri"/>
              </a:rPr>
              <a:t> </a:t>
            </a:r>
            <a:r>
              <a:rPr sz="1500" dirty="0">
                <a:latin typeface="Calibri"/>
                <a:cs typeface="Calibri"/>
              </a:rPr>
              <a:t>an</a:t>
            </a:r>
            <a:r>
              <a:rPr sz="1500" spc="-35" dirty="0">
                <a:latin typeface="Calibri"/>
                <a:cs typeface="Calibri"/>
              </a:rPr>
              <a:t> </a:t>
            </a:r>
            <a:r>
              <a:rPr sz="1500" spc="-10" dirty="0">
                <a:latin typeface="Calibri"/>
                <a:cs typeface="Calibri"/>
              </a:rPr>
              <a:t>Associate </a:t>
            </a:r>
            <a:r>
              <a:rPr sz="1500" dirty="0">
                <a:latin typeface="Calibri"/>
                <a:cs typeface="Calibri"/>
              </a:rPr>
              <a:t>Member</a:t>
            </a:r>
            <a:r>
              <a:rPr sz="1500" spc="-20" dirty="0">
                <a:latin typeface="Calibri"/>
                <a:cs typeface="Calibri"/>
              </a:rPr>
              <a:t> </a:t>
            </a:r>
            <a:r>
              <a:rPr sz="1500" dirty="0">
                <a:latin typeface="Calibri"/>
                <a:cs typeface="Calibri"/>
              </a:rPr>
              <a:t>of</a:t>
            </a:r>
            <a:r>
              <a:rPr sz="1500" spc="-30" dirty="0">
                <a:latin typeface="Calibri"/>
                <a:cs typeface="Calibri"/>
              </a:rPr>
              <a:t> </a:t>
            </a:r>
            <a:r>
              <a:rPr sz="1500" dirty="0">
                <a:latin typeface="Calibri"/>
                <a:cs typeface="Calibri"/>
              </a:rPr>
              <a:t>the</a:t>
            </a:r>
            <a:r>
              <a:rPr sz="1500" spc="-25" dirty="0">
                <a:latin typeface="Calibri"/>
                <a:cs typeface="Calibri"/>
              </a:rPr>
              <a:t> </a:t>
            </a:r>
            <a:r>
              <a:rPr sz="1500" dirty="0">
                <a:latin typeface="Calibri"/>
                <a:cs typeface="Calibri"/>
              </a:rPr>
              <a:t>Advertising</a:t>
            </a:r>
            <a:r>
              <a:rPr sz="1500" spc="-40" dirty="0">
                <a:latin typeface="Calibri"/>
                <a:cs typeface="Calibri"/>
              </a:rPr>
              <a:t> </a:t>
            </a:r>
            <a:r>
              <a:rPr sz="1500" spc="-10" dirty="0">
                <a:latin typeface="Calibri"/>
                <a:cs typeface="Calibri"/>
              </a:rPr>
              <a:t>Regulatory</a:t>
            </a:r>
            <a:r>
              <a:rPr sz="1500" spc="-70" dirty="0">
                <a:latin typeface="Calibri"/>
                <a:cs typeface="Calibri"/>
              </a:rPr>
              <a:t> </a:t>
            </a:r>
            <a:r>
              <a:rPr sz="1500" dirty="0">
                <a:latin typeface="Calibri"/>
                <a:cs typeface="Calibri"/>
              </a:rPr>
              <a:t>Council</a:t>
            </a:r>
            <a:r>
              <a:rPr sz="1500" spc="-35" dirty="0">
                <a:latin typeface="Calibri"/>
                <a:cs typeface="Calibri"/>
              </a:rPr>
              <a:t> </a:t>
            </a:r>
            <a:r>
              <a:rPr sz="1500" dirty="0">
                <a:latin typeface="Calibri"/>
                <a:cs typeface="Calibri"/>
              </a:rPr>
              <a:t>of</a:t>
            </a:r>
            <a:r>
              <a:rPr sz="1500" spc="-30" dirty="0">
                <a:latin typeface="Calibri"/>
                <a:cs typeface="Calibri"/>
              </a:rPr>
              <a:t> </a:t>
            </a:r>
            <a:r>
              <a:rPr sz="1500" dirty="0">
                <a:latin typeface="Calibri"/>
                <a:cs typeface="Calibri"/>
              </a:rPr>
              <a:t>Nigeria</a:t>
            </a:r>
            <a:r>
              <a:rPr sz="1500" spc="-40" dirty="0">
                <a:latin typeface="Calibri"/>
                <a:cs typeface="Calibri"/>
              </a:rPr>
              <a:t> </a:t>
            </a:r>
            <a:r>
              <a:rPr sz="1500" spc="-10" dirty="0">
                <a:latin typeface="Calibri"/>
                <a:cs typeface="Calibri"/>
              </a:rPr>
              <a:t>(ARCON), </a:t>
            </a:r>
            <a:r>
              <a:rPr sz="1500" dirty="0">
                <a:latin typeface="Calibri"/>
                <a:cs typeface="Calibri"/>
              </a:rPr>
              <a:t>the</a:t>
            </a:r>
            <a:r>
              <a:rPr sz="1500" spc="-15" dirty="0">
                <a:latin typeface="Calibri"/>
                <a:cs typeface="Calibri"/>
              </a:rPr>
              <a:t> </a:t>
            </a:r>
            <a:r>
              <a:rPr sz="1500" dirty="0">
                <a:latin typeface="Calibri"/>
                <a:cs typeface="Calibri"/>
              </a:rPr>
              <a:t>Nigerian</a:t>
            </a:r>
            <a:r>
              <a:rPr sz="1500" spc="-25" dirty="0">
                <a:latin typeface="Calibri"/>
                <a:cs typeface="Calibri"/>
              </a:rPr>
              <a:t> </a:t>
            </a:r>
            <a:r>
              <a:rPr sz="1500" spc="-10" dirty="0">
                <a:latin typeface="Calibri"/>
                <a:cs typeface="Calibri"/>
              </a:rPr>
              <a:t>Institute</a:t>
            </a:r>
            <a:r>
              <a:rPr sz="1500" spc="-30" dirty="0">
                <a:latin typeface="Calibri"/>
                <a:cs typeface="Calibri"/>
              </a:rPr>
              <a:t> </a:t>
            </a:r>
            <a:r>
              <a:rPr sz="1500" dirty="0">
                <a:latin typeface="Calibri"/>
                <a:cs typeface="Calibri"/>
              </a:rPr>
              <a:t>of</a:t>
            </a:r>
            <a:r>
              <a:rPr sz="1500" spc="-5" dirty="0">
                <a:latin typeface="Calibri"/>
                <a:cs typeface="Calibri"/>
              </a:rPr>
              <a:t> </a:t>
            </a:r>
            <a:r>
              <a:rPr sz="1500" spc="-10" dirty="0">
                <a:latin typeface="Calibri"/>
                <a:cs typeface="Calibri"/>
              </a:rPr>
              <a:t>Management</a:t>
            </a:r>
            <a:r>
              <a:rPr sz="1500" spc="-30" dirty="0">
                <a:latin typeface="Calibri"/>
                <a:cs typeface="Calibri"/>
              </a:rPr>
              <a:t> </a:t>
            </a:r>
            <a:r>
              <a:rPr sz="1500" dirty="0">
                <a:latin typeface="Calibri"/>
                <a:cs typeface="Calibri"/>
              </a:rPr>
              <a:t>(NIM),</a:t>
            </a:r>
            <a:r>
              <a:rPr sz="1500" spc="-30" dirty="0">
                <a:latin typeface="Calibri"/>
                <a:cs typeface="Calibri"/>
              </a:rPr>
              <a:t> </a:t>
            </a:r>
            <a:r>
              <a:rPr sz="1500" dirty="0">
                <a:latin typeface="Calibri"/>
                <a:cs typeface="Calibri"/>
              </a:rPr>
              <a:t>and</a:t>
            </a:r>
            <a:r>
              <a:rPr sz="1500" spc="-15" dirty="0">
                <a:latin typeface="Calibri"/>
                <a:cs typeface="Calibri"/>
              </a:rPr>
              <a:t> </a:t>
            </a:r>
            <a:r>
              <a:rPr sz="1500" dirty="0">
                <a:latin typeface="Calibri"/>
                <a:cs typeface="Calibri"/>
              </a:rPr>
              <a:t>the</a:t>
            </a:r>
            <a:r>
              <a:rPr sz="1500" spc="-10" dirty="0">
                <a:latin typeface="Calibri"/>
                <a:cs typeface="Calibri"/>
              </a:rPr>
              <a:t> Institute</a:t>
            </a:r>
            <a:r>
              <a:rPr sz="1500" spc="-50" dirty="0">
                <a:latin typeface="Calibri"/>
                <a:cs typeface="Calibri"/>
              </a:rPr>
              <a:t> </a:t>
            </a:r>
            <a:r>
              <a:rPr sz="1500" spc="-25" dirty="0">
                <a:latin typeface="Calibri"/>
                <a:cs typeface="Calibri"/>
              </a:rPr>
              <a:t>of </a:t>
            </a:r>
            <a:r>
              <a:rPr sz="1500" spc="-10" dirty="0">
                <a:latin typeface="Calibri"/>
                <a:cs typeface="Calibri"/>
              </a:rPr>
              <a:t>Strategic</a:t>
            </a:r>
            <a:r>
              <a:rPr sz="1500" dirty="0">
                <a:latin typeface="Calibri"/>
                <a:cs typeface="Calibri"/>
              </a:rPr>
              <a:t> </a:t>
            </a:r>
            <a:r>
              <a:rPr sz="1500" spc="-10" dirty="0">
                <a:latin typeface="Calibri"/>
                <a:cs typeface="Calibri"/>
              </a:rPr>
              <a:t>Management</a:t>
            </a:r>
            <a:r>
              <a:rPr sz="1500" spc="-15" dirty="0">
                <a:latin typeface="Calibri"/>
                <a:cs typeface="Calibri"/>
              </a:rPr>
              <a:t> </a:t>
            </a:r>
            <a:r>
              <a:rPr sz="1500" spc="-10" dirty="0">
                <a:latin typeface="Calibri"/>
                <a:cs typeface="Calibri"/>
              </a:rPr>
              <a:t>(ISM).</a:t>
            </a:r>
            <a:endParaRPr sz="1500" dirty="0">
              <a:latin typeface="Calibri"/>
              <a:cs typeface="Calibri"/>
            </a:endParaRPr>
          </a:p>
          <a:p>
            <a:pPr marL="12700" marR="20955">
              <a:lnSpc>
                <a:spcPct val="100000"/>
              </a:lnSpc>
              <a:spcBef>
                <a:spcPts val="360"/>
              </a:spcBef>
            </a:pPr>
            <a:r>
              <a:rPr sz="1500" dirty="0">
                <a:latin typeface="Calibri"/>
                <a:cs typeface="Calibri"/>
              </a:rPr>
              <a:t>He</a:t>
            </a:r>
            <a:r>
              <a:rPr sz="1500" spc="-20" dirty="0">
                <a:latin typeface="Calibri"/>
                <a:cs typeface="Calibri"/>
              </a:rPr>
              <a:t> </a:t>
            </a:r>
            <a:r>
              <a:rPr sz="1500" dirty="0">
                <a:latin typeface="Calibri"/>
                <a:cs typeface="Calibri"/>
              </a:rPr>
              <a:t>began</a:t>
            </a:r>
            <a:r>
              <a:rPr sz="1500" spc="-50" dirty="0">
                <a:latin typeface="Calibri"/>
                <a:cs typeface="Calibri"/>
              </a:rPr>
              <a:t> </a:t>
            </a:r>
            <a:r>
              <a:rPr sz="1500" dirty="0">
                <a:latin typeface="Calibri"/>
                <a:cs typeface="Calibri"/>
              </a:rPr>
              <a:t>his</a:t>
            </a:r>
            <a:r>
              <a:rPr sz="1500" spc="-20" dirty="0">
                <a:latin typeface="Calibri"/>
                <a:cs typeface="Calibri"/>
              </a:rPr>
              <a:t> </a:t>
            </a:r>
            <a:r>
              <a:rPr sz="1500" dirty="0">
                <a:latin typeface="Calibri"/>
                <a:cs typeface="Calibri"/>
              </a:rPr>
              <a:t>journey</a:t>
            </a:r>
            <a:r>
              <a:rPr sz="1500" spc="-40" dirty="0">
                <a:latin typeface="Calibri"/>
                <a:cs typeface="Calibri"/>
              </a:rPr>
              <a:t> </a:t>
            </a:r>
            <a:r>
              <a:rPr sz="1500" dirty="0">
                <a:latin typeface="Calibri"/>
                <a:cs typeface="Calibri"/>
              </a:rPr>
              <a:t>with</a:t>
            </a:r>
            <a:r>
              <a:rPr sz="1500" spc="-15" dirty="0">
                <a:latin typeface="Calibri"/>
                <a:cs typeface="Calibri"/>
              </a:rPr>
              <a:t> </a:t>
            </a:r>
            <a:r>
              <a:rPr sz="1500" spc="-10" dirty="0">
                <a:latin typeface="Calibri"/>
                <a:cs typeface="Calibri"/>
              </a:rPr>
              <a:t>Outreach</a:t>
            </a:r>
            <a:r>
              <a:rPr sz="1500" spc="-50" dirty="0">
                <a:latin typeface="Calibri"/>
                <a:cs typeface="Calibri"/>
              </a:rPr>
              <a:t> </a:t>
            </a:r>
            <a:r>
              <a:rPr sz="1500" spc="-10" dirty="0">
                <a:latin typeface="Calibri"/>
                <a:cs typeface="Calibri"/>
              </a:rPr>
              <a:t>International</a:t>
            </a:r>
            <a:r>
              <a:rPr sz="1500" spc="-60" dirty="0">
                <a:latin typeface="Calibri"/>
                <a:cs typeface="Calibri"/>
              </a:rPr>
              <a:t> </a:t>
            </a:r>
            <a:r>
              <a:rPr sz="1500" dirty="0">
                <a:latin typeface="Calibri"/>
                <a:cs typeface="Calibri"/>
              </a:rPr>
              <a:t>Media</a:t>
            </a:r>
            <a:r>
              <a:rPr sz="1500" spc="-25" dirty="0">
                <a:latin typeface="Calibri"/>
                <a:cs typeface="Calibri"/>
              </a:rPr>
              <a:t> </a:t>
            </a:r>
            <a:r>
              <a:rPr sz="1500" dirty="0">
                <a:latin typeface="Calibri"/>
                <a:cs typeface="Calibri"/>
              </a:rPr>
              <a:t>Limited</a:t>
            </a:r>
            <a:r>
              <a:rPr sz="1500" spc="-35" dirty="0">
                <a:latin typeface="Calibri"/>
                <a:cs typeface="Calibri"/>
              </a:rPr>
              <a:t> </a:t>
            </a:r>
            <a:r>
              <a:rPr sz="1500" spc="-25" dirty="0">
                <a:latin typeface="Calibri"/>
                <a:cs typeface="Calibri"/>
              </a:rPr>
              <a:t>in </a:t>
            </a:r>
            <a:r>
              <a:rPr sz="1500" dirty="0">
                <a:latin typeface="Calibri"/>
                <a:cs typeface="Calibri"/>
              </a:rPr>
              <a:t>2014</a:t>
            </a:r>
            <a:r>
              <a:rPr sz="1500" spc="-10" dirty="0">
                <a:latin typeface="Calibri"/>
                <a:cs typeface="Calibri"/>
              </a:rPr>
              <a:t> </a:t>
            </a:r>
            <a:r>
              <a:rPr sz="1500" dirty="0">
                <a:latin typeface="Calibri"/>
                <a:cs typeface="Calibri"/>
              </a:rPr>
              <a:t>as</a:t>
            </a:r>
            <a:r>
              <a:rPr sz="1500" spc="-30" dirty="0">
                <a:latin typeface="Calibri"/>
                <a:cs typeface="Calibri"/>
              </a:rPr>
              <a:t> </a:t>
            </a:r>
            <a:r>
              <a:rPr sz="1500" dirty="0">
                <a:latin typeface="Calibri"/>
                <a:cs typeface="Calibri"/>
              </a:rPr>
              <a:t>Finance</a:t>
            </a:r>
            <a:r>
              <a:rPr sz="1500" spc="-30" dirty="0">
                <a:latin typeface="Calibri"/>
                <a:cs typeface="Calibri"/>
              </a:rPr>
              <a:t> </a:t>
            </a:r>
            <a:r>
              <a:rPr sz="1500" spc="-20" dirty="0">
                <a:latin typeface="Calibri"/>
                <a:cs typeface="Calibri"/>
              </a:rPr>
              <a:t>Controller,</a:t>
            </a:r>
            <a:r>
              <a:rPr sz="1500" spc="-40" dirty="0">
                <a:latin typeface="Calibri"/>
                <a:cs typeface="Calibri"/>
              </a:rPr>
              <a:t> </a:t>
            </a:r>
            <a:r>
              <a:rPr sz="1500" dirty="0">
                <a:latin typeface="Calibri"/>
                <a:cs typeface="Calibri"/>
              </a:rPr>
              <a:t>where</a:t>
            </a:r>
            <a:r>
              <a:rPr sz="1500" spc="-20" dirty="0">
                <a:latin typeface="Calibri"/>
                <a:cs typeface="Calibri"/>
              </a:rPr>
              <a:t> </a:t>
            </a:r>
            <a:r>
              <a:rPr sz="1500" dirty="0">
                <a:latin typeface="Calibri"/>
                <a:cs typeface="Calibri"/>
              </a:rPr>
              <a:t>he</a:t>
            </a:r>
            <a:r>
              <a:rPr sz="1500" spc="-35" dirty="0">
                <a:latin typeface="Calibri"/>
                <a:cs typeface="Calibri"/>
              </a:rPr>
              <a:t> </a:t>
            </a:r>
            <a:r>
              <a:rPr sz="1500" spc="-10" dirty="0">
                <a:latin typeface="Calibri"/>
                <a:cs typeface="Calibri"/>
              </a:rPr>
              <a:t>demonstrated</a:t>
            </a:r>
            <a:r>
              <a:rPr sz="1500" spc="-50" dirty="0">
                <a:latin typeface="Calibri"/>
                <a:cs typeface="Calibri"/>
              </a:rPr>
              <a:t> </a:t>
            </a:r>
            <a:r>
              <a:rPr sz="1500" spc="-10" dirty="0">
                <a:latin typeface="Calibri"/>
                <a:cs typeface="Calibri"/>
              </a:rPr>
              <a:t>exceptional leadership</a:t>
            </a:r>
            <a:r>
              <a:rPr sz="1500" spc="-35" dirty="0">
                <a:latin typeface="Calibri"/>
                <a:cs typeface="Calibri"/>
              </a:rPr>
              <a:t> </a:t>
            </a:r>
            <a:r>
              <a:rPr sz="1500" dirty="0">
                <a:latin typeface="Calibri"/>
                <a:cs typeface="Calibri"/>
              </a:rPr>
              <a:t>and</a:t>
            </a:r>
            <a:r>
              <a:rPr sz="1500" spc="-40" dirty="0">
                <a:latin typeface="Calibri"/>
                <a:cs typeface="Calibri"/>
              </a:rPr>
              <a:t> </a:t>
            </a:r>
            <a:r>
              <a:rPr sz="1500" dirty="0">
                <a:latin typeface="Calibri"/>
                <a:cs typeface="Calibri"/>
              </a:rPr>
              <a:t>financial</a:t>
            </a:r>
            <a:r>
              <a:rPr sz="1500" spc="-40" dirty="0">
                <a:latin typeface="Calibri"/>
                <a:cs typeface="Calibri"/>
              </a:rPr>
              <a:t> </a:t>
            </a:r>
            <a:r>
              <a:rPr sz="1500" spc="-10" dirty="0">
                <a:latin typeface="Calibri"/>
                <a:cs typeface="Calibri"/>
              </a:rPr>
              <a:t>acumen.</a:t>
            </a:r>
            <a:endParaRPr sz="1500" dirty="0">
              <a:latin typeface="Calibri"/>
              <a:cs typeface="Calibri"/>
            </a:endParaRPr>
          </a:p>
          <a:p>
            <a:pPr marL="12700" marR="6985">
              <a:lnSpc>
                <a:spcPct val="100000"/>
              </a:lnSpc>
              <a:spcBef>
                <a:spcPts val="360"/>
              </a:spcBef>
            </a:pPr>
            <a:r>
              <a:rPr sz="1500" dirty="0">
                <a:latin typeface="Calibri"/>
                <a:cs typeface="Calibri"/>
              </a:rPr>
              <a:t>In</a:t>
            </a:r>
            <a:r>
              <a:rPr sz="1500" spc="-35" dirty="0">
                <a:latin typeface="Calibri"/>
                <a:cs typeface="Calibri"/>
              </a:rPr>
              <a:t> </a:t>
            </a:r>
            <a:r>
              <a:rPr sz="1500" dirty="0">
                <a:latin typeface="Calibri"/>
                <a:cs typeface="Calibri"/>
              </a:rPr>
              <a:t>2020,</a:t>
            </a:r>
            <a:r>
              <a:rPr sz="1500" spc="10" dirty="0">
                <a:latin typeface="Calibri"/>
                <a:cs typeface="Calibri"/>
              </a:rPr>
              <a:t> </a:t>
            </a:r>
            <a:r>
              <a:rPr sz="1500" dirty="0">
                <a:latin typeface="Calibri"/>
                <a:cs typeface="Calibri"/>
              </a:rPr>
              <a:t>he</a:t>
            </a:r>
            <a:r>
              <a:rPr sz="1500" spc="-25" dirty="0">
                <a:latin typeface="Calibri"/>
                <a:cs typeface="Calibri"/>
              </a:rPr>
              <a:t> </a:t>
            </a:r>
            <a:r>
              <a:rPr sz="1500" dirty="0">
                <a:latin typeface="Calibri"/>
                <a:cs typeface="Calibri"/>
              </a:rPr>
              <a:t>assumed</a:t>
            </a:r>
            <a:r>
              <a:rPr sz="1500" spc="-35" dirty="0">
                <a:latin typeface="Calibri"/>
                <a:cs typeface="Calibri"/>
              </a:rPr>
              <a:t> </a:t>
            </a:r>
            <a:r>
              <a:rPr sz="1500" dirty="0">
                <a:latin typeface="Calibri"/>
                <a:cs typeface="Calibri"/>
              </a:rPr>
              <a:t>the</a:t>
            </a:r>
            <a:r>
              <a:rPr sz="1500" spc="-25" dirty="0">
                <a:latin typeface="Calibri"/>
                <a:cs typeface="Calibri"/>
              </a:rPr>
              <a:t> </a:t>
            </a:r>
            <a:r>
              <a:rPr sz="1500" dirty="0">
                <a:latin typeface="Calibri"/>
                <a:cs typeface="Calibri"/>
              </a:rPr>
              <a:t>role</a:t>
            </a:r>
            <a:r>
              <a:rPr sz="1500" spc="-15" dirty="0">
                <a:latin typeface="Calibri"/>
                <a:cs typeface="Calibri"/>
              </a:rPr>
              <a:t> </a:t>
            </a:r>
            <a:r>
              <a:rPr sz="1500" dirty="0">
                <a:latin typeface="Calibri"/>
                <a:cs typeface="Calibri"/>
              </a:rPr>
              <a:t>of</a:t>
            </a:r>
            <a:r>
              <a:rPr sz="1500" spc="-20" dirty="0">
                <a:latin typeface="Calibri"/>
                <a:cs typeface="Calibri"/>
              </a:rPr>
              <a:t> </a:t>
            </a:r>
            <a:r>
              <a:rPr sz="1500" dirty="0">
                <a:latin typeface="Calibri"/>
                <a:cs typeface="Calibri"/>
              </a:rPr>
              <a:t>Managing</a:t>
            </a:r>
            <a:r>
              <a:rPr sz="1500" spc="-45" dirty="0">
                <a:latin typeface="Calibri"/>
                <a:cs typeface="Calibri"/>
              </a:rPr>
              <a:t> </a:t>
            </a:r>
            <a:r>
              <a:rPr sz="1500" spc="-10" dirty="0">
                <a:latin typeface="Calibri"/>
                <a:cs typeface="Calibri"/>
              </a:rPr>
              <a:t>Director/Chief</a:t>
            </a:r>
            <a:r>
              <a:rPr sz="1500" spc="-25" dirty="0">
                <a:latin typeface="Calibri"/>
                <a:cs typeface="Calibri"/>
              </a:rPr>
              <a:t> </a:t>
            </a:r>
            <a:r>
              <a:rPr sz="1500" spc="-10" dirty="0">
                <a:latin typeface="Calibri"/>
                <a:cs typeface="Calibri"/>
              </a:rPr>
              <a:t>Executive </a:t>
            </a:r>
            <a:r>
              <a:rPr sz="1500" spc="-20" dirty="0">
                <a:latin typeface="Calibri"/>
                <a:cs typeface="Calibri"/>
              </a:rPr>
              <a:t>Officer,</a:t>
            </a:r>
            <a:r>
              <a:rPr sz="1500" spc="-35" dirty="0">
                <a:latin typeface="Calibri"/>
                <a:cs typeface="Calibri"/>
              </a:rPr>
              <a:t> </a:t>
            </a:r>
            <a:r>
              <a:rPr sz="1500" dirty="0">
                <a:latin typeface="Calibri"/>
                <a:cs typeface="Calibri"/>
              </a:rPr>
              <a:t>succeeding</a:t>
            </a:r>
            <a:r>
              <a:rPr sz="1500" spc="-35" dirty="0">
                <a:latin typeface="Calibri"/>
                <a:cs typeface="Calibri"/>
              </a:rPr>
              <a:t> </a:t>
            </a:r>
            <a:r>
              <a:rPr sz="1500" dirty="0">
                <a:latin typeface="Calibri"/>
                <a:cs typeface="Calibri"/>
              </a:rPr>
              <a:t>the</a:t>
            </a:r>
            <a:r>
              <a:rPr sz="1500" spc="-50" dirty="0">
                <a:latin typeface="Calibri"/>
                <a:cs typeface="Calibri"/>
              </a:rPr>
              <a:t> </a:t>
            </a:r>
            <a:r>
              <a:rPr sz="1500" dirty="0">
                <a:latin typeface="Calibri"/>
                <a:cs typeface="Calibri"/>
              </a:rPr>
              <a:t>late</a:t>
            </a:r>
            <a:r>
              <a:rPr sz="1500" spc="-55" dirty="0">
                <a:latin typeface="Calibri"/>
                <a:cs typeface="Calibri"/>
              </a:rPr>
              <a:t> </a:t>
            </a:r>
            <a:r>
              <a:rPr sz="1500" spc="-45" dirty="0">
                <a:latin typeface="Calibri"/>
                <a:cs typeface="Calibri"/>
              </a:rPr>
              <a:t>Mr.</a:t>
            </a:r>
            <a:r>
              <a:rPr sz="1500" spc="-35" dirty="0">
                <a:latin typeface="Calibri"/>
                <a:cs typeface="Calibri"/>
              </a:rPr>
              <a:t> </a:t>
            </a:r>
            <a:r>
              <a:rPr sz="1500" dirty="0">
                <a:latin typeface="Calibri"/>
                <a:cs typeface="Calibri"/>
              </a:rPr>
              <a:t>Moses</a:t>
            </a:r>
            <a:r>
              <a:rPr sz="1500" spc="-25" dirty="0">
                <a:latin typeface="Calibri"/>
                <a:cs typeface="Calibri"/>
              </a:rPr>
              <a:t> </a:t>
            </a:r>
            <a:r>
              <a:rPr sz="1500" spc="-10" dirty="0">
                <a:latin typeface="Calibri"/>
                <a:cs typeface="Calibri"/>
              </a:rPr>
              <a:t>Orife.</a:t>
            </a:r>
            <a:endParaRPr sz="1500" dirty="0">
              <a:latin typeface="Calibri"/>
              <a:cs typeface="Calibri"/>
            </a:endParaRPr>
          </a:p>
          <a:p>
            <a:pPr marL="12700" marR="5080">
              <a:lnSpc>
                <a:spcPct val="100000"/>
              </a:lnSpc>
              <a:spcBef>
                <a:spcPts val="360"/>
              </a:spcBef>
            </a:pPr>
            <a:r>
              <a:rPr sz="1500" dirty="0">
                <a:latin typeface="Calibri"/>
                <a:cs typeface="Calibri"/>
              </a:rPr>
              <a:t>Under</a:t>
            </a:r>
            <a:r>
              <a:rPr sz="1500" spc="-20" dirty="0">
                <a:latin typeface="Calibri"/>
                <a:cs typeface="Calibri"/>
              </a:rPr>
              <a:t> </a:t>
            </a:r>
            <a:r>
              <a:rPr sz="1500" dirty="0">
                <a:latin typeface="Calibri"/>
                <a:cs typeface="Calibri"/>
              </a:rPr>
              <a:t>his</a:t>
            </a:r>
            <a:r>
              <a:rPr sz="1500" spc="-20" dirty="0">
                <a:latin typeface="Calibri"/>
                <a:cs typeface="Calibri"/>
              </a:rPr>
              <a:t> </a:t>
            </a:r>
            <a:r>
              <a:rPr sz="1500" dirty="0">
                <a:latin typeface="Calibri"/>
                <a:cs typeface="Calibri"/>
              </a:rPr>
              <a:t>leadership,</a:t>
            </a:r>
            <a:r>
              <a:rPr sz="1500" spc="-35" dirty="0">
                <a:latin typeface="Calibri"/>
                <a:cs typeface="Calibri"/>
              </a:rPr>
              <a:t> </a:t>
            </a:r>
            <a:r>
              <a:rPr sz="1500" dirty="0">
                <a:latin typeface="Calibri"/>
                <a:cs typeface="Calibri"/>
              </a:rPr>
              <a:t>Outreach</a:t>
            </a:r>
            <a:r>
              <a:rPr sz="1500" spc="-35" dirty="0">
                <a:latin typeface="Calibri"/>
                <a:cs typeface="Calibri"/>
              </a:rPr>
              <a:t> </a:t>
            </a:r>
            <a:r>
              <a:rPr sz="1500" spc="-10" dirty="0">
                <a:latin typeface="Calibri"/>
                <a:cs typeface="Calibri"/>
              </a:rPr>
              <a:t>International</a:t>
            </a:r>
            <a:r>
              <a:rPr sz="1500" spc="-45" dirty="0">
                <a:latin typeface="Calibri"/>
                <a:cs typeface="Calibri"/>
              </a:rPr>
              <a:t> </a:t>
            </a:r>
            <a:r>
              <a:rPr sz="1500" dirty="0">
                <a:latin typeface="Calibri"/>
                <a:cs typeface="Calibri"/>
              </a:rPr>
              <a:t>Media</a:t>
            </a:r>
            <a:r>
              <a:rPr sz="1500" spc="-15" dirty="0">
                <a:latin typeface="Calibri"/>
                <a:cs typeface="Calibri"/>
              </a:rPr>
              <a:t> </a:t>
            </a:r>
            <a:r>
              <a:rPr sz="1500" dirty="0">
                <a:latin typeface="Calibri"/>
                <a:cs typeface="Calibri"/>
              </a:rPr>
              <a:t>Limited</a:t>
            </a:r>
            <a:r>
              <a:rPr sz="1500" spc="-40" dirty="0">
                <a:latin typeface="Calibri"/>
                <a:cs typeface="Calibri"/>
              </a:rPr>
              <a:t> </a:t>
            </a:r>
            <a:r>
              <a:rPr sz="1500" spc="-25" dirty="0">
                <a:latin typeface="Calibri"/>
                <a:cs typeface="Calibri"/>
              </a:rPr>
              <a:t>has </a:t>
            </a:r>
            <a:r>
              <a:rPr sz="1500" spc="-10" dirty="0">
                <a:latin typeface="Calibri"/>
                <a:cs typeface="Calibri"/>
              </a:rPr>
              <a:t>continued</a:t>
            </a:r>
            <a:r>
              <a:rPr sz="1500" spc="-55" dirty="0">
                <a:latin typeface="Calibri"/>
                <a:cs typeface="Calibri"/>
              </a:rPr>
              <a:t> </a:t>
            </a:r>
            <a:r>
              <a:rPr sz="1500" dirty="0">
                <a:latin typeface="Calibri"/>
                <a:cs typeface="Calibri"/>
              </a:rPr>
              <a:t>to</a:t>
            </a:r>
            <a:r>
              <a:rPr sz="1500" spc="-30" dirty="0">
                <a:latin typeface="Calibri"/>
                <a:cs typeface="Calibri"/>
              </a:rPr>
              <a:t> </a:t>
            </a:r>
            <a:r>
              <a:rPr sz="1500" dirty="0">
                <a:latin typeface="Calibri"/>
                <a:cs typeface="Calibri"/>
              </a:rPr>
              <a:t>evolve,</a:t>
            </a:r>
            <a:r>
              <a:rPr sz="1500" spc="-30" dirty="0">
                <a:latin typeface="Calibri"/>
                <a:cs typeface="Calibri"/>
              </a:rPr>
              <a:t> </a:t>
            </a:r>
            <a:r>
              <a:rPr sz="1500" dirty="0">
                <a:latin typeface="Calibri"/>
                <a:cs typeface="Calibri"/>
              </a:rPr>
              <a:t>achieving</a:t>
            </a:r>
            <a:r>
              <a:rPr sz="1500" spc="-25" dirty="0">
                <a:latin typeface="Calibri"/>
                <a:cs typeface="Calibri"/>
              </a:rPr>
              <a:t> </a:t>
            </a:r>
            <a:r>
              <a:rPr sz="1500" dirty="0">
                <a:latin typeface="Calibri"/>
                <a:cs typeface="Calibri"/>
              </a:rPr>
              <a:t>greater</a:t>
            </a:r>
            <a:r>
              <a:rPr sz="1500" spc="-40" dirty="0">
                <a:latin typeface="Calibri"/>
                <a:cs typeface="Calibri"/>
              </a:rPr>
              <a:t> </a:t>
            </a:r>
            <a:r>
              <a:rPr sz="1500" spc="-10" dirty="0">
                <a:latin typeface="Calibri"/>
                <a:cs typeface="Calibri"/>
              </a:rPr>
              <a:t>operational</a:t>
            </a:r>
            <a:r>
              <a:rPr sz="1500" spc="-50" dirty="0">
                <a:latin typeface="Calibri"/>
                <a:cs typeface="Calibri"/>
              </a:rPr>
              <a:t> </a:t>
            </a:r>
            <a:r>
              <a:rPr sz="1500" spc="-10" dirty="0">
                <a:latin typeface="Calibri"/>
                <a:cs typeface="Calibri"/>
              </a:rPr>
              <a:t>efficiency, strategic</a:t>
            </a:r>
            <a:r>
              <a:rPr sz="1500" spc="-50" dirty="0">
                <a:latin typeface="Calibri"/>
                <a:cs typeface="Calibri"/>
              </a:rPr>
              <a:t> </a:t>
            </a:r>
            <a:r>
              <a:rPr sz="1500" dirty="0">
                <a:latin typeface="Calibri"/>
                <a:cs typeface="Calibri"/>
              </a:rPr>
              <a:t>expansion,</a:t>
            </a:r>
            <a:r>
              <a:rPr sz="1500" spc="-45" dirty="0">
                <a:latin typeface="Calibri"/>
                <a:cs typeface="Calibri"/>
              </a:rPr>
              <a:t> </a:t>
            </a:r>
            <a:r>
              <a:rPr sz="1500" dirty="0">
                <a:latin typeface="Calibri"/>
                <a:cs typeface="Calibri"/>
              </a:rPr>
              <a:t>and</a:t>
            </a:r>
            <a:r>
              <a:rPr sz="1500" spc="-35" dirty="0">
                <a:latin typeface="Calibri"/>
                <a:cs typeface="Calibri"/>
              </a:rPr>
              <a:t> </a:t>
            </a:r>
            <a:r>
              <a:rPr sz="1500" dirty="0">
                <a:latin typeface="Calibri"/>
                <a:cs typeface="Calibri"/>
              </a:rPr>
              <a:t>a</a:t>
            </a:r>
            <a:r>
              <a:rPr sz="1500" spc="-30" dirty="0">
                <a:latin typeface="Calibri"/>
                <a:cs typeface="Calibri"/>
              </a:rPr>
              <a:t> </a:t>
            </a:r>
            <a:r>
              <a:rPr sz="1500" spc="-10" dirty="0">
                <a:latin typeface="Calibri"/>
                <a:cs typeface="Calibri"/>
              </a:rPr>
              <a:t>renewed</a:t>
            </a:r>
            <a:r>
              <a:rPr sz="1500" spc="-20" dirty="0">
                <a:latin typeface="Calibri"/>
                <a:cs typeface="Calibri"/>
              </a:rPr>
              <a:t> </a:t>
            </a:r>
            <a:r>
              <a:rPr sz="1500" dirty="0">
                <a:latin typeface="Calibri"/>
                <a:cs typeface="Calibri"/>
              </a:rPr>
              <a:t>commitment</a:t>
            </a:r>
            <a:r>
              <a:rPr sz="1500" spc="-30" dirty="0">
                <a:latin typeface="Calibri"/>
                <a:cs typeface="Calibri"/>
              </a:rPr>
              <a:t> </a:t>
            </a:r>
            <a:r>
              <a:rPr sz="1500" dirty="0">
                <a:latin typeface="Calibri"/>
                <a:cs typeface="Calibri"/>
              </a:rPr>
              <a:t>to</a:t>
            </a:r>
            <a:r>
              <a:rPr sz="1500" spc="-35" dirty="0">
                <a:latin typeface="Calibri"/>
                <a:cs typeface="Calibri"/>
              </a:rPr>
              <a:t> </a:t>
            </a:r>
            <a:r>
              <a:rPr sz="1500" spc="-10" dirty="0">
                <a:latin typeface="Calibri"/>
                <a:cs typeface="Calibri"/>
              </a:rPr>
              <a:t>innovation</a:t>
            </a:r>
            <a:r>
              <a:rPr sz="1500" spc="-50" dirty="0">
                <a:latin typeface="Calibri"/>
                <a:cs typeface="Calibri"/>
              </a:rPr>
              <a:t> </a:t>
            </a:r>
            <a:r>
              <a:rPr sz="1500" spc="-25" dirty="0">
                <a:latin typeface="Calibri"/>
                <a:cs typeface="Calibri"/>
              </a:rPr>
              <a:t>and </a:t>
            </a:r>
            <a:r>
              <a:rPr sz="1500" spc="-10" dirty="0">
                <a:latin typeface="Calibri"/>
                <a:cs typeface="Calibri"/>
              </a:rPr>
              <a:t>excellence.</a:t>
            </a:r>
            <a:endParaRPr sz="1500" dirty="0">
              <a:latin typeface="Calibri"/>
              <a:cs typeface="Calibri"/>
            </a:endParaRPr>
          </a:p>
          <a:p>
            <a:pPr marL="12700" marR="316230">
              <a:lnSpc>
                <a:spcPct val="100000"/>
              </a:lnSpc>
              <a:spcBef>
                <a:spcPts val="365"/>
              </a:spcBef>
            </a:pPr>
            <a:r>
              <a:rPr sz="1500" spc="-45" dirty="0">
                <a:latin typeface="Calibri"/>
                <a:cs typeface="Calibri"/>
              </a:rPr>
              <a:t>Mr.</a:t>
            </a:r>
            <a:r>
              <a:rPr sz="1500" spc="-10" dirty="0">
                <a:latin typeface="Calibri"/>
                <a:cs typeface="Calibri"/>
              </a:rPr>
              <a:t> Darlington</a:t>
            </a:r>
            <a:r>
              <a:rPr sz="1500" spc="-45" dirty="0">
                <a:latin typeface="Calibri"/>
                <a:cs typeface="Calibri"/>
              </a:rPr>
              <a:t> </a:t>
            </a:r>
            <a:r>
              <a:rPr sz="1500" spc="-20" dirty="0">
                <a:latin typeface="Calibri"/>
                <a:cs typeface="Calibri"/>
              </a:rPr>
              <a:t>Orife’s</a:t>
            </a:r>
            <a:r>
              <a:rPr sz="1500" dirty="0">
                <a:latin typeface="Calibri"/>
                <a:cs typeface="Calibri"/>
              </a:rPr>
              <a:t> </a:t>
            </a:r>
            <a:r>
              <a:rPr sz="1500" spc="-20" dirty="0">
                <a:latin typeface="Calibri"/>
                <a:cs typeface="Calibri"/>
              </a:rPr>
              <a:t>forward-</a:t>
            </a:r>
            <a:r>
              <a:rPr sz="1500" dirty="0">
                <a:latin typeface="Calibri"/>
                <a:cs typeface="Calibri"/>
              </a:rPr>
              <a:t>thinking</a:t>
            </a:r>
            <a:r>
              <a:rPr sz="1500" spc="-40" dirty="0">
                <a:latin typeface="Calibri"/>
                <a:cs typeface="Calibri"/>
              </a:rPr>
              <a:t> </a:t>
            </a:r>
            <a:r>
              <a:rPr sz="1500" dirty="0">
                <a:latin typeface="Calibri"/>
                <a:cs typeface="Calibri"/>
              </a:rPr>
              <a:t>approach,</a:t>
            </a:r>
            <a:r>
              <a:rPr sz="1500" spc="-35" dirty="0">
                <a:latin typeface="Calibri"/>
                <a:cs typeface="Calibri"/>
              </a:rPr>
              <a:t> </a:t>
            </a:r>
            <a:r>
              <a:rPr sz="1500" dirty="0">
                <a:latin typeface="Calibri"/>
                <a:cs typeface="Calibri"/>
              </a:rPr>
              <a:t>passion</a:t>
            </a:r>
            <a:r>
              <a:rPr sz="1500" spc="-35" dirty="0">
                <a:latin typeface="Calibri"/>
                <a:cs typeface="Calibri"/>
              </a:rPr>
              <a:t> </a:t>
            </a:r>
            <a:r>
              <a:rPr sz="1500" spc="-25" dirty="0">
                <a:latin typeface="Calibri"/>
                <a:cs typeface="Calibri"/>
              </a:rPr>
              <a:t>for </a:t>
            </a:r>
            <a:r>
              <a:rPr sz="1500" dirty="0">
                <a:latin typeface="Calibri"/>
                <a:cs typeface="Calibri"/>
              </a:rPr>
              <a:t>growth,</a:t>
            </a:r>
            <a:r>
              <a:rPr sz="1500" spc="-55" dirty="0">
                <a:latin typeface="Calibri"/>
                <a:cs typeface="Calibri"/>
              </a:rPr>
              <a:t> </a:t>
            </a:r>
            <a:r>
              <a:rPr sz="1500" dirty="0">
                <a:latin typeface="Calibri"/>
                <a:cs typeface="Calibri"/>
              </a:rPr>
              <a:t>and</a:t>
            </a:r>
            <a:r>
              <a:rPr sz="1500" spc="-55" dirty="0">
                <a:latin typeface="Calibri"/>
                <a:cs typeface="Calibri"/>
              </a:rPr>
              <a:t> </a:t>
            </a:r>
            <a:r>
              <a:rPr sz="1500" spc="-10" dirty="0">
                <a:latin typeface="Calibri"/>
                <a:cs typeface="Calibri"/>
              </a:rPr>
              <a:t>unwavering</a:t>
            </a:r>
            <a:r>
              <a:rPr sz="1500" spc="-50" dirty="0">
                <a:latin typeface="Calibri"/>
                <a:cs typeface="Calibri"/>
              </a:rPr>
              <a:t> </a:t>
            </a:r>
            <a:r>
              <a:rPr sz="1500" dirty="0">
                <a:latin typeface="Calibri"/>
                <a:cs typeface="Calibri"/>
              </a:rPr>
              <a:t>integrity</a:t>
            </a:r>
            <a:r>
              <a:rPr sz="1500" spc="-55" dirty="0">
                <a:latin typeface="Calibri"/>
                <a:cs typeface="Calibri"/>
              </a:rPr>
              <a:t> </a:t>
            </a:r>
            <a:r>
              <a:rPr sz="1500" dirty="0">
                <a:latin typeface="Calibri"/>
                <a:cs typeface="Calibri"/>
              </a:rPr>
              <a:t>continue</a:t>
            </a:r>
            <a:r>
              <a:rPr sz="1500" spc="-60" dirty="0">
                <a:latin typeface="Calibri"/>
                <a:cs typeface="Calibri"/>
              </a:rPr>
              <a:t> </a:t>
            </a:r>
            <a:r>
              <a:rPr sz="1500" dirty="0">
                <a:latin typeface="Calibri"/>
                <a:cs typeface="Calibri"/>
              </a:rPr>
              <a:t>to</a:t>
            </a:r>
            <a:r>
              <a:rPr sz="1500" spc="-40" dirty="0">
                <a:latin typeface="Calibri"/>
                <a:cs typeface="Calibri"/>
              </a:rPr>
              <a:t> </a:t>
            </a:r>
            <a:r>
              <a:rPr sz="1500" dirty="0">
                <a:latin typeface="Calibri"/>
                <a:cs typeface="Calibri"/>
              </a:rPr>
              <a:t>inspire</a:t>
            </a:r>
            <a:r>
              <a:rPr sz="1500" spc="-45" dirty="0">
                <a:latin typeface="Calibri"/>
                <a:cs typeface="Calibri"/>
              </a:rPr>
              <a:t> </a:t>
            </a:r>
            <a:r>
              <a:rPr sz="1500" dirty="0">
                <a:latin typeface="Calibri"/>
                <a:cs typeface="Calibri"/>
              </a:rPr>
              <a:t>the</a:t>
            </a:r>
            <a:r>
              <a:rPr sz="1500" spc="-40" dirty="0">
                <a:latin typeface="Calibri"/>
                <a:cs typeface="Calibri"/>
              </a:rPr>
              <a:t> </a:t>
            </a:r>
            <a:r>
              <a:rPr sz="1500" spc="-10" dirty="0">
                <a:latin typeface="Calibri"/>
                <a:cs typeface="Calibri"/>
              </a:rPr>
              <a:t>entire organization</a:t>
            </a:r>
            <a:r>
              <a:rPr sz="1500" spc="-45" dirty="0">
                <a:latin typeface="Calibri"/>
                <a:cs typeface="Calibri"/>
              </a:rPr>
              <a:t> </a:t>
            </a:r>
            <a:r>
              <a:rPr sz="1500" dirty="0">
                <a:latin typeface="Calibri"/>
                <a:cs typeface="Calibri"/>
              </a:rPr>
              <a:t>toward</a:t>
            </a:r>
            <a:r>
              <a:rPr sz="1500" spc="-25" dirty="0">
                <a:latin typeface="Calibri"/>
                <a:cs typeface="Calibri"/>
              </a:rPr>
              <a:t> </a:t>
            </a:r>
            <a:r>
              <a:rPr sz="1500" spc="-10" dirty="0">
                <a:latin typeface="Calibri"/>
                <a:cs typeface="Calibri"/>
              </a:rPr>
              <a:t>sustained</a:t>
            </a:r>
            <a:r>
              <a:rPr sz="1500" spc="-25" dirty="0">
                <a:latin typeface="Calibri"/>
                <a:cs typeface="Calibri"/>
              </a:rPr>
              <a:t> </a:t>
            </a:r>
            <a:r>
              <a:rPr sz="1500" spc="-10" dirty="0">
                <a:latin typeface="Calibri"/>
                <a:cs typeface="Calibri"/>
              </a:rPr>
              <a:t>success.</a:t>
            </a:r>
            <a:endParaRPr sz="1500" dirty="0">
              <a:latin typeface="Calibri"/>
              <a:cs typeface="Calibri"/>
            </a:endParaRPr>
          </a:p>
        </p:txBody>
      </p:sp>
      <p:sp>
        <p:nvSpPr>
          <p:cNvPr id="8" name="object 8"/>
          <p:cNvSpPr txBox="1"/>
          <p:nvPr/>
        </p:nvSpPr>
        <p:spPr>
          <a:xfrm>
            <a:off x="381000" y="4929855"/>
            <a:ext cx="2159635" cy="574675"/>
          </a:xfrm>
          <a:prstGeom prst="rect">
            <a:avLst/>
          </a:prstGeom>
        </p:spPr>
        <p:txBody>
          <a:bodyPr vert="horz" wrap="square" lIns="0" tIns="12700" rIns="0" bIns="0" rtlCol="0">
            <a:spAutoFit/>
          </a:bodyPr>
          <a:lstStyle/>
          <a:p>
            <a:pPr algn="ctr">
              <a:lnSpc>
                <a:spcPct val="100000"/>
              </a:lnSpc>
              <a:spcBef>
                <a:spcPts val="100"/>
              </a:spcBef>
            </a:pPr>
            <a:r>
              <a:rPr sz="1800" b="1" dirty="0">
                <a:solidFill>
                  <a:srgbClr val="DA241D"/>
                </a:solidFill>
                <a:latin typeface="Arial"/>
                <a:cs typeface="Arial"/>
              </a:rPr>
              <a:t>Mr.</a:t>
            </a:r>
            <a:r>
              <a:rPr sz="1800" b="1" spc="-65" dirty="0">
                <a:solidFill>
                  <a:srgbClr val="DA241D"/>
                </a:solidFill>
                <a:latin typeface="Arial"/>
                <a:cs typeface="Arial"/>
              </a:rPr>
              <a:t> </a:t>
            </a:r>
            <a:r>
              <a:rPr sz="1800" b="1" dirty="0">
                <a:solidFill>
                  <a:srgbClr val="DA241D"/>
                </a:solidFill>
                <a:latin typeface="Arial"/>
                <a:cs typeface="Arial"/>
              </a:rPr>
              <a:t>Darlington</a:t>
            </a:r>
            <a:r>
              <a:rPr sz="1800" b="1" spc="-60" dirty="0">
                <a:solidFill>
                  <a:srgbClr val="DA241D"/>
                </a:solidFill>
                <a:latin typeface="Arial"/>
                <a:cs typeface="Arial"/>
              </a:rPr>
              <a:t> </a:t>
            </a:r>
            <a:r>
              <a:rPr sz="1800" b="1" spc="-20" dirty="0">
                <a:solidFill>
                  <a:srgbClr val="DA241D"/>
                </a:solidFill>
                <a:latin typeface="Arial"/>
                <a:cs typeface="Arial"/>
              </a:rPr>
              <a:t>Orife</a:t>
            </a:r>
            <a:endParaRPr sz="1800" dirty="0">
              <a:latin typeface="Arial"/>
              <a:cs typeface="Arial"/>
            </a:endParaRPr>
          </a:p>
          <a:p>
            <a:pPr algn="ctr">
              <a:lnSpc>
                <a:spcPct val="100000"/>
              </a:lnSpc>
              <a:spcBef>
                <a:spcPts val="5"/>
              </a:spcBef>
            </a:pPr>
            <a:r>
              <a:rPr sz="1800" b="1" spc="-10" dirty="0">
                <a:solidFill>
                  <a:srgbClr val="DA241D"/>
                </a:solidFill>
                <a:latin typeface="Arial"/>
                <a:cs typeface="Arial"/>
              </a:rPr>
              <a:t>MD/CEO</a:t>
            </a:r>
            <a:endParaRPr sz="1800" dirty="0">
              <a:latin typeface="Arial"/>
              <a:cs typeface="Arial"/>
            </a:endParaRP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9960" y="935354"/>
            <a:ext cx="3222045" cy="38652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529332" y="78994"/>
            <a:ext cx="3043555" cy="756920"/>
          </a:xfrm>
          <a:prstGeom prst="rect">
            <a:avLst/>
          </a:prstGeom>
        </p:spPr>
        <p:txBody>
          <a:bodyPr vert="horz" wrap="square" lIns="0" tIns="12700" rIns="0" bIns="0" rtlCol="0">
            <a:spAutoFit/>
          </a:bodyPr>
          <a:lstStyle/>
          <a:p>
            <a:pPr marL="12700">
              <a:lnSpc>
                <a:spcPct val="100000"/>
              </a:lnSpc>
              <a:spcBef>
                <a:spcPts val="100"/>
              </a:spcBef>
            </a:pPr>
            <a:r>
              <a:rPr sz="4800" b="1" spc="-10" dirty="0">
                <a:solidFill>
                  <a:srgbClr val="DA241D"/>
                </a:solidFill>
                <a:latin typeface="Calibri"/>
                <a:cs typeface="Calibri"/>
              </a:rPr>
              <a:t>PERSONNEL</a:t>
            </a:r>
            <a:endParaRPr sz="4800">
              <a:latin typeface="Calibri"/>
              <a:cs typeface="Calibri"/>
            </a:endParaRPr>
          </a:p>
        </p:txBody>
      </p:sp>
      <p:sp>
        <p:nvSpPr>
          <p:cNvPr id="4" name="object 4"/>
          <p:cNvSpPr txBox="1"/>
          <p:nvPr/>
        </p:nvSpPr>
        <p:spPr>
          <a:xfrm>
            <a:off x="3505200" y="773317"/>
            <a:ext cx="5347970" cy="5531643"/>
          </a:xfrm>
          <a:prstGeom prst="rect">
            <a:avLst/>
          </a:prstGeom>
        </p:spPr>
        <p:txBody>
          <a:bodyPr vert="horz" wrap="square" lIns="0" tIns="12065" rIns="0" bIns="0" rtlCol="0">
            <a:spAutoFit/>
          </a:bodyPr>
          <a:lstStyle/>
          <a:p>
            <a:pPr marL="12700" marR="187325">
              <a:lnSpc>
                <a:spcPct val="100000"/>
              </a:lnSpc>
              <a:spcBef>
                <a:spcPts val="95"/>
              </a:spcBef>
            </a:pPr>
            <a:r>
              <a:rPr lang="en-US" sz="1600" dirty="0" smtClean="0">
                <a:latin typeface="Arial MT"/>
                <a:cs typeface="Arial MT"/>
              </a:rPr>
              <a:t>Mrs. </a:t>
            </a:r>
            <a:r>
              <a:rPr lang="en-US" sz="1600" dirty="0" err="1" smtClean="0">
                <a:latin typeface="Arial MT"/>
                <a:cs typeface="Arial MT"/>
              </a:rPr>
              <a:t>Ifeoma</a:t>
            </a:r>
            <a:r>
              <a:rPr lang="en-US" sz="1600" dirty="0" smtClean="0">
                <a:latin typeface="Arial MT"/>
                <a:cs typeface="Arial MT"/>
              </a:rPr>
              <a:t> </a:t>
            </a:r>
            <a:r>
              <a:rPr lang="en-US" sz="1600" dirty="0" err="1" smtClean="0">
                <a:latin typeface="Arial MT"/>
                <a:cs typeface="Arial MT"/>
              </a:rPr>
              <a:t>Uche</a:t>
            </a:r>
            <a:r>
              <a:rPr lang="en-US" sz="1600" dirty="0" smtClean="0">
                <a:latin typeface="Arial MT"/>
                <a:cs typeface="Arial MT"/>
              </a:rPr>
              <a:t> is the General Manager of Outreach and holds a Master’s Degree in Public Policy &amp; Administration from </a:t>
            </a:r>
            <a:r>
              <a:rPr lang="en-US" sz="1600" dirty="0" err="1" smtClean="0">
                <a:latin typeface="Arial MT"/>
                <a:cs typeface="Arial MT"/>
              </a:rPr>
              <a:t>Bayero</a:t>
            </a:r>
            <a:r>
              <a:rPr lang="en-US" sz="1600" dirty="0" smtClean="0">
                <a:latin typeface="Arial MT"/>
                <a:cs typeface="Arial MT"/>
              </a:rPr>
              <a:t> University, Kano.</a:t>
            </a:r>
          </a:p>
          <a:p>
            <a:pPr marL="12700" marR="187325">
              <a:lnSpc>
                <a:spcPct val="100000"/>
              </a:lnSpc>
              <a:spcBef>
                <a:spcPts val="95"/>
              </a:spcBef>
            </a:pPr>
            <a:endParaRPr lang="en-US" sz="1600" dirty="0" smtClean="0">
              <a:latin typeface="Arial MT"/>
              <a:cs typeface="Arial MT"/>
            </a:endParaRPr>
          </a:p>
          <a:p>
            <a:pPr marL="12700" marR="187325">
              <a:lnSpc>
                <a:spcPct val="100000"/>
              </a:lnSpc>
              <a:spcBef>
                <a:spcPts val="95"/>
              </a:spcBef>
            </a:pPr>
            <a:r>
              <a:rPr lang="en-US" sz="1600" dirty="0" smtClean="0">
                <a:latin typeface="Arial MT"/>
                <a:cs typeface="Arial MT"/>
              </a:rPr>
              <a:t>She is an Associate Member of the Advertising Regulation Council of Nigeria (ARCON) and brings extensive experience in administration, advertising, and business management.</a:t>
            </a:r>
          </a:p>
          <a:p>
            <a:pPr marL="12700" marR="187325">
              <a:lnSpc>
                <a:spcPct val="100000"/>
              </a:lnSpc>
              <a:spcBef>
                <a:spcPts val="95"/>
              </a:spcBef>
            </a:pPr>
            <a:endParaRPr lang="en-US" sz="1600" dirty="0" smtClean="0">
              <a:latin typeface="Arial MT"/>
              <a:cs typeface="Arial MT"/>
            </a:endParaRPr>
          </a:p>
          <a:p>
            <a:pPr marL="12700" marR="187325">
              <a:lnSpc>
                <a:spcPct val="100000"/>
              </a:lnSpc>
              <a:spcBef>
                <a:spcPts val="95"/>
              </a:spcBef>
            </a:pPr>
            <a:r>
              <a:rPr lang="en-US" sz="1600" dirty="0" smtClean="0">
                <a:latin typeface="Arial MT"/>
                <a:cs typeface="Arial MT"/>
              </a:rPr>
              <a:t>Before joining Outreach in September 2010, she worked with Godwin </a:t>
            </a:r>
            <a:r>
              <a:rPr lang="en-US" sz="1600" dirty="0" err="1" smtClean="0">
                <a:latin typeface="Arial MT"/>
                <a:cs typeface="Arial MT"/>
              </a:rPr>
              <a:t>Obakpolor</a:t>
            </a:r>
            <a:r>
              <a:rPr lang="en-US" sz="1600" dirty="0" smtClean="0">
                <a:latin typeface="Arial MT"/>
                <a:cs typeface="Arial MT"/>
              </a:rPr>
              <a:t> Estate Surveyors and </a:t>
            </a:r>
            <a:r>
              <a:rPr lang="en-US" sz="1600" dirty="0" err="1" smtClean="0">
                <a:latin typeface="Arial MT"/>
                <a:cs typeface="Arial MT"/>
              </a:rPr>
              <a:t>Valuers</a:t>
            </a:r>
            <a:r>
              <a:rPr lang="en-US" sz="1600" dirty="0" smtClean="0">
                <a:latin typeface="Arial MT"/>
                <a:cs typeface="Arial MT"/>
              </a:rPr>
              <a:t> from 2004 to 2010 as an Estate Officer.</a:t>
            </a:r>
          </a:p>
          <a:p>
            <a:pPr marL="12700" marR="187325">
              <a:lnSpc>
                <a:spcPct val="100000"/>
              </a:lnSpc>
              <a:spcBef>
                <a:spcPts val="95"/>
              </a:spcBef>
            </a:pPr>
            <a:endParaRPr lang="en-US" sz="1600" dirty="0" smtClean="0">
              <a:latin typeface="Arial MT"/>
              <a:cs typeface="Arial MT"/>
            </a:endParaRPr>
          </a:p>
          <a:p>
            <a:pPr marL="12700" marR="187325">
              <a:lnSpc>
                <a:spcPct val="100000"/>
              </a:lnSpc>
              <a:spcBef>
                <a:spcPts val="95"/>
              </a:spcBef>
            </a:pPr>
            <a:r>
              <a:rPr lang="en-US" sz="1600" dirty="0" smtClean="0">
                <a:latin typeface="Arial MT"/>
                <a:cs typeface="Arial MT"/>
              </a:rPr>
              <a:t>Mrs. </a:t>
            </a:r>
            <a:r>
              <a:rPr lang="en-US" sz="1600" dirty="0" err="1" smtClean="0">
                <a:latin typeface="Arial MT"/>
                <a:cs typeface="Arial MT"/>
              </a:rPr>
              <a:t>Uche</a:t>
            </a:r>
            <a:r>
              <a:rPr lang="en-US" sz="1600" dirty="0" smtClean="0">
                <a:latin typeface="Arial MT"/>
                <a:cs typeface="Arial MT"/>
              </a:rPr>
              <a:t> is also a </a:t>
            </a:r>
            <a:r>
              <a:rPr lang="en-US" sz="1600" b="1" dirty="0" smtClean="0">
                <a:latin typeface="Arial MT"/>
                <a:cs typeface="Arial MT"/>
              </a:rPr>
              <a:t>Peace Ambassador</a:t>
            </a:r>
            <a:r>
              <a:rPr lang="en-US" sz="1600" dirty="0" smtClean="0">
                <a:latin typeface="Arial MT"/>
                <a:cs typeface="Arial MT"/>
              </a:rPr>
              <a:t>, an </a:t>
            </a:r>
            <a:r>
              <a:rPr lang="en-US" sz="1600" dirty="0" err="1" smtClean="0">
                <a:latin typeface="Arial MT"/>
                <a:cs typeface="Arial MT"/>
              </a:rPr>
              <a:t>honour</a:t>
            </a:r>
            <a:r>
              <a:rPr lang="en-US" sz="1600" dirty="0" smtClean="0">
                <a:latin typeface="Arial MT"/>
                <a:cs typeface="Arial MT"/>
              </a:rPr>
              <a:t> conferred on her by the **African Youth Assembly for Peace**, in recognition of her commitment to promoting peace and positive change.</a:t>
            </a:r>
          </a:p>
          <a:p>
            <a:pPr marL="12700" marR="187325">
              <a:lnSpc>
                <a:spcPct val="100000"/>
              </a:lnSpc>
              <a:spcBef>
                <a:spcPts val="95"/>
              </a:spcBef>
            </a:pPr>
            <a:endParaRPr lang="en-US" sz="1600" dirty="0" smtClean="0">
              <a:latin typeface="Arial MT"/>
              <a:cs typeface="Arial MT"/>
            </a:endParaRPr>
          </a:p>
          <a:p>
            <a:pPr marL="12700" marR="187325">
              <a:lnSpc>
                <a:spcPct val="100000"/>
              </a:lnSpc>
              <a:spcBef>
                <a:spcPts val="95"/>
              </a:spcBef>
            </a:pPr>
            <a:r>
              <a:rPr lang="en-US" sz="1600" dirty="0" smtClean="0">
                <a:latin typeface="Arial MT"/>
                <a:cs typeface="Arial MT"/>
              </a:rPr>
              <a:t>She was also recognized by Christ Embassy (</a:t>
            </a:r>
            <a:r>
              <a:rPr lang="en-US" sz="1600" dirty="0" err="1" smtClean="0">
                <a:latin typeface="Arial MT"/>
                <a:cs typeface="Arial MT"/>
              </a:rPr>
              <a:t>LoveWorld</a:t>
            </a:r>
            <a:r>
              <a:rPr lang="en-US" sz="1600" dirty="0" smtClean="0">
                <a:latin typeface="Arial MT"/>
                <a:cs typeface="Arial MT"/>
              </a:rPr>
              <a:t> Incorporated) as the </a:t>
            </a:r>
            <a:r>
              <a:rPr lang="en-US" sz="1600" b="1" dirty="0" smtClean="0">
                <a:latin typeface="Arial MT"/>
                <a:cs typeface="Arial MT"/>
              </a:rPr>
              <a:t>Most Impactful Change Maker in Kano,</a:t>
            </a:r>
            <a:r>
              <a:rPr lang="en-US" sz="1600" dirty="0" smtClean="0">
                <a:latin typeface="Arial MT"/>
                <a:cs typeface="Arial MT"/>
              </a:rPr>
              <a:t> in recognition of her positive impact and contribution to the community.</a:t>
            </a:r>
            <a:endParaRPr sz="1600" dirty="0">
              <a:latin typeface="Calibri"/>
              <a:cs typeface="Calibri"/>
            </a:endParaRPr>
          </a:p>
        </p:txBody>
      </p:sp>
      <p:sp>
        <p:nvSpPr>
          <p:cNvPr id="5" name="object 5"/>
          <p:cNvSpPr txBox="1"/>
          <p:nvPr/>
        </p:nvSpPr>
        <p:spPr>
          <a:xfrm>
            <a:off x="427126" y="4376420"/>
            <a:ext cx="2644140" cy="878840"/>
          </a:xfrm>
          <a:prstGeom prst="rect">
            <a:avLst/>
          </a:prstGeom>
        </p:spPr>
        <p:txBody>
          <a:bodyPr vert="horz" wrap="square" lIns="0" tIns="12065" rIns="0" bIns="0" rtlCol="0">
            <a:spAutoFit/>
          </a:bodyPr>
          <a:lstStyle/>
          <a:p>
            <a:pPr marL="245745" marR="5080" indent="-233679">
              <a:lnSpc>
                <a:spcPct val="100000"/>
              </a:lnSpc>
              <a:spcBef>
                <a:spcPts val="95"/>
              </a:spcBef>
            </a:pPr>
            <a:r>
              <a:rPr sz="2800" b="1" dirty="0">
                <a:solidFill>
                  <a:srgbClr val="DA241D"/>
                </a:solidFill>
                <a:latin typeface="Calibri"/>
                <a:cs typeface="Calibri"/>
              </a:rPr>
              <a:t>Mrs.</a:t>
            </a:r>
            <a:r>
              <a:rPr sz="2800" b="1" spc="-110" dirty="0">
                <a:solidFill>
                  <a:srgbClr val="DA241D"/>
                </a:solidFill>
                <a:latin typeface="Calibri"/>
                <a:cs typeface="Calibri"/>
              </a:rPr>
              <a:t> </a:t>
            </a:r>
            <a:r>
              <a:rPr sz="2800" b="1" dirty="0">
                <a:solidFill>
                  <a:srgbClr val="DA241D"/>
                </a:solidFill>
                <a:latin typeface="Calibri"/>
                <a:cs typeface="Calibri"/>
              </a:rPr>
              <a:t>Ifeoma</a:t>
            </a:r>
            <a:r>
              <a:rPr sz="2800" b="1" spc="-95" dirty="0">
                <a:solidFill>
                  <a:srgbClr val="DA241D"/>
                </a:solidFill>
                <a:latin typeface="Calibri"/>
                <a:cs typeface="Calibri"/>
              </a:rPr>
              <a:t> </a:t>
            </a:r>
            <a:r>
              <a:rPr sz="2800" b="1" spc="-20" dirty="0">
                <a:solidFill>
                  <a:srgbClr val="DA241D"/>
                </a:solidFill>
                <a:latin typeface="Calibri"/>
                <a:cs typeface="Calibri"/>
              </a:rPr>
              <a:t>Uche </a:t>
            </a:r>
            <a:r>
              <a:rPr sz="2800" b="1" dirty="0">
                <a:solidFill>
                  <a:srgbClr val="DA241D"/>
                </a:solidFill>
                <a:latin typeface="Calibri"/>
                <a:cs typeface="Calibri"/>
              </a:rPr>
              <a:t>Manager</a:t>
            </a:r>
            <a:r>
              <a:rPr sz="2800" b="1" spc="-125" dirty="0">
                <a:solidFill>
                  <a:srgbClr val="DA241D"/>
                </a:solidFill>
                <a:latin typeface="Calibri"/>
                <a:cs typeface="Calibri"/>
              </a:rPr>
              <a:t> </a:t>
            </a:r>
            <a:r>
              <a:rPr sz="2800" b="1" spc="-20" dirty="0">
                <a:solidFill>
                  <a:srgbClr val="DA241D"/>
                </a:solidFill>
                <a:latin typeface="Calibri"/>
                <a:cs typeface="Calibri"/>
              </a:rPr>
              <a:t>Kano</a:t>
            </a:r>
            <a:endParaRPr sz="2800">
              <a:latin typeface="Calibri"/>
              <a:cs typeface="Calibri"/>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3018" y="792933"/>
            <a:ext cx="3051313" cy="347426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26614" y="112521"/>
            <a:ext cx="2794000" cy="696595"/>
          </a:xfrm>
          <a:prstGeom prst="rect">
            <a:avLst/>
          </a:prstGeom>
        </p:spPr>
        <p:txBody>
          <a:bodyPr vert="horz" wrap="square" lIns="0" tIns="12700" rIns="0" bIns="0" rtlCol="0">
            <a:spAutoFit/>
          </a:bodyPr>
          <a:lstStyle/>
          <a:p>
            <a:pPr marL="12700">
              <a:lnSpc>
                <a:spcPct val="100000"/>
              </a:lnSpc>
              <a:spcBef>
                <a:spcPts val="100"/>
              </a:spcBef>
            </a:pPr>
            <a:r>
              <a:rPr sz="4400" b="1" spc="-10" dirty="0">
                <a:solidFill>
                  <a:srgbClr val="DA241D"/>
                </a:solidFill>
                <a:latin typeface="Calibri"/>
                <a:cs typeface="Calibri"/>
              </a:rPr>
              <a:t>PERSONNEL</a:t>
            </a:r>
            <a:endParaRPr sz="4400">
              <a:latin typeface="Calibri"/>
              <a:cs typeface="Calibri"/>
            </a:endParaRPr>
          </a:p>
        </p:txBody>
      </p:sp>
      <p:sp>
        <p:nvSpPr>
          <p:cNvPr id="4" name="object 4"/>
          <p:cNvSpPr txBox="1"/>
          <p:nvPr/>
        </p:nvSpPr>
        <p:spPr>
          <a:xfrm>
            <a:off x="3637279" y="843534"/>
            <a:ext cx="5354320" cy="5146675"/>
          </a:xfrm>
          <a:prstGeom prst="rect">
            <a:avLst/>
          </a:prstGeom>
        </p:spPr>
        <p:txBody>
          <a:bodyPr vert="horz" wrap="square" lIns="0" tIns="12065" rIns="0" bIns="0" rtlCol="0">
            <a:spAutoFit/>
          </a:bodyPr>
          <a:lstStyle/>
          <a:p>
            <a:pPr marL="12700" marR="91440">
              <a:lnSpc>
                <a:spcPct val="100000"/>
              </a:lnSpc>
              <a:spcBef>
                <a:spcPts val="95"/>
              </a:spcBef>
            </a:pPr>
            <a:r>
              <a:rPr sz="1600" dirty="0">
                <a:latin typeface="Arial MT"/>
                <a:cs typeface="Arial MT"/>
              </a:rPr>
              <a:t>Mr.</a:t>
            </a:r>
            <a:r>
              <a:rPr sz="1600" spc="-30" dirty="0">
                <a:latin typeface="Arial MT"/>
                <a:cs typeface="Arial MT"/>
              </a:rPr>
              <a:t> </a:t>
            </a:r>
            <a:r>
              <a:rPr sz="1600" dirty="0">
                <a:latin typeface="Arial MT"/>
                <a:cs typeface="Arial MT"/>
              </a:rPr>
              <a:t>Mike</a:t>
            </a:r>
            <a:r>
              <a:rPr sz="1600" spc="-40" dirty="0">
                <a:latin typeface="Arial MT"/>
                <a:cs typeface="Arial MT"/>
              </a:rPr>
              <a:t> </a:t>
            </a:r>
            <a:r>
              <a:rPr sz="1600" dirty="0">
                <a:latin typeface="Arial MT"/>
                <a:cs typeface="Arial MT"/>
              </a:rPr>
              <a:t>Orife</a:t>
            </a:r>
            <a:r>
              <a:rPr sz="1600" spc="-25" dirty="0">
                <a:latin typeface="Arial MT"/>
                <a:cs typeface="Arial MT"/>
              </a:rPr>
              <a:t> </a:t>
            </a:r>
            <a:r>
              <a:rPr sz="1600" dirty="0">
                <a:latin typeface="Arial MT"/>
                <a:cs typeface="Arial MT"/>
              </a:rPr>
              <a:t>is</a:t>
            </a:r>
            <a:r>
              <a:rPr sz="1600" spc="-55" dirty="0">
                <a:latin typeface="Arial MT"/>
                <a:cs typeface="Arial MT"/>
              </a:rPr>
              <a:t> </a:t>
            </a:r>
            <a:r>
              <a:rPr sz="1600" dirty="0">
                <a:latin typeface="Arial MT"/>
                <a:cs typeface="Arial MT"/>
              </a:rPr>
              <a:t>the</a:t>
            </a:r>
            <a:r>
              <a:rPr sz="1600" spc="-35" dirty="0">
                <a:latin typeface="Arial MT"/>
                <a:cs typeface="Arial MT"/>
              </a:rPr>
              <a:t> </a:t>
            </a:r>
            <a:r>
              <a:rPr sz="1600" dirty="0">
                <a:latin typeface="Arial MT"/>
                <a:cs typeface="Arial MT"/>
              </a:rPr>
              <a:t>General</a:t>
            </a:r>
            <a:r>
              <a:rPr sz="1600" spc="-40" dirty="0">
                <a:latin typeface="Arial MT"/>
                <a:cs typeface="Arial MT"/>
              </a:rPr>
              <a:t> </a:t>
            </a:r>
            <a:r>
              <a:rPr sz="1600" spc="-10" dirty="0">
                <a:latin typeface="Arial MT"/>
                <a:cs typeface="Arial MT"/>
              </a:rPr>
              <a:t>Manager;</a:t>
            </a:r>
            <a:r>
              <a:rPr sz="1600" spc="-100" dirty="0">
                <a:latin typeface="Arial MT"/>
                <a:cs typeface="Arial MT"/>
              </a:rPr>
              <a:t> </a:t>
            </a:r>
            <a:r>
              <a:rPr sz="1600" dirty="0">
                <a:latin typeface="Arial MT"/>
                <a:cs typeface="Arial MT"/>
              </a:rPr>
              <a:t>Admin</a:t>
            </a:r>
            <a:r>
              <a:rPr sz="1600" spc="-50" dirty="0">
                <a:latin typeface="Arial MT"/>
                <a:cs typeface="Arial MT"/>
              </a:rPr>
              <a:t> </a:t>
            </a:r>
            <a:r>
              <a:rPr sz="1600" spc="-25" dirty="0">
                <a:latin typeface="Arial MT"/>
                <a:cs typeface="Arial MT"/>
              </a:rPr>
              <a:t>and </a:t>
            </a:r>
            <a:r>
              <a:rPr sz="1600" dirty="0">
                <a:latin typeface="Arial MT"/>
                <a:cs typeface="Arial MT"/>
              </a:rPr>
              <a:t>Operations</a:t>
            </a:r>
            <a:r>
              <a:rPr sz="1600" spc="-60" dirty="0">
                <a:latin typeface="Arial MT"/>
                <a:cs typeface="Arial MT"/>
              </a:rPr>
              <a:t> </a:t>
            </a:r>
            <a:r>
              <a:rPr sz="1600" dirty="0">
                <a:latin typeface="Arial MT"/>
                <a:cs typeface="Arial MT"/>
              </a:rPr>
              <a:t>for</a:t>
            </a:r>
            <a:r>
              <a:rPr sz="1600" spc="-75" dirty="0">
                <a:latin typeface="Arial MT"/>
                <a:cs typeface="Arial MT"/>
              </a:rPr>
              <a:t> </a:t>
            </a:r>
            <a:r>
              <a:rPr sz="1600" dirty="0">
                <a:latin typeface="Arial MT"/>
                <a:cs typeface="Arial MT"/>
              </a:rPr>
              <a:t>Outreach</a:t>
            </a:r>
            <a:r>
              <a:rPr sz="1600" spc="-45" dirty="0">
                <a:latin typeface="Arial MT"/>
                <a:cs typeface="Arial MT"/>
              </a:rPr>
              <a:t> </a:t>
            </a:r>
            <a:r>
              <a:rPr sz="1600" dirty="0">
                <a:latin typeface="Arial MT"/>
                <a:cs typeface="Arial MT"/>
              </a:rPr>
              <a:t>International</a:t>
            </a:r>
            <a:r>
              <a:rPr sz="1600" spc="-65" dirty="0">
                <a:latin typeface="Arial MT"/>
                <a:cs typeface="Arial MT"/>
              </a:rPr>
              <a:t> </a:t>
            </a:r>
            <a:r>
              <a:rPr sz="1600" dirty="0">
                <a:latin typeface="Arial MT"/>
                <a:cs typeface="Arial MT"/>
              </a:rPr>
              <a:t>Media</a:t>
            </a:r>
            <a:r>
              <a:rPr sz="1600" spc="-85" dirty="0">
                <a:latin typeface="Arial MT"/>
                <a:cs typeface="Arial MT"/>
              </a:rPr>
              <a:t> </a:t>
            </a:r>
            <a:r>
              <a:rPr sz="1600" spc="-10" dirty="0">
                <a:latin typeface="Arial MT"/>
                <a:cs typeface="Arial MT"/>
              </a:rPr>
              <a:t>Limited’s </a:t>
            </a:r>
            <a:r>
              <a:rPr sz="1600" dirty="0">
                <a:latin typeface="Arial MT"/>
                <a:cs typeface="Arial MT"/>
              </a:rPr>
              <a:t>Lagos</a:t>
            </a:r>
            <a:r>
              <a:rPr sz="1600" spc="-40" dirty="0">
                <a:latin typeface="Arial MT"/>
                <a:cs typeface="Arial MT"/>
              </a:rPr>
              <a:t> </a:t>
            </a:r>
            <a:r>
              <a:rPr sz="1600" dirty="0">
                <a:latin typeface="Arial MT"/>
                <a:cs typeface="Arial MT"/>
              </a:rPr>
              <a:t>office,</a:t>
            </a:r>
            <a:r>
              <a:rPr sz="1600" spc="-35" dirty="0">
                <a:latin typeface="Arial MT"/>
                <a:cs typeface="Arial MT"/>
              </a:rPr>
              <a:t> </a:t>
            </a:r>
            <a:r>
              <a:rPr sz="1600" dirty="0">
                <a:latin typeface="Arial MT"/>
                <a:cs typeface="Arial MT"/>
              </a:rPr>
              <a:t>bringing</a:t>
            </a:r>
            <a:r>
              <a:rPr sz="1600" spc="-35" dirty="0">
                <a:latin typeface="Arial MT"/>
                <a:cs typeface="Arial MT"/>
              </a:rPr>
              <a:t> </a:t>
            </a:r>
            <a:r>
              <a:rPr sz="1600" dirty="0">
                <a:latin typeface="Arial MT"/>
                <a:cs typeface="Arial MT"/>
              </a:rPr>
              <a:t>a</a:t>
            </a:r>
            <a:r>
              <a:rPr sz="1600" spc="-35" dirty="0">
                <a:latin typeface="Arial MT"/>
                <a:cs typeface="Arial MT"/>
              </a:rPr>
              <a:t> </a:t>
            </a:r>
            <a:r>
              <a:rPr sz="1600" dirty="0">
                <a:latin typeface="Arial MT"/>
                <a:cs typeface="Arial MT"/>
              </a:rPr>
              <a:t>wealth</a:t>
            </a:r>
            <a:r>
              <a:rPr sz="1600" spc="-20"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technical</a:t>
            </a:r>
            <a:r>
              <a:rPr sz="1600" spc="-40" dirty="0">
                <a:latin typeface="Arial MT"/>
                <a:cs typeface="Arial MT"/>
              </a:rPr>
              <a:t> </a:t>
            </a:r>
            <a:r>
              <a:rPr sz="1600" dirty="0">
                <a:latin typeface="Arial MT"/>
                <a:cs typeface="Arial MT"/>
              </a:rPr>
              <a:t>knowledge</a:t>
            </a:r>
            <a:r>
              <a:rPr sz="1600" spc="-50" dirty="0">
                <a:latin typeface="Arial MT"/>
                <a:cs typeface="Arial MT"/>
              </a:rPr>
              <a:t> </a:t>
            </a:r>
            <a:r>
              <a:rPr sz="1600" spc="-25" dirty="0">
                <a:latin typeface="Arial MT"/>
                <a:cs typeface="Arial MT"/>
              </a:rPr>
              <a:t>and </a:t>
            </a:r>
            <a:r>
              <a:rPr sz="1600" dirty="0">
                <a:latin typeface="Arial MT"/>
                <a:cs typeface="Arial MT"/>
              </a:rPr>
              <a:t>operational</a:t>
            </a:r>
            <a:r>
              <a:rPr sz="1600" spc="-45" dirty="0">
                <a:latin typeface="Arial MT"/>
                <a:cs typeface="Arial MT"/>
              </a:rPr>
              <a:t> </a:t>
            </a:r>
            <a:r>
              <a:rPr sz="1600" dirty="0">
                <a:latin typeface="Arial MT"/>
                <a:cs typeface="Arial MT"/>
              </a:rPr>
              <a:t>expertise</a:t>
            </a:r>
            <a:r>
              <a:rPr sz="1600" spc="-40" dirty="0">
                <a:latin typeface="Arial MT"/>
                <a:cs typeface="Arial MT"/>
              </a:rPr>
              <a:t> </a:t>
            </a:r>
            <a:r>
              <a:rPr sz="1600" dirty="0">
                <a:latin typeface="Arial MT"/>
                <a:cs typeface="Arial MT"/>
              </a:rPr>
              <a:t>to</a:t>
            </a:r>
            <a:r>
              <a:rPr sz="1600" spc="-45" dirty="0">
                <a:latin typeface="Arial MT"/>
                <a:cs typeface="Arial MT"/>
              </a:rPr>
              <a:t> </a:t>
            </a:r>
            <a:r>
              <a:rPr sz="1600" dirty="0">
                <a:latin typeface="Arial MT"/>
                <a:cs typeface="Arial MT"/>
              </a:rPr>
              <a:t>the</a:t>
            </a:r>
            <a:r>
              <a:rPr sz="1600" spc="-40" dirty="0">
                <a:latin typeface="Arial MT"/>
                <a:cs typeface="Arial MT"/>
              </a:rPr>
              <a:t> </a:t>
            </a:r>
            <a:r>
              <a:rPr sz="1600" spc="-10" dirty="0">
                <a:latin typeface="Arial MT"/>
                <a:cs typeface="Arial MT"/>
              </a:rPr>
              <a:t>role.</a:t>
            </a:r>
            <a:endParaRPr sz="1600" dirty="0">
              <a:latin typeface="Arial MT"/>
              <a:cs typeface="Arial MT"/>
            </a:endParaRPr>
          </a:p>
          <a:p>
            <a:pPr>
              <a:lnSpc>
                <a:spcPct val="100000"/>
              </a:lnSpc>
              <a:spcBef>
                <a:spcPts val="80"/>
              </a:spcBef>
            </a:pPr>
            <a:endParaRPr sz="1600" dirty="0">
              <a:latin typeface="Arial MT"/>
              <a:cs typeface="Arial MT"/>
            </a:endParaRPr>
          </a:p>
          <a:p>
            <a:pPr marL="12700" marR="198755">
              <a:lnSpc>
                <a:spcPct val="100000"/>
              </a:lnSpc>
            </a:pPr>
            <a:r>
              <a:rPr sz="1600" dirty="0">
                <a:latin typeface="Arial MT"/>
                <a:cs typeface="Arial MT"/>
              </a:rPr>
              <a:t>He</a:t>
            </a:r>
            <a:r>
              <a:rPr sz="1600" spc="-35" dirty="0">
                <a:latin typeface="Arial MT"/>
                <a:cs typeface="Arial MT"/>
              </a:rPr>
              <a:t> </a:t>
            </a:r>
            <a:r>
              <a:rPr sz="1600" dirty="0">
                <a:latin typeface="Arial MT"/>
                <a:cs typeface="Arial MT"/>
              </a:rPr>
              <a:t>earned</a:t>
            </a:r>
            <a:r>
              <a:rPr sz="1600" spc="-20" dirty="0">
                <a:latin typeface="Arial MT"/>
                <a:cs typeface="Arial MT"/>
              </a:rPr>
              <a:t> </a:t>
            </a:r>
            <a:r>
              <a:rPr sz="1600" dirty="0">
                <a:latin typeface="Arial MT"/>
                <a:cs typeface="Arial MT"/>
              </a:rPr>
              <a:t>his</a:t>
            </a:r>
            <a:r>
              <a:rPr sz="1600" spc="-30" dirty="0">
                <a:latin typeface="Arial MT"/>
                <a:cs typeface="Arial MT"/>
              </a:rPr>
              <a:t> </a:t>
            </a:r>
            <a:r>
              <a:rPr sz="1600" dirty="0">
                <a:latin typeface="Arial MT"/>
                <a:cs typeface="Arial MT"/>
              </a:rPr>
              <a:t>B.Sc.</a:t>
            </a:r>
            <a:r>
              <a:rPr sz="1600" spc="-30" dirty="0">
                <a:latin typeface="Arial MT"/>
                <a:cs typeface="Arial MT"/>
              </a:rPr>
              <a:t> </a:t>
            </a:r>
            <a:r>
              <a:rPr sz="1600" dirty="0">
                <a:latin typeface="Arial MT"/>
                <a:cs typeface="Arial MT"/>
              </a:rPr>
              <a:t>in</a:t>
            </a:r>
            <a:r>
              <a:rPr sz="1600" spc="-35" dirty="0">
                <a:latin typeface="Arial MT"/>
                <a:cs typeface="Arial MT"/>
              </a:rPr>
              <a:t> </a:t>
            </a:r>
            <a:r>
              <a:rPr sz="1600" dirty="0">
                <a:latin typeface="Arial MT"/>
                <a:cs typeface="Arial MT"/>
              </a:rPr>
              <a:t>Electronics</a:t>
            </a:r>
            <a:r>
              <a:rPr sz="1600" spc="-45" dirty="0">
                <a:latin typeface="Arial MT"/>
                <a:cs typeface="Arial MT"/>
              </a:rPr>
              <a:t> </a:t>
            </a:r>
            <a:r>
              <a:rPr sz="1600" dirty="0">
                <a:latin typeface="Arial MT"/>
                <a:cs typeface="Arial MT"/>
              </a:rPr>
              <a:t>and</a:t>
            </a:r>
            <a:r>
              <a:rPr sz="1600" spc="-35" dirty="0">
                <a:latin typeface="Arial MT"/>
                <a:cs typeface="Arial MT"/>
              </a:rPr>
              <a:t> </a:t>
            </a:r>
            <a:r>
              <a:rPr sz="1600" spc="-10" dirty="0">
                <a:latin typeface="Arial MT"/>
                <a:cs typeface="Arial MT"/>
              </a:rPr>
              <a:t>Computer </a:t>
            </a:r>
            <a:r>
              <a:rPr sz="1600" dirty="0">
                <a:latin typeface="Arial MT"/>
                <a:cs typeface="Arial MT"/>
              </a:rPr>
              <a:t>Engineering</a:t>
            </a:r>
            <a:r>
              <a:rPr sz="1600" spc="-55" dirty="0">
                <a:latin typeface="Arial MT"/>
                <a:cs typeface="Arial MT"/>
              </a:rPr>
              <a:t> </a:t>
            </a:r>
            <a:r>
              <a:rPr sz="1600" dirty="0">
                <a:latin typeface="Arial MT"/>
                <a:cs typeface="Arial MT"/>
              </a:rPr>
              <a:t>from</a:t>
            </a:r>
            <a:r>
              <a:rPr sz="1600" spc="-25" dirty="0">
                <a:latin typeface="Arial MT"/>
                <a:cs typeface="Arial MT"/>
              </a:rPr>
              <a:t> </a:t>
            </a:r>
            <a:r>
              <a:rPr sz="1600" dirty="0">
                <a:latin typeface="Arial MT"/>
                <a:cs typeface="Arial MT"/>
              </a:rPr>
              <a:t>Lagos</a:t>
            </a:r>
            <a:r>
              <a:rPr sz="1600" spc="-40" dirty="0">
                <a:latin typeface="Arial MT"/>
                <a:cs typeface="Arial MT"/>
              </a:rPr>
              <a:t> </a:t>
            </a:r>
            <a:r>
              <a:rPr sz="1600" dirty="0">
                <a:latin typeface="Arial MT"/>
                <a:cs typeface="Arial MT"/>
              </a:rPr>
              <a:t>State</a:t>
            </a:r>
            <a:r>
              <a:rPr sz="1600" spc="-35" dirty="0">
                <a:latin typeface="Arial MT"/>
                <a:cs typeface="Arial MT"/>
              </a:rPr>
              <a:t> </a:t>
            </a:r>
            <a:r>
              <a:rPr sz="1600" dirty="0">
                <a:latin typeface="Arial MT"/>
                <a:cs typeface="Arial MT"/>
              </a:rPr>
              <a:t>University</a:t>
            </a:r>
            <a:r>
              <a:rPr sz="1600" spc="-55" dirty="0">
                <a:latin typeface="Arial MT"/>
                <a:cs typeface="Arial MT"/>
              </a:rPr>
              <a:t> </a:t>
            </a:r>
            <a:r>
              <a:rPr sz="1600" dirty="0">
                <a:latin typeface="Arial MT"/>
                <a:cs typeface="Arial MT"/>
              </a:rPr>
              <a:t>(LASU)</a:t>
            </a:r>
            <a:r>
              <a:rPr sz="1600" spc="-35" dirty="0">
                <a:latin typeface="Arial MT"/>
                <a:cs typeface="Arial MT"/>
              </a:rPr>
              <a:t> </a:t>
            </a:r>
            <a:r>
              <a:rPr sz="1600" dirty="0">
                <a:latin typeface="Arial MT"/>
                <a:cs typeface="Arial MT"/>
              </a:rPr>
              <a:t>in</a:t>
            </a:r>
            <a:r>
              <a:rPr sz="1600" spc="-50" dirty="0">
                <a:latin typeface="Arial MT"/>
                <a:cs typeface="Arial MT"/>
              </a:rPr>
              <a:t> </a:t>
            </a:r>
            <a:r>
              <a:rPr sz="1600" spc="-10" dirty="0">
                <a:latin typeface="Arial MT"/>
                <a:cs typeface="Arial MT"/>
              </a:rPr>
              <a:t>1997.</a:t>
            </a:r>
            <a:endParaRPr sz="1600" dirty="0">
              <a:latin typeface="Arial MT"/>
              <a:cs typeface="Arial MT"/>
            </a:endParaRPr>
          </a:p>
          <a:p>
            <a:pPr>
              <a:lnSpc>
                <a:spcPct val="100000"/>
              </a:lnSpc>
              <a:spcBef>
                <a:spcPts val="80"/>
              </a:spcBef>
            </a:pPr>
            <a:endParaRPr sz="1600" dirty="0">
              <a:latin typeface="Arial MT"/>
              <a:cs typeface="Arial MT"/>
            </a:endParaRPr>
          </a:p>
          <a:p>
            <a:pPr marL="12700" marR="5080">
              <a:lnSpc>
                <a:spcPct val="100000"/>
              </a:lnSpc>
            </a:pPr>
            <a:r>
              <a:rPr sz="1600" dirty="0">
                <a:latin typeface="Arial MT"/>
                <a:cs typeface="Arial MT"/>
              </a:rPr>
              <a:t>Prior</a:t>
            </a:r>
            <a:r>
              <a:rPr sz="1600" spc="-40" dirty="0">
                <a:latin typeface="Arial MT"/>
                <a:cs typeface="Arial MT"/>
              </a:rPr>
              <a:t> </a:t>
            </a:r>
            <a:r>
              <a:rPr sz="1600" dirty="0">
                <a:latin typeface="Arial MT"/>
                <a:cs typeface="Arial MT"/>
              </a:rPr>
              <a:t>to</a:t>
            </a:r>
            <a:r>
              <a:rPr sz="1600" spc="-35" dirty="0">
                <a:latin typeface="Arial MT"/>
                <a:cs typeface="Arial MT"/>
              </a:rPr>
              <a:t> </a:t>
            </a:r>
            <a:r>
              <a:rPr sz="1600" dirty="0">
                <a:latin typeface="Arial MT"/>
                <a:cs typeface="Arial MT"/>
              </a:rPr>
              <a:t>joining</a:t>
            </a:r>
            <a:r>
              <a:rPr sz="1600" spc="-70" dirty="0">
                <a:latin typeface="Arial MT"/>
                <a:cs typeface="Arial MT"/>
              </a:rPr>
              <a:t> </a:t>
            </a:r>
            <a:r>
              <a:rPr sz="1600" dirty="0">
                <a:latin typeface="Arial MT"/>
                <a:cs typeface="Arial MT"/>
              </a:rPr>
              <a:t>Outreach</a:t>
            </a:r>
            <a:r>
              <a:rPr sz="1600" spc="-20" dirty="0">
                <a:latin typeface="Arial MT"/>
                <a:cs typeface="Arial MT"/>
              </a:rPr>
              <a:t> </a:t>
            </a:r>
            <a:r>
              <a:rPr sz="1600" dirty="0">
                <a:latin typeface="Arial MT"/>
                <a:cs typeface="Arial MT"/>
              </a:rPr>
              <a:t>International</a:t>
            </a:r>
            <a:r>
              <a:rPr sz="1600" spc="-30" dirty="0">
                <a:latin typeface="Arial MT"/>
                <a:cs typeface="Arial MT"/>
              </a:rPr>
              <a:t> </a:t>
            </a:r>
            <a:r>
              <a:rPr sz="1600" dirty="0">
                <a:latin typeface="Arial MT"/>
                <a:cs typeface="Arial MT"/>
              </a:rPr>
              <a:t>Media</a:t>
            </a:r>
            <a:r>
              <a:rPr sz="1600" spc="-45" dirty="0">
                <a:latin typeface="Arial MT"/>
                <a:cs typeface="Arial MT"/>
              </a:rPr>
              <a:t> </a:t>
            </a:r>
            <a:r>
              <a:rPr sz="1600" dirty="0">
                <a:latin typeface="Arial MT"/>
                <a:cs typeface="Arial MT"/>
              </a:rPr>
              <a:t>Limited</a:t>
            </a:r>
            <a:r>
              <a:rPr sz="1600" spc="-45" dirty="0">
                <a:latin typeface="Arial MT"/>
                <a:cs typeface="Arial MT"/>
              </a:rPr>
              <a:t> </a:t>
            </a:r>
            <a:r>
              <a:rPr sz="1600" spc="-25" dirty="0">
                <a:latin typeface="Arial MT"/>
                <a:cs typeface="Arial MT"/>
              </a:rPr>
              <a:t>in </a:t>
            </a:r>
            <a:r>
              <a:rPr sz="1600" dirty="0">
                <a:latin typeface="Arial MT"/>
                <a:cs typeface="Arial MT"/>
              </a:rPr>
              <a:t>2012,</a:t>
            </a:r>
            <a:r>
              <a:rPr sz="1600" spc="-45" dirty="0">
                <a:latin typeface="Arial MT"/>
                <a:cs typeface="Arial MT"/>
              </a:rPr>
              <a:t> </a:t>
            </a:r>
            <a:r>
              <a:rPr sz="1600" dirty="0">
                <a:latin typeface="Arial MT"/>
                <a:cs typeface="Arial MT"/>
              </a:rPr>
              <a:t>Mr.</a:t>
            </a:r>
            <a:r>
              <a:rPr sz="1600" spc="-35" dirty="0">
                <a:latin typeface="Arial MT"/>
                <a:cs typeface="Arial MT"/>
              </a:rPr>
              <a:t> </a:t>
            </a:r>
            <a:r>
              <a:rPr sz="1600" dirty="0">
                <a:latin typeface="Arial MT"/>
                <a:cs typeface="Arial MT"/>
              </a:rPr>
              <a:t>Mike</a:t>
            </a:r>
            <a:r>
              <a:rPr sz="1600" spc="-60" dirty="0">
                <a:latin typeface="Arial MT"/>
                <a:cs typeface="Arial MT"/>
              </a:rPr>
              <a:t> </a:t>
            </a:r>
            <a:r>
              <a:rPr sz="1600" dirty="0">
                <a:latin typeface="Arial MT"/>
                <a:cs typeface="Arial MT"/>
              </a:rPr>
              <a:t>Orife</a:t>
            </a:r>
            <a:r>
              <a:rPr sz="1600" spc="-20" dirty="0">
                <a:latin typeface="Arial MT"/>
                <a:cs typeface="Arial MT"/>
              </a:rPr>
              <a:t> </a:t>
            </a:r>
            <a:r>
              <a:rPr sz="1600" dirty="0">
                <a:latin typeface="Arial MT"/>
                <a:cs typeface="Arial MT"/>
              </a:rPr>
              <a:t>gained</a:t>
            </a:r>
            <a:r>
              <a:rPr sz="1600" spc="-65" dirty="0">
                <a:latin typeface="Arial MT"/>
                <a:cs typeface="Arial MT"/>
              </a:rPr>
              <a:t> </a:t>
            </a:r>
            <a:r>
              <a:rPr sz="1600" dirty="0">
                <a:latin typeface="Arial MT"/>
                <a:cs typeface="Arial MT"/>
              </a:rPr>
              <a:t>extensive</a:t>
            </a:r>
            <a:r>
              <a:rPr sz="1600" spc="-60" dirty="0">
                <a:latin typeface="Arial MT"/>
                <a:cs typeface="Arial MT"/>
              </a:rPr>
              <a:t> </a:t>
            </a:r>
            <a:r>
              <a:rPr sz="1600" dirty="0">
                <a:latin typeface="Arial MT"/>
                <a:cs typeface="Arial MT"/>
              </a:rPr>
              <a:t>experience</a:t>
            </a:r>
            <a:r>
              <a:rPr sz="1600" spc="-45" dirty="0">
                <a:latin typeface="Arial MT"/>
                <a:cs typeface="Arial MT"/>
              </a:rPr>
              <a:t> </a:t>
            </a:r>
            <a:r>
              <a:rPr sz="1600" spc="-25" dirty="0">
                <a:latin typeface="Arial MT"/>
                <a:cs typeface="Arial MT"/>
              </a:rPr>
              <a:t>in </a:t>
            </a:r>
            <a:r>
              <a:rPr sz="1600" dirty="0">
                <a:latin typeface="Arial MT"/>
                <a:cs typeface="Arial MT"/>
              </a:rPr>
              <a:t>Information</a:t>
            </a:r>
            <a:r>
              <a:rPr sz="1600" spc="-60" dirty="0">
                <a:latin typeface="Arial MT"/>
                <a:cs typeface="Arial MT"/>
              </a:rPr>
              <a:t> </a:t>
            </a:r>
            <a:r>
              <a:rPr sz="1600" spc="-30" dirty="0">
                <a:latin typeface="Arial MT"/>
                <a:cs typeface="Arial MT"/>
              </a:rPr>
              <a:t>Technology,</a:t>
            </a:r>
            <a:r>
              <a:rPr sz="1600" spc="-35" dirty="0">
                <a:latin typeface="Arial MT"/>
                <a:cs typeface="Arial MT"/>
              </a:rPr>
              <a:t> </a:t>
            </a:r>
            <a:r>
              <a:rPr sz="1600" dirty="0">
                <a:latin typeface="Arial MT"/>
                <a:cs typeface="Arial MT"/>
              </a:rPr>
              <a:t>working</a:t>
            </a:r>
            <a:r>
              <a:rPr sz="1600" spc="-60" dirty="0">
                <a:latin typeface="Arial MT"/>
                <a:cs typeface="Arial MT"/>
              </a:rPr>
              <a:t> </a:t>
            </a:r>
            <a:r>
              <a:rPr sz="1600" dirty="0">
                <a:latin typeface="Arial MT"/>
                <a:cs typeface="Arial MT"/>
              </a:rPr>
              <a:t>with</a:t>
            </a:r>
            <a:r>
              <a:rPr sz="1600" spc="-45" dirty="0">
                <a:latin typeface="Arial MT"/>
                <a:cs typeface="Arial MT"/>
              </a:rPr>
              <a:t> </a:t>
            </a:r>
            <a:r>
              <a:rPr sz="1600" dirty="0">
                <a:latin typeface="Arial MT"/>
                <a:cs typeface="Arial MT"/>
              </a:rPr>
              <a:t>multiple</a:t>
            </a:r>
            <a:r>
              <a:rPr sz="1600" spc="-65" dirty="0">
                <a:latin typeface="Arial MT"/>
                <a:cs typeface="Arial MT"/>
              </a:rPr>
              <a:t> </a:t>
            </a:r>
            <a:r>
              <a:rPr sz="1600" spc="-10" dirty="0">
                <a:latin typeface="Arial MT"/>
                <a:cs typeface="Arial MT"/>
              </a:rPr>
              <a:t>organizations </a:t>
            </a:r>
            <a:r>
              <a:rPr sz="1600" dirty="0">
                <a:latin typeface="Arial MT"/>
                <a:cs typeface="Arial MT"/>
              </a:rPr>
              <a:t>where</a:t>
            </a:r>
            <a:r>
              <a:rPr sz="1600" spc="-15" dirty="0">
                <a:latin typeface="Arial MT"/>
                <a:cs typeface="Arial MT"/>
              </a:rPr>
              <a:t> </a:t>
            </a:r>
            <a:r>
              <a:rPr sz="1600" dirty="0">
                <a:latin typeface="Arial MT"/>
                <a:cs typeface="Arial MT"/>
              </a:rPr>
              <a:t>he</a:t>
            </a:r>
            <a:r>
              <a:rPr sz="1600" spc="-30" dirty="0">
                <a:latin typeface="Arial MT"/>
                <a:cs typeface="Arial MT"/>
              </a:rPr>
              <a:t> </a:t>
            </a:r>
            <a:r>
              <a:rPr sz="1600" dirty="0">
                <a:latin typeface="Arial MT"/>
                <a:cs typeface="Arial MT"/>
              </a:rPr>
              <a:t>honed</a:t>
            </a:r>
            <a:r>
              <a:rPr sz="1600" spc="-20" dirty="0">
                <a:latin typeface="Arial MT"/>
                <a:cs typeface="Arial MT"/>
              </a:rPr>
              <a:t> </a:t>
            </a:r>
            <a:r>
              <a:rPr sz="1600" dirty="0">
                <a:latin typeface="Arial MT"/>
                <a:cs typeface="Arial MT"/>
              </a:rPr>
              <a:t>his</a:t>
            </a:r>
            <a:r>
              <a:rPr sz="1600" spc="-35" dirty="0">
                <a:latin typeface="Arial MT"/>
                <a:cs typeface="Arial MT"/>
              </a:rPr>
              <a:t> </a:t>
            </a:r>
            <a:r>
              <a:rPr sz="1600" dirty="0">
                <a:latin typeface="Arial MT"/>
                <a:cs typeface="Arial MT"/>
              </a:rPr>
              <a:t>skills</a:t>
            </a:r>
            <a:r>
              <a:rPr sz="1600" spc="-60" dirty="0">
                <a:latin typeface="Arial MT"/>
                <a:cs typeface="Arial MT"/>
              </a:rPr>
              <a:t> </a:t>
            </a:r>
            <a:r>
              <a:rPr sz="1600" dirty="0">
                <a:latin typeface="Arial MT"/>
                <a:cs typeface="Arial MT"/>
              </a:rPr>
              <a:t>in</a:t>
            </a:r>
            <a:r>
              <a:rPr sz="1600" spc="-35" dirty="0">
                <a:latin typeface="Arial MT"/>
                <a:cs typeface="Arial MT"/>
              </a:rPr>
              <a:t> </a:t>
            </a:r>
            <a:r>
              <a:rPr sz="1600" dirty="0">
                <a:latin typeface="Arial MT"/>
                <a:cs typeface="Arial MT"/>
              </a:rPr>
              <a:t>systems </a:t>
            </a:r>
            <a:r>
              <a:rPr sz="1600" spc="-10" dirty="0">
                <a:latin typeface="Arial MT"/>
                <a:cs typeface="Arial MT"/>
              </a:rPr>
              <a:t>management,</a:t>
            </a:r>
            <a:r>
              <a:rPr sz="1600" spc="500" dirty="0">
                <a:latin typeface="Arial MT"/>
                <a:cs typeface="Arial MT"/>
              </a:rPr>
              <a:t> </a:t>
            </a:r>
            <a:r>
              <a:rPr sz="1600" dirty="0">
                <a:latin typeface="Arial MT"/>
                <a:cs typeface="Arial MT"/>
              </a:rPr>
              <a:t>process</a:t>
            </a:r>
            <a:r>
              <a:rPr sz="1600" spc="-25" dirty="0">
                <a:latin typeface="Arial MT"/>
                <a:cs typeface="Arial MT"/>
              </a:rPr>
              <a:t> </a:t>
            </a:r>
            <a:r>
              <a:rPr sz="1600" spc="-10" dirty="0">
                <a:latin typeface="Arial MT"/>
                <a:cs typeface="Arial MT"/>
              </a:rPr>
              <a:t>optimization,</a:t>
            </a:r>
            <a:r>
              <a:rPr sz="1600" spc="-30" dirty="0">
                <a:latin typeface="Arial MT"/>
                <a:cs typeface="Arial MT"/>
              </a:rPr>
              <a:t> </a:t>
            </a:r>
            <a:r>
              <a:rPr sz="1600" dirty="0">
                <a:latin typeface="Arial MT"/>
                <a:cs typeface="Arial MT"/>
              </a:rPr>
              <a:t>and</a:t>
            </a:r>
            <a:r>
              <a:rPr sz="1600" spc="-25" dirty="0">
                <a:latin typeface="Arial MT"/>
                <a:cs typeface="Arial MT"/>
              </a:rPr>
              <a:t> </a:t>
            </a:r>
            <a:r>
              <a:rPr sz="1600" dirty="0">
                <a:latin typeface="Arial MT"/>
                <a:cs typeface="Arial MT"/>
              </a:rPr>
              <a:t>technical</a:t>
            </a:r>
            <a:r>
              <a:rPr sz="1600" spc="-50" dirty="0">
                <a:latin typeface="Arial MT"/>
                <a:cs typeface="Arial MT"/>
              </a:rPr>
              <a:t> </a:t>
            </a:r>
            <a:r>
              <a:rPr sz="1600" spc="-10" dirty="0">
                <a:latin typeface="Arial MT"/>
                <a:cs typeface="Arial MT"/>
              </a:rPr>
              <a:t>operations.</a:t>
            </a:r>
            <a:endParaRPr sz="1600" dirty="0">
              <a:latin typeface="Arial MT"/>
              <a:cs typeface="Arial MT"/>
            </a:endParaRPr>
          </a:p>
          <a:p>
            <a:pPr>
              <a:lnSpc>
                <a:spcPct val="100000"/>
              </a:lnSpc>
              <a:spcBef>
                <a:spcPts val="85"/>
              </a:spcBef>
            </a:pPr>
            <a:endParaRPr sz="1600" dirty="0">
              <a:latin typeface="Arial MT"/>
              <a:cs typeface="Arial MT"/>
            </a:endParaRPr>
          </a:p>
          <a:p>
            <a:pPr marL="12700" marR="25400">
              <a:lnSpc>
                <a:spcPct val="100000"/>
              </a:lnSpc>
            </a:pPr>
            <a:r>
              <a:rPr sz="1600" dirty="0">
                <a:latin typeface="Arial MT"/>
                <a:cs typeface="Arial MT"/>
              </a:rPr>
              <a:t>Since</a:t>
            </a:r>
            <a:r>
              <a:rPr sz="1600" spc="-45" dirty="0">
                <a:latin typeface="Arial MT"/>
                <a:cs typeface="Arial MT"/>
              </a:rPr>
              <a:t> </a:t>
            </a:r>
            <a:r>
              <a:rPr sz="1600" dirty="0">
                <a:latin typeface="Arial MT"/>
                <a:cs typeface="Arial MT"/>
              </a:rPr>
              <a:t>joining</a:t>
            </a:r>
            <a:r>
              <a:rPr sz="1600" spc="-60" dirty="0">
                <a:latin typeface="Arial MT"/>
                <a:cs typeface="Arial MT"/>
              </a:rPr>
              <a:t> </a:t>
            </a:r>
            <a:r>
              <a:rPr sz="1600" dirty="0">
                <a:latin typeface="Arial MT"/>
                <a:cs typeface="Arial MT"/>
              </a:rPr>
              <a:t>Outreach,</a:t>
            </a:r>
            <a:r>
              <a:rPr sz="1600" spc="-5" dirty="0">
                <a:latin typeface="Arial MT"/>
                <a:cs typeface="Arial MT"/>
              </a:rPr>
              <a:t> </a:t>
            </a:r>
            <a:r>
              <a:rPr sz="1600" dirty="0">
                <a:latin typeface="Arial MT"/>
                <a:cs typeface="Arial MT"/>
              </a:rPr>
              <a:t>he</a:t>
            </a:r>
            <a:r>
              <a:rPr sz="1600" spc="-35" dirty="0">
                <a:latin typeface="Arial MT"/>
                <a:cs typeface="Arial MT"/>
              </a:rPr>
              <a:t> </a:t>
            </a:r>
            <a:r>
              <a:rPr sz="1600" dirty="0">
                <a:latin typeface="Arial MT"/>
                <a:cs typeface="Arial MT"/>
              </a:rPr>
              <a:t>has</a:t>
            </a:r>
            <a:r>
              <a:rPr sz="1600" spc="-40" dirty="0">
                <a:latin typeface="Arial MT"/>
                <a:cs typeface="Arial MT"/>
              </a:rPr>
              <a:t> </a:t>
            </a:r>
            <a:r>
              <a:rPr sz="1600" dirty="0">
                <a:latin typeface="Arial MT"/>
                <a:cs typeface="Arial MT"/>
              </a:rPr>
              <a:t>been</a:t>
            </a:r>
            <a:r>
              <a:rPr sz="1600" spc="-35" dirty="0">
                <a:latin typeface="Arial MT"/>
                <a:cs typeface="Arial MT"/>
              </a:rPr>
              <a:t> </a:t>
            </a:r>
            <a:r>
              <a:rPr sz="1600" dirty="0">
                <a:latin typeface="Arial MT"/>
                <a:cs typeface="Arial MT"/>
              </a:rPr>
              <a:t>instrumental</a:t>
            </a:r>
            <a:r>
              <a:rPr sz="1600" spc="-25" dirty="0">
                <a:latin typeface="Arial MT"/>
                <a:cs typeface="Arial MT"/>
              </a:rPr>
              <a:t> in </a:t>
            </a:r>
            <a:r>
              <a:rPr sz="1600" dirty="0">
                <a:latin typeface="Arial MT"/>
                <a:cs typeface="Arial MT"/>
              </a:rPr>
              <a:t>streamlining</a:t>
            </a:r>
            <a:r>
              <a:rPr sz="1600" spc="-90" dirty="0">
                <a:latin typeface="Arial MT"/>
                <a:cs typeface="Arial MT"/>
              </a:rPr>
              <a:t> </a:t>
            </a:r>
            <a:r>
              <a:rPr sz="1600" dirty="0">
                <a:latin typeface="Arial MT"/>
                <a:cs typeface="Arial MT"/>
              </a:rPr>
              <a:t>operational</a:t>
            </a:r>
            <a:r>
              <a:rPr sz="1600" spc="-75" dirty="0">
                <a:latin typeface="Arial MT"/>
                <a:cs typeface="Arial MT"/>
              </a:rPr>
              <a:t> </a:t>
            </a:r>
            <a:r>
              <a:rPr sz="1600" dirty="0">
                <a:latin typeface="Arial MT"/>
                <a:cs typeface="Arial MT"/>
              </a:rPr>
              <a:t>processes,</a:t>
            </a:r>
            <a:r>
              <a:rPr sz="1600" spc="-80" dirty="0">
                <a:latin typeface="Arial MT"/>
                <a:cs typeface="Arial MT"/>
              </a:rPr>
              <a:t> </a:t>
            </a:r>
            <a:r>
              <a:rPr sz="1600" dirty="0">
                <a:latin typeface="Arial MT"/>
                <a:cs typeface="Arial MT"/>
              </a:rPr>
              <a:t>enhancing</a:t>
            </a:r>
            <a:r>
              <a:rPr sz="1600" spc="-90" dirty="0">
                <a:latin typeface="Arial MT"/>
                <a:cs typeface="Arial MT"/>
              </a:rPr>
              <a:t> </a:t>
            </a:r>
            <a:r>
              <a:rPr sz="1600" spc="-10" dirty="0">
                <a:latin typeface="Arial MT"/>
                <a:cs typeface="Arial MT"/>
              </a:rPr>
              <a:t>efficiency, </a:t>
            </a:r>
            <a:r>
              <a:rPr sz="1600" dirty="0">
                <a:latin typeface="Arial MT"/>
                <a:cs typeface="Arial MT"/>
              </a:rPr>
              <a:t>and</a:t>
            </a:r>
            <a:r>
              <a:rPr sz="1600" spc="-55" dirty="0">
                <a:latin typeface="Arial MT"/>
                <a:cs typeface="Arial MT"/>
              </a:rPr>
              <a:t> </a:t>
            </a:r>
            <a:r>
              <a:rPr sz="1600" dirty="0">
                <a:latin typeface="Arial MT"/>
                <a:cs typeface="Arial MT"/>
              </a:rPr>
              <a:t>ensuring</a:t>
            </a:r>
            <a:r>
              <a:rPr sz="1600" spc="-55" dirty="0">
                <a:latin typeface="Arial MT"/>
                <a:cs typeface="Arial MT"/>
              </a:rPr>
              <a:t> </a:t>
            </a:r>
            <a:r>
              <a:rPr sz="1600" dirty="0">
                <a:latin typeface="Arial MT"/>
                <a:cs typeface="Arial MT"/>
              </a:rPr>
              <a:t>seamless</a:t>
            </a:r>
            <a:r>
              <a:rPr sz="1600" spc="-55" dirty="0">
                <a:latin typeface="Arial MT"/>
                <a:cs typeface="Arial MT"/>
              </a:rPr>
              <a:t> </a:t>
            </a:r>
            <a:r>
              <a:rPr sz="1600" dirty="0">
                <a:latin typeface="Arial MT"/>
                <a:cs typeface="Arial MT"/>
              </a:rPr>
              <a:t>execution</a:t>
            </a:r>
            <a:r>
              <a:rPr sz="1600" spc="-40" dirty="0">
                <a:latin typeface="Arial MT"/>
                <a:cs typeface="Arial MT"/>
              </a:rPr>
              <a:t> </a:t>
            </a:r>
            <a:r>
              <a:rPr sz="1600" dirty="0">
                <a:latin typeface="Arial MT"/>
                <a:cs typeface="Arial MT"/>
              </a:rPr>
              <a:t>of</a:t>
            </a:r>
            <a:r>
              <a:rPr sz="1600" spc="-40" dirty="0">
                <a:latin typeface="Arial MT"/>
                <a:cs typeface="Arial MT"/>
              </a:rPr>
              <a:t> </a:t>
            </a:r>
            <a:r>
              <a:rPr sz="1600" dirty="0">
                <a:latin typeface="Arial MT"/>
                <a:cs typeface="Arial MT"/>
              </a:rPr>
              <a:t>projects</a:t>
            </a:r>
            <a:r>
              <a:rPr sz="1600" spc="-50" dirty="0">
                <a:latin typeface="Arial MT"/>
                <a:cs typeface="Arial MT"/>
              </a:rPr>
              <a:t> </a:t>
            </a:r>
            <a:r>
              <a:rPr sz="1600" dirty="0">
                <a:latin typeface="Arial MT"/>
                <a:cs typeface="Arial MT"/>
              </a:rPr>
              <a:t>across</a:t>
            </a:r>
            <a:r>
              <a:rPr sz="1600" spc="-45" dirty="0">
                <a:latin typeface="Arial MT"/>
                <a:cs typeface="Arial MT"/>
              </a:rPr>
              <a:t> </a:t>
            </a:r>
            <a:r>
              <a:rPr sz="1600" spc="-25" dirty="0">
                <a:latin typeface="Arial MT"/>
                <a:cs typeface="Arial MT"/>
              </a:rPr>
              <a:t>the </a:t>
            </a:r>
            <a:r>
              <a:rPr sz="1600" dirty="0">
                <a:latin typeface="Arial MT"/>
                <a:cs typeface="Arial MT"/>
              </a:rPr>
              <a:t>South</a:t>
            </a:r>
            <a:r>
              <a:rPr sz="1600" spc="-50" dirty="0">
                <a:latin typeface="Arial MT"/>
                <a:cs typeface="Arial MT"/>
              </a:rPr>
              <a:t> </a:t>
            </a:r>
            <a:r>
              <a:rPr sz="1600" dirty="0">
                <a:latin typeface="Arial MT"/>
                <a:cs typeface="Arial MT"/>
              </a:rPr>
              <a:t>West,</a:t>
            </a:r>
            <a:r>
              <a:rPr sz="1600" spc="-35" dirty="0">
                <a:latin typeface="Arial MT"/>
                <a:cs typeface="Arial MT"/>
              </a:rPr>
              <a:t> </a:t>
            </a:r>
            <a:r>
              <a:rPr sz="1600" dirty="0">
                <a:latin typeface="Arial MT"/>
                <a:cs typeface="Arial MT"/>
              </a:rPr>
              <a:t>South</a:t>
            </a:r>
            <a:r>
              <a:rPr sz="1600" spc="-35" dirty="0">
                <a:latin typeface="Arial MT"/>
                <a:cs typeface="Arial MT"/>
              </a:rPr>
              <a:t> </a:t>
            </a:r>
            <a:r>
              <a:rPr sz="1600" dirty="0">
                <a:latin typeface="Arial MT"/>
                <a:cs typeface="Arial MT"/>
              </a:rPr>
              <a:t>South,</a:t>
            </a:r>
            <a:r>
              <a:rPr sz="1600" spc="-35" dirty="0">
                <a:latin typeface="Arial MT"/>
                <a:cs typeface="Arial MT"/>
              </a:rPr>
              <a:t> </a:t>
            </a:r>
            <a:r>
              <a:rPr sz="1600" dirty="0">
                <a:latin typeface="Arial MT"/>
                <a:cs typeface="Arial MT"/>
              </a:rPr>
              <a:t>and</a:t>
            </a:r>
            <a:r>
              <a:rPr sz="1600" spc="-45" dirty="0">
                <a:latin typeface="Arial MT"/>
                <a:cs typeface="Arial MT"/>
              </a:rPr>
              <a:t> </a:t>
            </a:r>
            <a:r>
              <a:rPr sz="1600" dirty="0">
                <a:latin typeface="Arial MT"/>
                <a:cs typeface="Arial MT"/>
              </a:rPr>
              <a:t>South</a:t>
            </a:r>
            <a:r>
              <a:rPr sz="1600" spc="-50" dirty="0">
                <a:latin typeface="Arial MT"/>
                <a:cs typeface="Arial MT"/>
              </a:rPr>
              <a:t> </a:t>
            </a:r>
            <a:r>
              <a:rPr sz="1600" dirty="0">
                <a:latin typeface="Arial MT"/>
                <a:cs typeface="Arial MT"/>
              </a:rPr>
              <a:t>East.</a:t>
            </a:r>
            <a:r>
              <a:rPr sz="1600" spc="-35" dirty="0">
                <a:latin typeface="Arial MT"/>
                <a:cs typeface="Arial MT"/>
              </a:rPr>
              <a:t> </a:t>
            </a:r>
            <a:r>
              <a:rPr sz="1600" dirty="0">
                <a:latin typeface="Arial MT"/>
                <a:cs typeface="Arial MT"/>
              </a:rPr>
              <a:t>Mr.</a:t>
            </a:r>
            <a:r>
              <a:rPr sz="1600" spc="-30" dirty="0">
                <a:latin typeface="Arial MT"/>
                <a:cs typeface="Arial MT"/>
              </a:rPr>
              <a:t> </a:t>
            </a:r>
            <a:r>
              <a:rPr sz="1600" dirty="0">
                <a:latin typeface="Arial MT"/>
                <a:cs typeface="Arial MT"/>
              </a:rPr>
              <a:t>Mike</a:t>
            </a:r>
            <a:r>
              <a:rPr sz="1600" spc="-30" dirty="0">
                <a:latin typeface="Arial MT"/>
                <a:cs typeface="Arial MT"/>
              </a:rPr>
              <a:t> </a:t>
            </a:r>
            <a:r>
              <a:rPr sz="1600" spc="-10" dirty="0">
                <a:latin typeface="Arial MT"/>
                <a:cs typeface="Arial MT"/>
              </a:rPr>
              <a:t>Orife’s </a:t>
            </a:r>
            <a:r>
              <a:rPr sz="1600" dirty="0">
                <a:latin typeface="Arial MT"/>
                <a:cs typeface="Arial MT"/>
              </a:rPr>
              <a:t>combination</a:t>
            </a:r>
            <a:r>
              <a:rPr sz="1600" spc="-75" dirty="0">
                <a:latin typeface="Arial MT"/>
                <a:cs typeface="Arial MT"/>
              </a:rPr>
              <a:t> </a:t>
            </a:r>
            <a:r>
              <a:rPr sz="1600" dirty="0">
                <a:latin typeface="Arial MT"/>
                <a:cs typeface="Arial MT"/>
              </a:rPr>
              <a:t>of</a:t>
            </a:r>
            <a:r>
              <a:rPr sz="1600" spc="-55" dirty="0">
                <a:latin typeface="Arial MT"/>
                <a:cs typeface="Arial MT"/>
              </a:rPr>
              <a:t> </a:t>
            </a:r>
            <a:r>
              <a:rPr sz="1600" dirty="0">
                <a:latin typeface="Arial MT"/>
                <a:cs typeface="Arial MT"/>
              </a:rPr>
              <a:t>technical</a:t>
            </a:r>
            <a:r>
              <a:rPr sz="1600" spc="-70" dirty="0">
                <a:latin typeface="Arial MT"/>
                <a:cs typeface="Arial MT"/>
              </a:rPr>
              <a:t> </a:t>
            </a:r>
            <a:r>
              <a:rPr sz="1600" spc="-10" dirty="0">
                <a:latin typeface="Arial MT"/>
                <a:cs typeface="Arial MT"/>
              </a:rPr>
              <a:t>proficiency,</a:t>
            </a:r>
            <a:r>
              <a:rPr sz="1600" spc="-50" dirty="0">
                <a:latin typeface="Arial MT"/>
                <a:cs typeface="Arial MT"/>
              </a:rPr>
              <a:t> </a:t>
            </a:r>
            <a:r>
              <a:rPr sz="1600" dirty="0">
                <a:latin typeface="Arial MT"/>
                <a:cs typeface="Arial MT"/>
              </a:rPr>
              <a:t>leadership,</a:t>
            </a:r>
            <a:r>
              <a:rPr sz="1600" spc="-65" dirty="0">
                <a:latin typeface="Arial MT"/>
                <a:cs typeface="Arial MT"/>
              </a:rPr>
              <a:t> </a:t>
            </a:r>
            <a:r>
              <a:rPr sz="1600" spc="-25" dirty="0">
                <a:latin typeface="Arial MT"/>
                <a:cs typeface="Arial MT"/>
              </a:rPr>
              <a:t>and </a:t>
            </a:r>
            <a:r>
              <a:rPr sz="1600" dirty="0">
                <a:latin typeface="Arial MT"/>
                <a:cs typeface="Arial MT"/>
              </a:rPr>
              <a:t>dedication</a:t>
            </a:r>
            <a:r>
              <a:rPr sz="1600" spc="-60" dirty="0">
                <a:latin typeface="Arial MT"/>
                <a:cs typeface="Arial MT"/>
              </a:rPr>
              <a:t> </a:t>
            </a:r>
            <a:r>
              <a:rPr sz="1600" dirty="0">
                <a:latin typeface="Arial MT"/>
                <a:cs typeface="Arial MT"/>
              </a:rPr>
              <a:t>continues</a:t>
            </a:r>
            <a:r>
              <a:rPr sz="1600" spc="-50" dirty="0">
                <a:latin typeface="Arial MT"/>
                <a:cs typeface="Arial MT"/>
              </a:rPr>
              <a:t> </a:t>
            </a:r>
            <a:r>
              <a:rPr sz="1600" dirty="0">
                <a:latin typeface="Arial MT"/>
                <a:cs typeface="Arial MT"/>
              </a:rPr>
              <a:t>to</a:t>
            </a:r>
            <a:r>
              <a:rPr sz="1600" spc="-35" dirty="0">
                <a:latin typeface="Arial MT"/>
                <a:cs typeface="Arial MT"/>
              </a:rPr>
              <a:t> </a:t>
            </a:r>
            <a:r>
              <a:rPr sz="1600" dirty="0">
                <a:latin typeface="Arial MT"/>
                <a:cs typeface="Arial MT"/>
              </a:rPr>
              <a:t>drive</a:t>
            </a:r>
            <a:r>
              <a:rPr sz="1600" spc="-45" dirty="0">
                <a:latin typeface="Arial MT"/>
                <a:cs typeface="Arial MT"/>
              </a:rPr>
              <a:t> </a:t>
            </a:r>
            <a:r>
              <a:rPr sz="1600" dirty="0">
                <a:latin typeface="Arial MT"/>
                <a:cs typeface="Arial MT"/>
              </a:rPr>
              <a:t>the</a:t>
            </a:r>
            <a:r>
              <a:rPr sz="1600" spc="-35" dirty="0">
                <a:latin typeface="Arial MT"/>
                <a:cs typeface="Arial MT"/>
              </a:rPr>
              <a:t> </a:t>
            </a:r>
            <a:r>
              <a:rPr sz="1600" spc="-10" dirty="0">
                <a:latin typeface="Arial MT"/>
                <a:cs typeface="Arial MT"/>
              </a:rPr>
              <a:t>company’s</a:t>
            </a:r>
            <a:r>
              <a:rPr sz="1600" spc="-30" dirty="0">
                <a:latin typeface="Arial MT"/>
                <a:cs typeface="Arial MT"/>
              </a:rPr>
              <a:t> </a:t>
            </a:r>
            <a:r>
              <a:rPr sz="1600" dirty="0">
                <a:latin typeface="Arial MT"/>
                <a:cs typeface="Arial MT"/>
              </a:rPr>
              <a:t>success</a:t>
            </a:r>
            <a:r>
              <a:rPr sz="1600" spc="-60" dirty="0">
                <a:latin typeface="Arial MT"/>
                <a:cs typeface="Arial MT"/>
              </a:rPr>
              <a:t> </a:t>
            </a:r>
            <a:r>
              <a:rPr sz="1600" spc="-25" dirty="0">
                <a:latin typeface="Arial MT"/>
                <a:cs typeface="Arial MT"/>
              </a:rPr>
              <a:t>in</a:t>
            </a:r>
            <a:r>
              <a:rPr sz="1600" spc="500" dirty="0">
                <a:latin typeface="Arial MT"/>
                <a:cs typeface="Arial MT"/>
              </a:rPr>
              <a:t> </a:t>
            </a:r>
            <a:r>
              <a:rPr sz="1600" spc="-25" dirty="0">
                <a:latin typeface="Arial MT"/>
                <a:cs typeface="Arial MT"/>
              </a:rPr>
              <a:t>day-</a:t>
            </a:r>
            <a:r>
              <a:rPr sz="1600" spc="-10" dirty="0">
                <a:latin typeface="Arial MT"/>
                <a:cs typeface="Arial MT"/>
              </a:rPr>
              <a:t>to-</a:t>
            </a:r>
            <a:r>
              <a:rPr sz="1600" dirty="0">
                <a:latin typeface="Arial MT"/>
                <a:cs typeface="Arial MT"/>
              </a:rPr>
              <a:t>day</a:t>
            </a:r>
            <a:r>
              <a:rPr sz="1600" spc="60" dirty="0">
                <a:latin typeface="Arial MT"/>
                <a:cs typeface="Arial MT"/>
              </a:rPr>
              <a:t> </a:t>
            </a:r>
            <a:r>
              <a:rPr sz="1600" spc="-10" dirty="0">
                <a:latin typeface="Arial MT"/>
                <a:cs typeface="Arial MT"/>
              </a:rPr>
              <a:t>operations.</a:t>
            </a:r>
            <a:endParaRPr sz="1600" dirty="0">
              <a:latin typeface="Arial MT"/>
              <a:cs typeface="Arial MT"/>
            </a:endParaRPr>
          </a:p>
        </p:txBody>
      </p:sp>
      <p:sp>
        <p:nvSpPr>
          <p:cNvPr id="5" name="object 5"/>
          <p:cNvSpPr txBox="1"/>
          <p:nvPr/>
        </p:nvSpPr>
        <p:spPr>
          <a:xfrm>
            <a:off x="428955" y="4475226"/>
            <a:ext cx="2611755" cy="1123315"/>
          </a:xfrm>
          <a:prstGeom prst="rect">
            <a:avLst/>
          </a:prstGeom>
        </p:spPr>
        <p:txBody>
          <a:bodyPr vert="horz" wrap="square" lIns="0" tIns="12700" rIns="0" bIns="0" rtlCol="0">
            <a:spAutoFit/>
          </a:bodyPr>
          <a:lstStyle/>
          <a:p>
            <a:pPr marL="12700" marR="5080" indent="67310" algn="ctr">
              <a:lnSpc>
                <a:spcPct val="100000"/>
              </a:lnSpc>
              <a:spcBef>
                <a:spcPts val="100"/>
              </a:spcBef>
            </a:pPr>
            <a:r>
              <a:rPr sz="2400" b="1" spc="-65" dirty="0">
                <a:solidFill>
                  <a:srgbClr val="DA241D"/>
                </a:solidFill>
                <a:latin typeface="Calibri"/>
                <a:cs typeface="Calibri"/>
              </a:rPr>
              <a:t>Mr.</a:t>
            </a:r>
            <a:r>
              <a:rPr sz="2400" b="1" spc="-70" dirty="0">
                <a:solidFill>
                  <a:srgbClr val="DA241D"/>
                </a:solidFill>
                <a:latin typeface="Calibri"/>
                <a:cs typeface="Calibri"/>
              </a:rPr>
              <a:t> </a:t>
            </a:r>
            <a:r>
              <a:rPr sz="2400" b="1" dirty="0">
                <a:solidFill>
                  <a:srgbClr val="DA241D"/>
                </a:solidFill>
                <a:latin typeface="Calibri"/>
                <a:cs typeface="Calibri"/>
              </a:rPr>
              <a:t>Mike</a:t>
            </a:r>
            <a:r>
              <a:rPr sz="2400" b="1" spc="-105" dirty="0">
                <a:solidFill>
                  <a:srgbClr val="DA241D"/>
                </a:solidFill>
                <a:latin typeface="Calibri"/>
                <a:cs typeface="Calibri"/>
              </a:rPr>
              <a:t> </a:t>
            </a:r>
            <a:r>
              <a:rPr sz="2400" b="1" spc="-10" dirty="0">
                <a:solidFill>
                  <a:srgbClr val="DA241D"/>
                </a:solidFill>
                <a:latin typeface="Calibri"/>
                <a:cs typeface="Calibri"/>
              </a:rPr>
              <a:t>Orife General</a:t>
            </a:r>
            <a:r>
              <a:rPr sz="2400" b="1" spc="-75" dirty="0">
                <a:solidFill>
                  <a:srgbClr val="DA241D"/>
                </a:solidFill>
                <a:latin typeface="Calibri"/>
                <a:cs typeface="Calibri"/>
              </a:rPr>
              <a:t> </a:t>
            </a:r>
            <a:r>
              <a:rPr sz="2400" b="1" spc="-10" dirty="0">
                <a:solidFill>
                  <a:srgbClr val="DA241D"/>
                </a:solidFill>
                <a:latin typeface="Calibri"/>
                <a:cs typeface="Calibri"/>
              </a:rPr>
              <a:t>Manager</a:t>
            </a:r>
            <a:r>
              <a:rPr sz="2400" b="1" spc="-80" dirty="0">
                <a:solidFill>
                  <a:srgbClr val="DA241D"/>
                </a:solidFill>
                <a:latin typeface="Calibri"/>
                <a:cs typeface="Calibri"/>
              </a:rPr>
              <a:t> </a:t>
            </a:r>
            <a:r>
              <a:rPr sz="2400" b="1" spc="-50" dirty="0">
                <a:solidFill>
                  <a:srgbClr val="DA241D"/>
                </a:solidFill>
                <a:latin typeface="Calibri"/>
                <a:cs typeface="Calibri"/>
              </a:rPr>
              <a:t>– </a:t>
            </a:r>
            <a:r>
              <a:rPr sz="2400" b="1" dirty="0">
                <a:solidFill>
                  <a:srgbClr val="DA241D"/>
                </a:solidFill>
                <a:latin typeface="Calibri"/>
                <a:cs typeface="Calibri"/>
              </a:rPr>
              <a:t>Admin</a:t>
            </a:r>
            <a:r>
              <a:rPr sz="2400" b="1" spc="-10" dirty="0">
                <a:solidFill>
                  <a:srgbClr val="DA241D"/>
                </a:solidFill>
                <a:latin typeface="Calibri"/>
                <a:cs typeface="Calibri"/>
              </a:rPr>
              <a:t> </a:t>
            </a:r>
            <a:r>
              <a:rPr sz="2400" b="1" dirty="0">
                <a:solidFill>
                  <a:srgbClr val="DA241D"/>
                </a:solidFill>
                <a:latin typeface="Calibri"/>
                <a:cs typeface="Calibri"/>
              </a:rPr>
              <a:t>&amp;</a:t>
            </a:r>
            <a:r>
              <a:rPr sz="2400" b="1" spc="-20" dirty="0">
                <a:solidFill>
                  <a:srgbClr val="DA241D"/>
                </a:solidFill>
                <a:latin typeface="Calibri"/>
                <a:cs typeface="Calibri"/>
              </a:rPr>
              <a:t> </a:t>
            </a:r>
            <a:r>
              <a:rPr sz="2400" b="1" spc="-10" dirty="0">
                <a:solidFill>
                  <a:srgbClr val="DA241D"/>
                </a:solidFill>
                <a:latin typeface="Calibri"/>
                <a:cs typeface="Calibri"/>
              </a:rPr>
              <a:t>Operations</a:t>
            </a:r>
            <a:endParaRPr sz="2400">
              <a:latin typeface="Calibri"/>
              <a:cs typeface="Calibri"/>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2535" y="862395"/>
            <a:ext cx="2628167" cy="3505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543048" y="78994"/>
            <a:ext cx="3043555" cy="756920"/>
          </a:xfrm>
          <a:prstGeom prst="rect">
            <a:avLst/>
          </a:prstGeom>
        </p:spPr>
        <p:txBody>
          <a:bodyPr vert="horz" wrap="square" lIns="0" tIns="12700" rIns="0" bIns="0" rtlCol="0">
            <a:spAutoFit/>
          </a:bodyPr>
          <a:lstStyle/>
          <a:p>
            <a:pPr marL="12700">
              <a:lnSpc>
                <a:spcPct val="100000"/>
              </a:lnSpc>
              <a:spcBef>
                <a:spcPts val="100"/>
              </a:spcBef>
            </a:pPr>
            <a:r>
              <a:rPr sz="4800" b="1" spc="-10" dirty="0">
                <a:solidFill>
                  <a:srgbClr val="DA241D"/>
                </a:solidFill>
                <a:latin typeface="Calibri"/>
                <a:cs typeface="Calibri"/>
              </a:rPr>
              <a:t>PERSONNEL</a:t>
            </a:r>
            <a:endParaRPr sz="4800">
              <a:latin typeface="Calibri"/>
              <a:cs typeface="Calibri"/>
            </a:endParaRPr>
          </a:p>
        </p:txBody>
      </p:sp>
      <p:sp>
        <p:nvSpPr>
          <p:cNvPr id="3" name="object 3"/>
          <p:cNvSpPr txBox="1"/>
          <p:nvPr/>
        </p:nvSpPr>
        <p:spPr>
          <a:xfrm>
            <a:off x="325018" y="992505"/>
            <a:ext cx="8446135" cy="4335145"/>
          </a:xfrm>
          <a:prstGeom prst="rect">
            <a:avLst/>
          </a:prstGeom>
        </p:spPr>
        <p:txBody>
          <a:bodyPr vert="horz" wrap="square" lIns="0" tIns="13335" rIns="0" bIns="0" rtlCol="0">
            <a:spAutoFit/>
          </a:bodyPr>
          <a:lstStyle/>
          <a:p>
            <a:pPr marL="2898775" marR="204470">
              <a:lnSpc>
                <a:spcPct val="100000"/>
              </a:lnSpc>
              <a:spcBef>
                <a:spcPts val="105"/>
              </a:spcBef>
            </a:pPr>
            <a:r>
              <a:rPr sz="1400" dirty="0">
                <a:latin typeface="Arial MT"/>
                <a:cs typeface="Arial MT"/>
              </a:rPr>
              <a:t>Mrs.</a:t>
            </a:r>
            <a:r>
              <a:rPr sz="1400" spc="-55" dirty="0">
                <a:latin typeface="Arial MT"/>
                <a:cs typeface="Arial MT"/>
              </a:rPr>
              <a:t> </a:t>
            </a:r>
            <a:r>
              <a:rPr sz="1400" dirty="0">
                <a:latin typeface="Arial MT"/>
                <a:cs typeface="Arial MT"/>
              </a:rPr>
              <a:t>Deborah</a:t>
            </a:r>
            <a:r>
              <a:rPr sz="1400" spc="-50" dirty="0">
                <a:latin typeface="Arial MT"/>
                <a:cs typeface="Arial MT"/>
              </a:rPr>
              <a:t> </a:t>
            </a:r>
            <a:r>
              <a:rPr sz="1400" dirty="0">
                <a:latin typeface="Arial MT"/>
                <a:cs typeface="Arial MT"/>
              </a:rPr>
              <a:t>Olanrewaju</a:t>
            </a:r>
            <a:r>
              <a:rPr sz="1400" spc="-35" dirty="0">
                <a:latin typeface="Arial MT"/>
                <a:cs typeface="Arial MT"/>
              </a:rPr>
              <a:t> </a:t>
            </a:r>
            <a:r>
              <a:rPr sz="1400" dirty="0">
                <a:latin typeface="Arial MT"/>
                <a:cs typeface="Arial MT"/>
              </a:rPr>
              <a:t>is</a:t>
            </a:r>
            <a:r>
              <a:rPr sz="1400" spc="-30" dirty="0">
                <a:latin typeface="Arial MT"/>
                <a:cs typeface="Arial MT"/>
              </a:rPr>
              <a:t> </a:t>
            </a:r>
            <a:r>
              <a:rPr sz="1400" dirty="0">
                <a:latin typeface="Arial MT"/>
                <a:cs typeface="Arial MT"/>
              </a:rPr>
              <a:t>a</a:t>
            </a:r>
            <a:r>
              <a:rPr sz="1400" spc="-30" dirty="0">
                <a:latin typeface="Arial MT"/>
                <a:cs typeface="Arial MT"/>
              </a:rPr>
              <a:t> </a:t>
            </a:r>
            <a:r>
              <a:rPr sz="1400" dirty="0">
                <a:latin typeface="Arial MT"/>
                <a:cs typeface="Arial MT"/>
              </a:rPr>
              <a:t>passionate</a:t>
            </a:r>
            <a:r>
              <a:rPr sz="1400" spc="-65" dirty="0">
                <a:latin typeface="Arial MT"/>
                <a:cs typeface="Arial MT"/>
              </a:rPr>
              <a:t> </a:t>
            </a:r>
            <a:r>
              <a:rPr sz="1400" dirty="0">
                <a:latin typeface="Arial MT"/>
                <a:cs typeface="Arial MT"/>
              </a:rPr>
              <a:t>and</a:t>
            </a:r>
            <a:r>
              <a:rPr sz="1400" spc="-40" dirty="0">
                <a:latin typeface="Arial MT"/>
                <a:cs typeface="Arial MT"/>
              </a:rPr>
              <a:t> </a:t>
            </a:r>
            <a:r>
              <a:rPr sz="1400" dirty="0">
                <a:latin typeface="Arial MT"/>
                <a:cs typeface="Arial MT"/>
              </a:rPr>
              <a:t>results-driven</a:t>
            </a:r>
            <a:r>
              <a:rPr sz="1400" spc="-55" dirty="0">
                <a:latin typeface="Arial MT"/>
                <a:cs typeface="Arial MT"/>
              </a:rPr>
              <a:t> </a:t>
            </a:r>
            <a:r>
              <a:rPr sz="1400" spc="-10" dirty="0">
                <a:latin typeface="Arial MT"/>
                <a:cs typeface="Arial MT"/>
              </a:rPr>
              <a:t>finance </a:t>
            </a:r>
            <a:r>
              <a:rPr sz="1400" dirty="0">
                <a:latin typeface="Arial MT"/>
                <a:cs typeface="Arial MT"/>
              </a:rPr>
              <a:t>Personnel</a:t>
            </a:r>
            <a:r>
              <a:rPr sz="1400" spc="-75" dirty="0">
                <a:latin typeface="Arial MT"/>
                <a:cs typeface="Arial MT"/>
              </a:rPr>
              <a:t> </a:t>
            </a:r>
            <a:r>
              <a:rPr sz="1400" dirty="0">
                <a:latin typeface="Arial MT"/>
                <a:cs typeface="Arial MT"/>
              </a:rPr>
              <a:t>with</a:t>
            </a:r>
            <a:r>
              <a:rPr sz="1400" spc="-10" dirty="0">
                <a:latin typeface="Arial MT"/>
                <a:cs typeface="Arial MT"/>
              </a:rPr>
              <a:t> </a:t>
            </a:r>
            <a:r>
              <a:rPr sz="1400" dirty="0">
                <a:latin typeface="Arial MT"/>
                <a:cs typeface="Arial MT"/>
              </a:rPr>
              <a:t>a</a:t>
            </a:r>
            <a:r>
              <a:rPr sz="1400" spc="-30" dirty="0">
                <a:latin typeface="Arial MT"/>
                <a:cs typeface="Arial MT"/>
              </a:rPr>
              <a:t> </a:t>
            </a:r>
            <a:r>
              <a:rPr sz="1400" dirty="0">
                <a:latin typeface="Arial MT"/>
                <a:cs typeface="Arial MT"/>
              </a:rPr>
              <a:t>strong</a:t>
            </a:r>
            <a:r>
              <a:rPr sz="1400" spc="-60" dirty="0">
                <a:latin typeface="Arial MT"/>
                <a:cs typeface="Arial MT"/>
              </a:rPr>
              <a:t> </a:t>
            </a:r>
            <a:r>
              <a:rPr sz="1400" dirty="0">
                <a:latin typeface="Arial MT"/>
                <a:cs typeface="Arial MT"/>
              </a:rPr>
              <a:t>background</a:t>
            </a:r>
            <a:r>
              <a:rPr sz="1400" spc="-60" dirty="0">
                <a:latin typeface="Arial MT"/>
                <a:cs typeface="Arial MT"/>
              </a:rPr>
              <a:t> </a:t>
            </a:r>
            <a:r>
              <a:rPr sz="1400" dirty="0">
                <a:latin typeface="Arial MT"/>
                <a:cs typeface="Arial MT"/>
              </a:rPr>
              <a:t>in</a:t>
            </a:r>
            <a:r>
              <a:rPr sz="1400" spc="-40" dirty="0">
                <a:latin typeface="Arial MT"/>
                <a:cs typeface="Arial MT"/>
              </a:rPr>
              <a:t> </a:t>
            </a:r>
            <a:r>
              <a:rPr sz="1400" dirty="0">
                <a:latin typeface="Arial MT"/>
                <a:cs typeface="Arial MT"/>
              </a:rPr>
              <a:t>auditing</a:t>
            </a:r>
            <a:r>
              <a:rPr sz="1400" spc="-45" dirty="0">
                <a:latin typeface="Arial MT"/>
                <a:cs typeface="Arial MT"/>
              </a:rPr>
              <a:t> </a:t>
            </a:r>
            <a:r>
              <a:rPr sz="1400" dirty="0">
                <a:latin typeface="Arial MT"/>
                <a:cs typeface="Arial MT"/>
              </a:rPr>
              <a:t>and</a:t>
            </a:r>
            <a:r>
              <a:rPr sz="1400" spc="-35" dirty="0">
                <a:latin typeface="Arial MT"/>
                <a:cs typeface="Arial MT"/>
              </a:rPr>
              <a:t> </a:t>
            </a:r>
            <a:r>
              <a:rPr sz="1400" spc="-10" dirty="0">
                <a:latin typeface="Arial MT"/>
                <a:cs typeface="Arial MT"/>
              </a:rPr>
              <a:t>financial management.</a:t>
            </a:r>
            <a:endParaRPr sz="1400" dirty="0">
              <a:latin typeface="Arial MT"/>
              <a:cs typeface="Arial MT"/>
            </a:endParaRPr>
          </a:p>
          <a:p>
            <a:pPr>
              <a:lnSpc>
                <a:spcPct val="100000"/>
              </a:lnSpc>
              <a:spcBef>
                <a:spcPts val="70"/>
              </a:spcBef>
            </a:pPr>
            <a:endParaRPr sz="1400" dirty="0">
              <a:latin typeface="Arial MT"/>
              <a:cs typeface="Arial MT"/>
            </a:endParaRPr>
          </a:p>
          <a:p>
            <a:pPr marL="2898775" marR="263525">
              <a:lnSpc>
                <a:spcPct val="100000"/>
              </a:lnSpc>
            </a:pPr>
            <a:r>
              <a:rPr sz="1400" dirty="0">
                <a:latin typeface="Arial MT"/>
                <a:cs typeface="Arial MT"/>
              </a:rPr>
              <a:t>She</a:t>
            </a:r>
            <a:r>
              <a:rPr sz="1400" spc="-25" dirty="0">
                <a:latin typeface="Arial MT"/>
                <a:cs typeface="Arial MT"/>
              </a:rPr>
              <a:t> </a:t>
            </a:r>
            <a:r>
              <a:rPr sz="1400" dirty="0">
                <a:latin typeface="Arial MT"/>
                <a:cs typeface="Arial MT"/>
              </a:rPr>
              <a:t>earned</a:t>
            </a:r>
            <a:r>
              <a:rPr sz="1400" spc="-60" dirty="0">
                <a:latin typeface="Arial MT"/>
                <a:cs typeface="Arial MT"/>
              </a:rPr>
              <a:t> </a:t>
            </a:r>
            <a:r>
              <a:rPr sz="1400" dirty="0">
                <a:latin typeface="Arial MT"/>
                <a:cs typeface="Arial MT"/>
              </a:rPr>
              <a:t>her</a:t>
            </a:r>
            <a:r>
              <a:rPr sz="1400" spc="-35" dirty="0">
                <a:latin typeface="Arial MT"/>
                <a:cs typeface="Arial MT"/>
              </a:rPr>
              <a:t> </a:t>
            </a:r>
            <a:r>
              <a:rPr sz="1400" dirty="0">
                <a:latin typeface="Arial MT"/>
                <a:cs typeface="Arial MT"/>
              </a:rPr>
              <a:t>Higher</a:t>
            </a:r>
            <a:r>
              <a:rPr sz="1400" spc="-35" dirty="0">
                <a:latin typeface="Arial MT"/>
                <a:cs typeface="Arial MT"/>
              </a:rPr>
              <a:t> </a:t>
            </a:r>
            <a:r>
              <a:rPr sz="1400" dirty="0">
                <a:latin typeface="Arial MT"/>
                <a:cs typeface="Arial MT"/>
              </a:rPr>
              <a:t>National</a:t>
            </a:r>
            <a:r>
              <a:rPr sz="1400" spc="-30" dirty="0">
                <a:latin typeface="Arial MT"/>
                <a:cs typeface="Arial MT"/>
              </a:rPr>
              <a:t> </a:t>
            </a:r>
            <a:r>
              <a:rPr sz="1400" dirty="0">
                <a:latin typeface="Arial MT"/>
                <a:cs typeface="Arial MT"/>
              </a:rPr>
              <a:t>Diploma</a:t>
            </a:r>
            <a:r>
              <a:rPr sz="1400" spc="-35" dirty="0">
                <a:latin typeface="Arial MT"/>
                <a:cs typeface="Arial MT"/>
              </a:rPr>
              <a:t> </a:t>
            </a:r>
            <a:r>
              <a:rPr sz="1400" dirty="0">
                <a:latin typeface="Arial MT"/>
                <a:cs typeface="Arial MT"/>
              </a:rPr>
              <a:t>(HND)</a:t>
            </a:r>
            <a:r>
              <a:rPr sz="1400" spc="-10" dirty="0">
                <a:latin typeface="Arial MT"/>
                <a:cs typeface="Arial MT"/>
              </a:rPr>
              <a:t> </a:t>
            </a:r>
            <a:r>
              <a:rPr sz="1400" dirty="0">
                <a:latin typeface="Arial MT"/>
                <a:cs typeface="Arial MT"/>
              </a:rPr>
              <a:t>from</a:t>
            </a:r>
            <a:r>
              <a:rPr sz="1400" spc="-55" dirty="0">
                <a:latin typeface="Arial MT"/>
                <a:cs typeface="Arial MT"/>
              </a:rPr>
              <a:t> </a:t>
            </a:r>
            <a:r>
              <a:rPr sz="1400" dirty="0">
                <a:latin typeface="Arial MT"/>
                <a:cs typeface="Arial MT"/>
              </a:rPr>
              <a:t>the</a:t>
            </a:r>
            <a:r>
              <a:rPr sz="1400" spc="-35" dirty="0">
                <a:latin typeface="Arial MT"/>
                <a:cs typeface="Arial MT"/>
              </a:rPr>
              <a:t> </a:t>
            </a:r>
            <a:r>
              <a:rPr sz="1400" spc="-10" dirty="0">
                <a:latin typeface="Arial MT"/>
                <a:cs typeface="Arial MT"/>
              </a:rPr>
              <a:t>esteemed </a:t>
            </a:r>
            <a:r>
              <a:rPr sz="1400" spc="-20" dirty="0">
                <a:latin typeface="Arial MT"/>
                <a:cs typeface="Arial MT"/>
              </a:rPr>
              <a:t>Yaba</a:t>
            </a:r>
            <a:r>
              <a:rPr sz="1400" spc="-30" dirty="0">
                <a:latin typeface="Arial MT"/>
                <a:cs typeface="Arial MT"/>
              </a:rPr>
              <a:t> </a:t>
            </a:r>
            <a:r>
              <a:rPr sz="1400" dirty="0">
                <a:latin typeface="Arial MT"/>
                <a:cs typeface="Arial MT"/>
              </a:rPr>
              <a:t>College</a:t>
            </a:r>
            <a:r>
              <a:rPr sz="1400" spc="-25" dirty="0">
                <a:latin typeface="Arial MT"/>
                <a:cs typeface="Arial MT"/>
              </a:rPr>
              <a:t> </a:t>
            </a:r>
            <a:r>
              <a:rPr sz="1400" dirty="0">
                <a:latin typeface="Arial MT"/>
                <a:cs typeface="Arial MT"/>
              </a:rPr>
              <a:t>of</a:t>
            </a:r>
            <a:r>
              <a:rPr sz="1400" spc="-55" dirty="0">
                <a:latin typeface="Arial MT"/>
                <a:cs typeface="Arial MT"/>
              </a:rPr>
              <a:t> </a:t>
            </a:r>
            <a:r>
              <a:rPr sz="1400" spc="-35" dirty="0">
                <a:latin typeface="Arial MT"/>
                <a:cs typeface="Arial MT"/>
              </a:rPr>
              <a:t>Technology,</a:t>
            </a:r>
            <a:r>
              <a:rPr sz="1400" spc="-50" dirty="0">
                <a:latin typeface="Arial MT"/>
                <a:cs typeface="Arial MT"/>
              </a:rPr>
              <a:t> </a:t>
            </a:r>
            <a:r>
              <a:rPr sz="1400" spc="-20" dirty="0">
                <a:latin typeface="Arial MT"/>
                <a:cs typeface="Arial MT"/>
              </a:rPr>
              <a:t>Yaba,</a:t>
            </a:r>
            <a:r>
              <a:rPr sz="1400" spc="-30" dirty="0">
                <a:latin typeface="Arial MT"/>
                <a:cs typeface="Arial MT"/>
              </a:rPr>
              <a:t> </a:t>
            </a:r>
            <a:r>
              <a:rPr sz="1400" dirty="0">
                <a:latin typeface="Arial MT"/>
                <a:cs typeface="Arial MT"/>
              </a:rPr>
              <a:t>Lagos,</a:t>
            </a:r>
            <a:r>
              <a:rPr sz="1400" spc="-40" dirty="0">
                <a:latin typeface="Arial MT"/>
                <a:cs typeface="Arial MT"/>
              </a:rPr>
              <a:t> </a:t>
            </a:r>
            <a:r>
              <a:rPr sz="1400" dirty="0">
                <a:latin typeface="Arial MT"/>
                <a:cs typeface="Arial MT"/>
              </a:rPr>
              <a:t>in</a:t>
            </a:r>
            <a:r>
              <a:rPr sz="1400" spc="-25" dirty="0">
                <a:latin typeface="Arial MT"/>
                <a:cs typeface="Arial MT"/>
              </a:rPr>
              <a:t> </a:t>
            </a:r>
            <a:r>
              <a:rPr sz="1400" spc="-10" dirty="0">
                <a:latin typeface="Arial MT"/>
                <a:cs typeface="Arial MT"/>
              </a:rPr>
              <a:t>2019.</a:t>
            </a:r>
            <a:endParaRPr sz="1400" dirty="0">
              <a:latin typeface="Arial MT"/>
              <a:cs typeface="Arial MT"/>
            </a:endParaRPr>
          </a:p>
          <a:p>
            <a:pPr>
              <a:lnSpc>
                <a:spcPct val="100000"/>
              </a:lnSpc>
              <a:spcBef>
                <a:spcPts val="70"/>
              </a:spcBef>
            </a:pPr>
            <a:endParaRPr sz="1400" dirty="0">
              <a:latin typeface="Arial MT"/>
              <a:cs typeface="Arial MT"/>
            </a:endParaRPr>
          </a:p>
          <a:p>
            <a:pPr marL="2898775" marR="110489">
              <a:lnSpc>
                <a:spcPct val="100000"/>
              </a:lnSpc>
            </a:pPr>
            <a:r>
              <a:rPr sz="1400" dirty="0">
                <a:latin typeface="Arial MT"/>
                <a:cs typeface="Arial MT"/>
              </a:rPr>
              <a:t>Over</a:t>
            </a:r>
            <a:r>
              <a:rPr sz="1400" spc="-30" dirty="0">
                <a:latin typeface="Arial MT"/>
                <a:cs typeface="Arial MT"/>
              </a:rPr>
              <a:t> </a:t>
            </a:r>
            <a:r>
              <a:rPr sz="1400" dirty="0">
                <a:latin typeface="Arial MT"/>
                <a:cs typeface="Arial MT"/>
              </a:rPr>
              <a:t>the</a:t>
            </a:r>
            <a:r>
              <a:rPr sz="1400" spc="-40" dirty="0">
                <a:latin typeface="Arial MT"/>
                <a:cs typeface="Arial MT"/>
              </a:rPr>
              <a:t> </a:t>
            </a:r>
            <a:r>
              <a:rPr sz="1400" dirty="0">
                <a:latin typeface="Arial MT"/>
                <a:cs typeface="Arial MT"/>
              </a:rPr>
              <a:t>years,</a:t>
            </a:r>
            <a:r>
              <a:rPr sz="1400" spc="-30" dirty="0">
                <a:latin typeface="Arial MT"/>
                <a:cs typeface="Arial MT"/>
              </a:rPr>
              <a:t> </a:t>
            </a:r>
            <a:r>
              <a:rPr sz="1400" dirty="0">
                <a:latin typeface="Arial MT"/>
                <a:cs typeface="Arial MT"/>
              </a:rPr>
              <a:t>she</a:t>
            </a:r>
            <a:r>
              <a:rPr sz="1400" spc="-40" dirty="0">
                <a:latin typeface="Arial MT"/>
                <a:cs typeface="Arial MT"/>
              </a:rPr>
              <a:t> </a:t>
            </a:r>
            <a:r>
              <a:rPr sz="1400" dirty="0">
                <a:latin typeface="Arial MT"/>
                <a:cs typeface="Arial MT"/>
              </a:rPr>
              <a:t>has</a:t>
            </a:r>
            <a:r>
              <a:rPr sz="1400" spc="-30" dirty="0">
                <a:latin typeface="Arial MT"/>
                <a:cs typeface="Arial MT"/>
              </a:rPr>
              <a:t> </a:t>
            </a:r>
            <a:r>
              <a:rPr sz="1400" dirty="0">
                <a:latin typeface="Arial MT"/>
                <a:cs typeface="Arial MT"/>
              </a:rPr>
              <a:t>worked</a:t>
            </a:r>
            <a:r>
              <a:rPr sz="1400" spc="-40" dirty="0">
                <a:latin typeface="Arial MT"/>
                <a:cs typeface="Arial MT"/>
              </a:rPr>
              <a:t> </a:t>
            </a:r>
            <a:r>
              <a:rPr sz="1400" dirty="0">
                <a:latin typeface="Arial MT"/>
                <a:cs typeface="Arial MT"/>
              </a:rPr>
              <a:t>with</a:t>
            </a:r>
            <a:r>
              <a:rPr sz="1400" spc="-10" dirty="0">
                <a:latin typeface="Arial MT"/>
                <a:cs typeface="Arial MT"/>
              </a:rPr>
              <a:t> </a:t>
            </a:r>
            <a:r>
              <a:rPr sz="1400" dirty="0">
                <a:latin typeface="Arial MT"/>
                <a:cs typeface="Arial MT"/>
              </a:rPr>
              <a:t>several</a:t>
            </a:r>
            <a:r>
              <a:rPr sz="1400" spc="-40" dirty="0">
                <a:latin typeface="Arial MT"/>
                <a:cs typeface="Arial MT"/>
              </a:rPr>
              <a:t> </a:t>
            </a:r>
            <a:r>
              <a:rPr sz="1400" dirty="0">
                <a:latin typeface="Arial MT"/>
                <a:cs typeface="Arial MT"/>
              </a:rPr>
              <a:t>reputable</a:t>
            </a:r>
            <a:r>
              <a:rPr sz="1400" spc="-60" dirty="0">
                <a:latin typeface="Arial MT"/>
                <a:cs typeface="Arial MT"/>
              </a:rPr>
              <a:t> </a:t>
            </a:r>
            <a:r>
              <a:rPr sz="1400" dirty="0">
                <a:latin typeface="Arial MT"/>
                <a:cs typeface="Arial MT"/>
              </a:rPr>
              <a:t>auditing</a:t>
            </a:r>
            <a:r>
              <a:rPr sz="1400" spc="-60" dirty="0">
                <a:latin typeface="Arial MT"/>
                <a:cs typeface="Arial MT"/>
              </a:rPr>
              <a:t> </a:t>
            </a:r>
            <a:r>
              <a:rPr sz="1400" spc="-10" dirty="0">
                <a:latin typeface="Arial MT"/>
                <a:cs typeface="Arial MT"/>
              </a:rPr>
              <a:t>firms, </a:t>
            </a:r>
            <a:r>
              <a:rPr sz="1400" dirty="0">
                <a:latin typeface="Arial MT"/>
                <a:cs typeface="Arial MT"/>
              </a:rPr>
              <a:t>where</a:t>
            </a:r>
            <a:r>
              <a:rPr sz="1400" spc="-30" dirty="0">
                <a:latin typeface="Arial MT"/>
                <a:cs typeface="Arial MT"/>
              </a:rPr>
              <a:t> </a:t>
            </a:r>
            <a:r>
              <a:rPr sz="1400" dirty="0">
                <a:latin typeface="Arial MT"/>
                <a:cs typeface="Arial MT"/>
              </a:rPr>
              <a:t>she</a:t>
            </a:r>
            <a:r>
              <a:rPr sz="1400" spc="-40" dirty="0">
                <a:latin typeface="Arial MT"/>
                <a:cs typeface="Arial MT"/>
              </a:rPr>
              <a:t> </a:t>
            </a:r>
            <a:r>
              <a:rPr sz="1400" dirty="0">
                <a:latin typeface="Arial MT"/>
                <a:cs typeface="Arial MT"/>
              </a:rPr>
              <a:t>developed</a:t>
            </a:r>
            <a:r>
              <a:rPr sz="1400" spc="-40" dirty="0">
                <a:latin typeface="Arial MT"/>
                <a:cs typeface="Arial MT"/>
              </a:rPr>
              <a:t> </a:t>
            </a:r>
            <a:r>
              <a:rPr sz="1400" dirty="0">
                <a:latin typeface="Arial MT"/>
                <a:cs typeface="Arial MT"/>
              </a:rPr>
              <a:t>a</a:t>
            </a:r>
            <a:r>
              <a:rPr sz="1400" spc="-40" dirty="0">
                <a:latin typeface="Arial MT"/>
                <a:cs typeface="Arial MT"/>
              </a:rPr>
              <a:t> </a:t>
            </a:r>
            <a:r>
              <a:rPr sz="1400" dirty="0">
                <a:latin typeface="Arial MT"/>
                <a:cs typeface="Arial MT"/>
              </a:rPr>
              <a:t>deep</a:t>
            </a:r>
            <a:r>
              <a:rPr sz="1400" spc="-40" dirty="0">
                <a:latin typeface="Arial MT"/>
                <a:cs typeface="Arial MT"/>
              </a:rPr>
              <a:t> </a:t>
            </a:r>
            <a:r>
              <a:rPr sz="1400" dirty="0">
                <a:latin typeface="Arial MT"/>
                <a:cs typeface="Arial MT"/>
              </a:rPr>
              <a:t>understanding</a:t>
            </a:r>
            <a:r>
              <a:rPr sz="1400" spc="-60" dirty="0">
                <a:latin typeface="Arial MT"/>
                <a:cs typeface="Arial MT"/>
              </a:rPr>
              <a:t> </a:t>
            </a:r>
            <a:r>
              <a:rPr sz="1400" dirty="0">
                <a:latin typeface="Arial MT"/>
                <a:cs typeface="Arial MT"/>
              </a:rPr>
              <a:t>of</a:t>
            </a:r>
            <a:r>
              <a:rPr sz="1400" spc="-35" dirty="0">
                <a:latin typeface="Arial MT"/>
                <a:cs typeface="Arial MT"/>
              </a:rPr>
              <a:t> </a:t>
            </a:r>
            <a:r>
              <a:rPr sz="1400" dirty="0">
                <a:latin typeface="Arial MT"/>
                <a:cs typeface="Arial MT"/>
              </a:rPr>
              <a:t>financial</a:t>
            </a:r>
            <a:r>
              <a:rPr sz="1400" spc="-60" dirty="0">
                <a:latin typeface="Arial MT"/>
                <a:cs typeface="Arial MT"/>
              </a:rPr>
              <a:t> </a:t>
            </a:r>
            <a:r>
              <a:rPr sz="1400" spc="-10" dirty="0">
                <a:latin typeface="Arial MT"/>
                <a:cs typeface="Arial MT"/>
              </a:rPr>
              <a:t>analysis, </a:t>
            </a:r>
            <a:r>
              <a:rPr sz="1400" dirty="0">
                <a:latin typeface="Arial MT"/>
                <a:cs typeface="Arial MT"/>
              </a:rPr>
              <a:t>compliance,</a:t>
            </a:r>
            <a:r>
              <a:rPr sz="1400" spc="-70" dirty="0">
                <a:latin typeface="Arial MT"/>
                <a:cs typeface="Arial MT"/>
              </a:rPr>
              <a:t> </a:t>
            </a:r>
            <a:r>
              <a:rPr sz="1400" dirty="0">
                <a:latin typeface="Arial MT"/>
                <a:cs typeface="Arial MT"/>
              </a:rPr>
              <a:t>and</a:t>
            </a:r>
            <a:r>
              <a:rPr sz="1400" spc="-45" dirty="0">
                <a:latin typeface="Arial MT"/>
                <a:cs typeface="Arial MT"/>
              </a:rPr>
              <a:t> </a:t>
            </a:r>
            <a:r>
              <a:rPr sz="1400" dirty="0">
                <a:latin typeface="Arial MT"/>
                <a:cs typeface="Arial MT"/>
              </a:rPr>
              <a:t>audit</a:t>
            </a:r>
            <a:r>
              <a:rPr sz="1400" spc="-35" dirty="0">
                <a:latin typeface="Arial MT"/>
                <a:cs typeface="Arial MT"/>
              </a:rPr>
              <a:t> </a:t>
            </a:r>
            <a:r>
              <a:rPr sz="1400" spc="-10" dirty="0">
                <a:latin typeface="Arial MT"/>
                <a:cs typeface="Arial MT"/>
              </a:rPr>
              <a:t>processes.</a:t>
            </a:r>
            <a:endParaRPr sz="1400" dirty="0">
              <a:latin typeface="Arial MT"/>
              <a:cs typeface="Arial MT"/>
            </a:endParaRPr>
          </a:p>
          <a:p>
            <a:pPr>
              <a:lnSpc>
                <a:spcPct val="100000"/>
              </a:lnSpc>
              <a:spcBef>
                <a:spcPts val="70"/>
              </a:spcBef>
            </a:pPr>
            <a:endParaRPr sz="1400" dirty="0">
              <a:latin typeface="Arial MT"/>
              <a:cs typeface="Arial MT"/>
            </a:endParaRPr>
          </a:p>
          <a:p>
            <a:pPr marL="2898775" marR="5080">
              <a:lnSpc>
                <a:spcPct val="100000"/>
              </a:lnSpc>
              <a:spcBef>
                <a:spcPts val="5"/>
              </a:spcBef>
            </a:pPr>
            <a:r>
              <a:rPr sz="1400" dirty="0">
                <a:latin typeface="Arial MT"/>
                <a:cs typeface="Arial MT"/>
              </a:rPr>
              <a:t>In</a:t>
            </a:r>
            <a:r>
              <a:rPr sz="1400" spc="-25" dirty="0">
                <a:latin typeface="Arial MT"/>
                <a:cs typeface="Arial MT"/>
              </a:rPr>
              <a:t> </a:t>
            </a:r>
            <a:r>
              <a:rPr sz="1400" dirty="0">
                <a:latin typeface="Arial MT"/>
                <a:cs typeface="Arial MT"/>
              </a:rPr>
              <a:t>2021,</a:t>
            </a:r>
            <a:r>
              <a:rPr sz="1400" spc="-35" dirty="0">
                <a:latin typeface="Arial MT"/>
                <a:cs typeface="Arial MT"/>
              </a:rPr>
              <a:t> </a:t>
            </a:r>
            <a:r>
              <a:rPr sz="1400" dirty="0">
                <a:latin typeface="Arial MT"/>
                <a:cs typeface="Arial MT"/>
              </a:rPr>
              <a:t>she</a:t>
            </a:r>
            <a:r>
              <a:rPr sz="1400" spc="-25" dirty="0">
                <a:latin typeface="Arial MT"/>
                <a:cs typeface="Arial MT"/>
              </a:rPr>
              <a:t> </a:t>
            </a:r>
            <a:r>
              <a:rPr sz="1400" dirty="0">
                <a:latin typeface="Arial MT"/>
                <a:cs typeface="Arial MT"/>
              </a:rPr>
              <a:t>brought</a:t>
            </a:r>
            <a:r>
              <a:rPr sz="1400" spc="-45" dirty="0">
                <a:latin typeface="Arial MT"/>
                <a:cs typeface="Arial MT"/>
              </a:rPr>
              <a:t> </a:t>
            </a:r>
            <a:r>
              <a:rPr sz="1400" dirty="0">
                <a:latin typeface="Arial MT"/>
                <a:cs typeface="Arial MT"/>
              </a:rPr>
              <a:t>her</a:t>
            </a:r>
            <a:r>
              <a:rPr sz="1400" spc="-25" dirty="0">
                <a:latin typeface="Arial MT"/>
                <a:cs typeface="Arial MT"/>
              </a:rPr>
              <a:t> </a:t>
            </a:r>
            <a:r>
              <a:rPr sz="1400" dirty="0">
                <a:latin typeface="Arial MT"/>
                <a:cs typeface="Arial MT"/>
              </a:rPr>
              <a:t>wealth</a:t>
            </a:r>
            <a:r>
              <a:rPr sz="1400" spc="-15" dirty="0">
                <a:latin typeface="Arial MT"/>
                <a:cs typeface="Arial MT"/>
              </a:rPr>
              <a:t> </a:t>
            </a:r>
            <a:r>
              <a:rPr sz="1400" dirty="0">
                <a:latin typeface="Arial MT"/>
                <a:cs typeface="Arial MT"/>
              </a:rPr>
              <a:t>of</a:t>
            </a:r>
            <a:r>
              <a:rPr sz="1400" spc="-20" dirty="0">
                <a:latin typeface="Arial MT"/>
                <a:cs typeface="Arial MT"/>
              </a:rPr>
              <a:t> </a:t>
            </a:r>
            <a:r>
              <a:rPr sz="1400" dirty="0">
                <a:latin typeface="Arial MT"/>
                <a:cs typeface="Arial MT"/>
              </a:rPr>
              <a:t>experience</a:t>
            </a:r>
            <a:r>
              <a:rPr sz="1400" spc="-35" dirty="0">
                <a:latin typeface="Arial MT"/>
                <a:cs typeface="Arial MT"/>
              </a:rPr>
              <a:t> </a:t>
            </a:r>
            <a:r>
              <a:rPr sz="1400" dirty="0">
                <a:latin typeface="Arial MT"/>
                <a:cs typeface="Arial MT"/>
              </a:rPr>
              <a:t>to</a:t>
            </a:r>
            <a:r>
              <a:rPr sz="1400" spc="-20" dirty="0">
                <a:latin typeface="Arial MT"/>
                <a:cs typeface="Arial MT"/>
              </a:rPr>
              <a:t> </a:t>
            </a:r>
            <a:r>
              <a:rPr sz="1400" b="1" spc="-10" dirty="0">
                <a:latin typeface="Arial"/>
                <a:cs typeface="Arial"/>
              </a:rPr>
              <a:t>Outreach International</a:t>
            </a:r>
            <a:r>
              <a:rPr sz="1400" b="1" spc="-55" dirty="0">
                <a:latin typeface="Arial"/>
                <a:cs typeface="Arial"/>
              </a:rPr>
              <a:t> </a:t>
            </a:r>
            <a:r>
              <a:rPr sz="1400" b="1" dirty="0">
                <a:latin typeface="Arial"/>
                <a:cs typeface="Arial"/>
              </a:rPr>
              <a:t>Media</a:t>
            </a:r>
            <a:r>
              <a:rPr sz="1400" b="1" spc="-45" dirty="0">
                <a:latin typeface="Arial"/>
                <a:cs typeface="Arial"/>
              </a:rPr>
              <a:t> </a:t>
            </a:r>
            <a:r>
              <a:rPr sz="1400" b="1" dirty="0">
                <a:latin typeface="Arial"/>
                <a:cs typeface="Arial"/>
              </a:rPr>
              <a:t>Limited</a:t>
            </a:r>
            <a:r>
              <a:rPr sz="1400" dirty="0">
                <a:latin typeface="Arial MT"/>
                <a:cs typeface="Arial MT"/>
              </a:rPr>
              <a:t>,</a:t>
            </a:r>
            <a:r>
              <a:rPr sz="1400" spc="-45" dirty="0">
                <a:latin typeface="Arial MT"/>
                <a:cs typeface="Arial MT"/>
              </a:rPr>
              <a:t> </a:t>
            </a:r>
            <a:r>
              <a:rPr sz="1400" dirty="0">
                <a:latin typeface="Arial MT"/>
                <a:cs typeface="Arial MT"/>
              </a:rPr>
              <a:t>where</a:t>
            </a:r>
            <a:r>
              <a:rPr sz="1400" spc="-10" dirty="0">
                <a:latin typeface="Arial MT"/>
                <a:cs typeface="Arial MT"/>
              </a:rPr>
              <a:t> </a:t>
            </a:r>
            <a:r>
              <a:rPr sz="1400" dirty="0">
                <a:latin typeface="Arial MT"/>
                <a:cs typeface="Arial MT"/>
              </a:rPr>
              <a:t>she</a:t>
            </a:r>
            <a:r>
              <a:rPr sz="1400" spc="-25" dirty="0">
                <a:latin typeface="Arial MT"/>
                <a:cs typeface="Arial MT"/>
              </a:rPr>
              <a:t> </a:t>
            </a:r>
            <a:r>
              <a:rPr sz="1400" dirty="0">
                <a:latin typeface="Arial MT"/>
                <a:cs typeface="Arial MT"/>
              </a:rPr>
              <a:t>continues</a:t>
            </a:r>
            <a:r>
              <a:rPr sz="1400" spc="-40" dirty="0">
                <a:latin typeface="Arial MT"/>
                <a:cs typeface="Arial MT"/>
              </a:rPr>
              <a:t> </a:t>
            </a:r>
            <a:r>
              <a:rPr sz="1400" dirty="0">
                <a:latin typeface="Arial MT"/>
                <a:cs typeface="Arial MT"/>
              </a:rPr>
              <a:t>to</a:t>
            </a:r>
            <a:r>
              <a:rPr sz="1400" spc="-25" dirty="0">
                <a:latin typeface="Arial MT"/>
                <a:cs typeface="Arial MT"/>
              </a:rPr>
              <a:t> </a:t>
            </a:r>
            <a:r>
              <a:rPr sz="1400" dirty="0">
                <a:latin typeface="Arial MT"/>
                <a:cs typeface="Arial MT"/>
              </a:rPr>
              <a:t>contribute</a:t>
            </a:r>
            <a:r>
              <a:rPr sz="1400" spc="-45" dirty="0">
                <a:latin typeface="Arial MT"/>
                <a:cs typeface="Arial MT"/>
              </a:rPr>
              <a:t> </a:t>
            </a:r>
            <a:r>
              <a:rPr sz="1400" dirty="0">
                <a:latin typeface="Arial MT"/>
                <a:cs typeface="Arial MT"/>
              </a:rPr>
              <a:t>to</a:t>
            </a:r>
            <a:r>
              <a:rPr sz="1400" spc="-20" dirty="0">
                <a:latin typeface="Arial MT"/>
                <a:cs typeface="Arial MT"/>
              </a:rPr>
              <a:t> </a:t>
            </a:r>
            <a:r>
              <a:rPr sz="1400" spc="-25" dirty="0">
                <a:latin typeface="Arial MT"/>
                <a:cs typeface="Arial MT"/>
              </a:rPr>
              <a:t>the </a:t>
            </a:r>
            <a:r>
              <a:rPr sz="1400" dirty="0">
                <a:latin typeface="Arial MT"/>
                <a:cs typeface="Arial MT"/>
              </a:rPr>
              <a:t>company’s</a:t>
            </a:r>
            <a:r>
              <a:rPr sz="1400" spc="-60" dirty="0">
                <a:latin typeface="Arial MT"/>
                <a:cs typeface="Arial MT"/>
              </a:rPr>
              <a:t> </a:t>
            </a:r>
            <a:r>
              <a:rPr sz="1400" dirty="0">
                <a:latin typeface="Arial MT"/>
                <a:cs typeface="Arial MT"/>
              </a:rPr>
              <a:t>financial</a:t>
            </a:r>
            <a:r>
              <a:rPr sz="1400" spc="-55" dirty="0">
                <a:latin typeface="Arial MT"/>
                <a:cs typeface="Arial MT"/>
              </a:rPr>
              <a:t> </a:t>
            </a:r>
            <a:r>
              <a:rPr sz="1400" dirty="0">
                <a:latin typeface="Arial MT"/>
                <a:cs typeface="Arial MT"/>
              </a:rPr>
              <a:t>integrity</a:t>
            </a:r>
            <a:r>
              <a:rPr sz="1400" spc="-80" dirty="0">
                <a:latin typeface="Arial MT"/>
                <a:cs typeface="Arial MT"/>
              </a:rPr>
              <a:t> </a:t>
            </a:r>
            <a:r>
              <a:rPr sz="1400" dirty="0">
                <a:latin typeface="Arial MT"/>
                <a:cs typeface="Arial MT"/>
              </a:rPr>
              <a:t>and</a:t>
            </a:r>
            <a:r>
              <a:rPr sz="1400" spc="-45" dirty="0">
                <a:latin typeface="Arial MT"/>
                <a:cs typeface="Arial MT"/>
              </a:rPr>
              <a:t> </a:t>
            </a:r>
            <a:r>
              <a:rPr sz="1400" dirty="0">
                <a:latin typeface="Arial MT"/>
                <a:cs typeface="Arial MT"/>
              </a:rPr>
              <a:t>operational</a:t>
            </a:r>
            <a:r>
              <a:rPr sz="1400" spc="-60" dirty="0">
                <a:latin typeface="Arial MT"/>
                <a:cs typeface="Arial MT"/>
              </a:rPr>
              <a:t> </a:t>
            </a:r>
            <a:r>
              <a:rPr sz="1400" spc="-10" dirty="0">
                <a:latin typeface="Arial MT"/>
                <a:cs typeface="Arial MT"/>
              </a:rPr>
              <a:t>growth.</a:t>
            </a:r>
            <a:endParaRPr sz="1400" dirty="0">
              <a:latin typeface="Arial MT"/>
              <a:cs typeface="Arial MT"/>
            </a:endParaRPr>
          </a:p>
          <a:p>
            <a:pPr marL="2898775" marR="390525">
              <a:lnSpc>
                <a:spcPct val="100000"/>
              </a:lnSpc>
            </a:pPr>
            <a:r>
              <a:rPr sz="1400" dirty="0">
                <a:latin typeface="Arial MT"/>
                <a:cs typeface="Arial MT"/>
              </a:rPr>
              <a:t>Known</a:t>
            </a:r>
            <a:r>
              <a:rPr sz="1400" spc="-20" dirty="0">
                <a:latin typeface="Arial MT"/>
                <a:cs typeface="Arial MT"/>
              </a:rPr>
              <a:t> </a:t>
            </a:r>
            <a:r>
              <a:rPr sz="1400" dirty="0">
                <a:latin typeface="Arial MT"/>
                <a:cs typeface="Arial MT"/>
              </a:rPr>
              <a:t>for</a:t>
            </a:r>
            <a:r>
              <a:rPr sz="1400" spc="-45" dirty="0">
                <a:latin typeface="Arial MT"/>
                <a:cs typeface="Arial MT"/>
              </a:rPr>
              <a:t> </a:t>
            </a:r>
            <a:r>
              <a:rPr sz="1400" dirty="0">
                <a:latin typeface="Arial MT"/>
                <a:cs typeface="Arial MT"/>
              </a:rPr>
              <a:t>her</a:t>
            </a:r>
            <a:r>
              <a:rPr sz="1400" spc="-35" dirty="0">
                <a:latin typeface="Arial MT"/>
                <a:cs typeface="Arial MT"/>
              </a:rPr>
              <a:t> </a:t>
            </a:r>
            <a:r>
              <a:rPr sz="1400" dirty="0">
                <a:latin typeface="Arial MT"/>
                <a:cs typeface="Arial MT"/>
              </a:rPr>
              <a:t>dedication,</a:t>
            </a:r>
            <a:r>
              <a:rPr sz="1400" spc="-50" dirty="0">
                <a:latin typeface="Arial MT"/>
                <a:cs typeface="Arial MT"/>
              </a:rPr>
              <a:t> </a:t>
            </a:r>
            <a:r>
              <a:rPr sz="1400" dirty="0">
                <a:latin typeface="Arial MT"/>
                <a:cs typeface="Arial MT"/>
              </a:rPr>
              <a:t>attention</a:t>
            </a:r>
            <a:r>
              <a:rPr sz="1400" spc="-60" dirty="0">
                <a:latin typeface="Arial MT"/>
                <a:cs typeface="Arial MT"/>
              </a:rPr>
              <a:t> </a:t>
            </a:r>
            <a:r>
              <a:rPr sz="1400" dirty="0">
                <a:latin typeface="Arial MT"/>
                <a:cs typeface="Arial MT"/>
              </a:rPr>
              <a:t>to</a:t>
            </a:r>
            <a:r>
              <a:rPr sz="1400" spc="-35" dirty="0">
                <a:latin typeface="Arial MT"/>
                <a:cs typeface="Arial MT"/>
              </a:rPr>
              <a:t> </a:t>
            </a:r>
            <a:r>
              <a:rPr sz="1400" dirty="0">
                <a:latin typeface="Arial MT"/>
                <a:cs typeface="Arial MT"/>
              </a:rPr>
              <a:t>detail,</a:t>
            </a:r>
            <a:r>
              <a:rPr sz="1400" spc="-40" dirty="0">
                <a:latin typeface="Arial MT"/>
                <a:cs typeface="Arial MT"/>
              </a:rPr>
              <a:t> </a:t>
            </a:r>
            <a:r>
              <a:rPr sz="1400" dirty="0">
                <a:latin typeface="Arial MT"/>
                <a:cs typeface="Arial MT"/>
              </a:rPr>
              <a:t>and</a:t>
            </a:r>
            <a:r>
              <a:rPr sz="1400" spc="-35" dirty="0">
                <a:latin typeface="Arial MT"/>
                <a:cs typeface="Arial MT"/>
              </a:rPr>
              <a:t> </a:t>
            </a:r>
            <a:r>
              <a:rPr sz="1400" dirty="0">
                <a:latin typeface="Arial MT"/>
                <a:cs typeface="Arial MT"/>
              </a:rPr>
              <a:t>commitment</a:t>
            </a:r>
            <a:r>
              <a:rPr sz="1400" spc="-50" dirty="0">
                <a:latin typeface="Arial MT"/>
                <a:cs typeface="Arial MT"/>
              </a:rPr>
              <a:t> </a:t>
            </a:r>
            <a:r>
              <a:rPr sz="1400" spc="-25" dirty="0">
                <a:latin typeface="Arial MT"/>
                <a:cs typeface="Arial MT"/>
              </a:rPr>
              <a:t>to </a:t>
            </a:r>
            <a:r>
              <a:rPr sz="1400" dirty="0">
                <a:latin typeface="Arial MT"/>
                <a:cs typeface="Arial MT"/>
              </a:rPr>
              <a:t>excellence,</a:t>
            </a:r>
            <a:r>
              <a:rPr sz="1400" spc="-55" dirty="0">
                <a:latin typeface="Arial MT"/>
                <a:cs typeface="Arial MT"/>
              </a:rPr>
              <a:t> </a:t>
            </a:r>
            <a:r>
              <a:rPr sz="1400" dirty="0">
                <a:latin typeface="Arial MT"/>
                <a:cs typeface="Arial MT"/>
              </a:rPr>
              <a:t>Mrs.</a:t>
            </a:r>
            <a:r>
              <a:rPr sz="1400" spc="-35" dirty="0">
                <a:latin typeface="Arial MT"/>
                <a:cs typeface="Arial MT"/>
              </a:rPr>
              <a:t> </a:t>
            </a:r>
            <a:r>
              <a:rPr sz="1400" dirty="0">
                <a:latin typeface="Arial MT"/>
                <a:cs typeface="Arial MT"/>
              </a:rPr>
              <a:t>Olanrewaju</a:t>
            </a:r>
            <a:r>
              <a:rPr sz="1400" spc="-35" dirty="0">
                <a:latin typeface="Arial MT"/>
                <a:cs typeface="Arial MT"/>
              </a:rPr>
              <a:t> </a:t>
            </a:r>
            <a:r>
              <a:rPr sz="1400" dirty="0">
                <a:latin typeface="Arial MT"/>
                <a:cs typeface="Arial MT"/>
              </a:rPr>
              <a:t>is</a:t>
            </a:r>
            <a:r>
              <a:rPr sz="1400" spc="-30" dirty="0">
                <a:latin typeface="Arial MT"/>
                <a:cs typeface="Arial MT"/>
              </a:rPr>
              <a:t> </a:t>
            </a:r>
            <a:r>
              <a:rPr sz="1400" dirty="0">
                <a:latin typeface="Arial MT"/>
                <a:cs typeface="Arial MT"/>
              </a:rPr>
              <a:t>driven</a:t>
            </a:r>
            <a:r>
              <a:rPr sz="1400" spc="-20" dirty="0">
                <a:latin typeface="Arial MT"/>
                <a:cs typeface="Arial MT"/>
              </a:rPr>
              <a:t> </a:t>
            </a:r>
            <a:r>
              <a:rPr sz="1400" dirty="0">
                <a:latin typeface="Arial MT"/>
                <a:cs typeface="Arial MT"/>
              </a:rPr>
              <a:t>by</a:t>
            </a:r>
            <a:r>
              <a:rPr sz="1400" spc="-20" dirty="0">
                <a:latin typeface="Arial MT"/>
                <a:cs typeface="Arial MT"/>
              </a:rPr>
              <a:t> </a:t>
            </a:r>
            <a:r>
              <a:rPr sz="1400" dirty="0">
                <a:latin typeface="Arial MT"/>
                <a:cs typeface="Arial MT"/>
              </a:rPr>
              <a:t>a</a:t>
            </a:r>
            <a:r>
              <a:rPr sz="1400" spc="-30" dirty="0">
                <a:latin typeface="Arial MT"/>
                <a:cs typeface="Arial MT"/>
              </a:rPr>
              <a:t> </a:t>
            </a:r>
            <a:r>
              <a:rPr sz="1400" dirty="0">
                <a:latin typeface="Arial MT"/>
                <a:cs typeface="Arial MT"/>
              </a:rPr>
              <a:t>passion</a:t>
            </a:r>
            <a:r>
              <a:rPr sz="1400" spc="-45" dirty="0">
                <a:latin typeface="Arial MT"/>
                <a:cs typeface="Arial MT"/>
              </a:rPr>
              <a:t> </a:t>
            </a:r>
            <a:r>
              <a:rPr sz="1400" dirty="0">
                <a:latin typeface="Arial MT"/>
                <a:cs typeface="Arial MT"/>
              </a:rPr>
              <a:t>for</a:t>
            </a:r>
            <a:r>
              <a:rPr sz="1400" spc="-30" dirty="0">
                <a:latin typeface="Arial MT"/>
                <a:cs typeface="Arial MT"/>
              </a:rPr>
              <a:t> </a:t>
            </a:r>
            <a:r>
              <a:rPr sz="1400" spc="-10" dirty="0">
                <a:latin typeface="Arial MT"/>
                <a:cs typeface="Arial MT"/>
              </a:rPr>
              <a:t>continuous </a:t>
            </a:r>
            <a:r>
              <a:rPr sz="1400" dirty="0">
                <a:latin typeface="Arial MT"/>
                <a:cs typeface="Arial MT"/>
              </a:rPr>
              <a:t>improvement</a:t>
            </a:r>
            <a:r>
              <a:rPr sz="1400" spc="-50" dirty="0">
                <a:latin typeface="Arial MT"/>
                <a:cs typeface="Arial MT"/>
              </a:rPr>
              <a:t> </a:t>
            </a:r>
            <a:r>
              <a:rPr sz="1400" dirty="0">
                <a:latin typeface="Arial MT"/>
                <a:cs typeface="Arial MT"/>
              </a:rPr>
              <a:t>and</a:t>
            </a:r>
            <a:r>
              <a:rPr sz="1400" spc="-35" dirty="0">
                <a:latin typeface="Arial MT"/>
                <a:cs typeface="Arial MT"/>
              </a:rPr>
              <a:t> </a:t>
            </a:r>
            <a:r>
              <a:rPr sz="1400" dirty="0">
                <a:latin typeface="Arial MT"/>
                <a:cs typeface="Arial MT"/>
              </a:rPr>
              <a:t>professional</a:t>
            </a:r>
            <a:r>
              <a:rPr sz="1400" spc="-45" dirty="0">
                <a:latin typeface="Arial MT"/>
                <a:cs typeface="Arial MT"/>
              </a:rPr>
              <a:t> </a:t>
            </a:r>
            <a:r>
              <a:rPr sz="1400" dirty="0">
                <a:latin typeface="Arial MT"/>
                <a:cs typeface="Arial MT"/>
              </a:rPr>
              <a:t>integrity</a:t>
            </a:r>
            <a:r>
              <a:rPr sz="1400" spc="-65" dirty="0">
                <a:latin typeface="Arial MT"/>
                <a:cs typeface="Arial MT"/>
              </a:rPr>
              <a:t> </a:t>
            </a:r>
            <a:r>
              <a:rPr sz="1400" dirty="0">
                <a:latin typeface="Arial MT"/>
                <a:cs typeface="Arial MT"/>
              </a:rPr>
              <a:t>in</a:t>
            </a:r>
            <a:r>
              <a:rPr sz="1400" spc="-25" dirty="0">
                <a:latin typeface="Arial MT"/>
                <a:cs typeface="Arial MT"/>
              </a:rPr>
              <a:t> </a:t>
            </a:r>
            <a:r>
              <a:rPr sz="1400" dirty="0">
                <a:latin typeface="Arial MT"/>
                <a:cs typeface="Arial MT"/>
              </a:rPr>
              <a:t>all</a:t>
            </a:r>
            <a:r>
              <a:rPr sz="1400" spc="-20" dirty="0">
                <a:latin typeface="Arial MT"/>
                <a:cs typeface="Arial MT"/>
              </a:rPr>
              <a:t> </a:t>
            </a:r>
            <a:r>
              <a:rPr sz="1400" dirty="0">
                <a:latin typeface="Arial MT"/>
                <a:cs typeface="Arial MT"/>
              </a:rPr>
              <a:t>her</a:t>
            </a:r>
            <a:r>
              <a:rPr sz="1400" spc="-35" dirty="0">
                <a:latin typeface="Arial MT"/>
                <a:cs typeface="Arial MT"/>
              </a:rPr>
              <a:t> </a:t>
            </a:r>
            <a:r>
              <a:rPr sz="1400" spc="-10" dirty="0">
                <a:latin typeface="Arial MT"/>
                <a:cs typeface="Arial MT"/>
              </a:rPr>
              <a:t>endeavors.</a:t>
            </a:r>
            <a:endParaRPr sz="1400" dirty="0">
              <a:latin typeface="Arial MT"/>
              <a:cs typeface="Arial MT"/>
            </a:endParaRPr>
          </a:p>
          <a:p>
            <a:pPr marL="382905" marR="5664200" indent="-370840">
              <a:lnSpc>
                <a:spcPct val="100000"/>
              </a:lnSpc>
              <a:spcBef>
                <a:spcPts val="1040"/>
              </a:spcBef>
            </a:pPr>
            <a:r>
              <a:rPr sz="1800" b="1" dirty="0">
                <a:solidFill>
                  <a:srgbClr val="DA241D"/>
                </a:solidFill>
                <a:latin typeface="Arial"/>
                <a:cs typeface="Arial"/>
              </a:rPr>
              <a:t>Mrs.</a:t>
            </a:r>
            <a:r>
              <a:rPr sz="1800" b="1" spc="-25" dirty="0">
                <a:solidFill>
                  <a:srgbClr val="DA241D"/>
                </a:solidFill>
                <a:latin typeface="Arial"/>
                <a:cs typeface="Arial"/>
              </a:rPr>
              <a:t> </a:t>
            </a:r>
            <a:r>
              <a:rPr sz="1800" b="1" dirty="0">
                <a:solidFill>
                  <a:srgbClr val="DA241D"/>
                </a:solidFill>
                <a:latin typeface="Arial"/>
                <a:cs typeface="Arial"/>
              </a:rPr>
              <a:t>Deborah</a:t>
            </a:r>
            <a:r>
              <a:rPr sz="1800" b="1" spc="-20" dirty="0">
                <a:solidFill>
                  <a:srgbClr val="DA241D"/>
                </a:solidFill>
                <a:latin typeface="Arial"/>
                <a:cs typeface="Arial"/>
              </a:rPr>
              <a:t> </a:t>
            </a:r>
            <a:r>
              <a:rPr sz="1800" b="1" spc="-10" dirty="0">
                <a:solidFill>
                  <a:srgbClr val="DA241D"/>
                </a:solidFill>
                <a:latin typeface="Arial"/>
                <a:cs typeface="Arial"/>
              </a:rPr>
              <a:t>Olanrewaju </a:t>
            </a:r>
            <a:r>
              <a:rPr sz="1800" b="1" dirty="0">
                <a:solidFill>
                  <a:srgbClr val="DA241D"/>
                </a:solidFill>
                <a:latin typeface="Arial"/>
                <a:cs typeface="Arial"/>
              </a:rPr>
              <a:t>Finance</a:t>
            </a:r>
            <a:r>
              <a:rPr sz="1800" b="1" spc="-30" dirty="0">
                <a:solidFill>
                  <a:srgbClr val="DA241D"/>
                </a:solidFill>
                <a:latin typeface="Arial"/>
                <a:cs typeface="Arial"/>
              </a:rPr>
              <a:t> </a:t>
            </a:r>
            <a:r>
              <a:rPr sz="1800" b="1" spc="-10" dirty="0">
                <a:solidFill>
                  <a:srgbClr val="DA241D"/>
                </a:solidFill>
                <a:latin typeface="Arial"/>
                <a:cs typeface="Arial"/>
              </a:rPr>
              <a:t>Controller</a:t>
            </a:r>
            <a:endParaRPr sz="1800" dirty="0">
              <a:latin typeface="Arial"/>
              <a:cs typeface="Aria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018" y="992505"/>
            <a:ext cx="2742654" cy="34270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44315" y="988821"/>
            <a:ext cx="5076825" cy="1946275"/>
          </a:xfrm>
          <a:prstGeom prst="rect">
            <a:avLst/>
          </a:prstGeom>
        </p:spPr>
        <p:txBody>
          <a:bodyPr vert="horz" wrap="square" lIns="0" tIns="12700" rIns="0" bIns="0" rtlCol="0">
            <a:spAutoFit/>
          </a:bodyPr>
          <a:lstStyle/>
          <a:p>
            <a:pPr marL="12700" marR="5080">
              <a:lnSpc>
                <a:spcPct val="100000"/>
              </a:lnSpc>
              <a:spcBef>
                <a:spcPts val="100"/>
              </a:spcBef>
            </a:pPr>
            <a:r>
              <a:rPr sz="1800" spc="-10" dirty="0">
                <a:latin typeface="Arial MT"/>
                <a:cs typeface="Arial MT"/>
              </a:rPr>
              <a:t>Mr.</a:t>
            </a:r>
            <a:r>
              <a:rPr sz="1800" spc="-40" dirty="0">
                <a:latin typeface="Arial MT"/>
                <a:cs typeface="Arial MT"/>
              </a:rPr>
              <a:t> </a:t>
            </a:r>
            <a:r>
              <a:rPr sz="1800" dirty="0">
                <a:latin typeface="Arial MT"/>
                <a:cs typeface="Arial MT"/>
              </a:rPr>
              <a:t>Dahiru</a:t>
            </a:r>
            <a:r>
              <a:rPr sz="1800" spc="-30" dirty="0">
                <a:latin typeface="Arial MT"/>
                <a:cs typeface="Arial MT"/>
              </a:rPr>
              <a:t> </a:t>
            </a:r>
            <a:r>
              <a:rPr sz="1800" dirty="0">
                <a:latin typeface="Arial MT"/>
                <a:cs typeface="Arial MT"/>
              </a:rPr>
              <a:t>Umar</a:t>
            </a:r>
            <a:r>
              <a:rPr sz="1800" spc="-20" dirty="0">
                <a:latin typeface="Arial MT"/>
                <a:cs typeface="Arial MT"/>
              </a:rPr>
              <a:t> </a:t>
            </a:r>
            <a:r>
              <a:rPr sz="1800" dirty="0">
                <a:latin typeface="Arial MT"/>
                <a:cs typeface="Arial MT"/>
              </a:rPr>
              <a:t>serves</a:t>
            </a:r>
            <a:r>
              <a:rPr sz="1800" spc="-30" dirty="0">
                <a:latin typeface="Arial MT"/>
                <a:cs typeface="Arial MT"/>
              </a:rPr>
              <a:t> </a:t>
            </a:r>
            <a:r>
              <a:rPr sz="1800" dirty="0">
                <a:latin typeface="Arial MT"/>
                <a:cs typeface="Arial MT"/>
              </a:rPr>
              <a:t>as</a:t>
            </a:r>
            <a:r>
              <a:rPr sz="1800" spc="-30" dirty="0">
                <a:latin typeface="Arial MT"/>
                <a:cs typeface="Arial MT"/>
              </a:rPr>
              <a:t> </a:t>
            </a:r>
            <a:r>
              <a:rPr sz="1800" dirty="0">
                <a:latin typeface="Arial MT"/>
                <a:cs typeface="Arial MT"/>
              </a:rPr>
              <a:t>the</a:t>
            </a:r>
            <a:r>
              <a:rPr sz="1800" spc="-40" dirty="0">
                <a:latin typeface="Arial MT"/>
                <a:cs typeface="Arial MT"/>
              </a:rPr>
              <a:t> </a:t>
            </a:r>
            <a:r>
              <a:rPr sz="1800" spc="-10" dirty="0">
                <a:latin typeface="Arial MT"/>
                <a:cs typeface="Arial MT"/>
              </a:rPr>
              <a:t>Business </a:t>
            </a:r>
            <a:r>
              <a:rPr sz="1800" dirty="0">
                <a:latin typeface="Arial MT"/>
                <a:cs typeface="Arial MT"/>
              </a:rPr>
              <a:t>Development</a:t>
            </a:r>
            <a:r>
              <a:rPr sz="1800" spc="-30" dirty="0">
                <a:latin typeface="Arial MT"/>
                <a:cs typeface="Arial MT"/>
              </a:rPr>
              <a:t> </a:t>
            </a:r>
            <a:r>
              <a:rPr sz="1800" dirty="0">
                <a:latin typeface="Arial MT"/>
                <a:cs typeface="Arial MT"/>
              </a:rPr>
              <a:t>Executive</a:t>
            </a:r>
            <a:r>
              <a:rPr sz="1800" spc="-20" dirty="0">
                <a:latin typeface="Arial MT"/>
                <a:cs typeface="Arial MT"/>
              </a:rPr>
              <a:t> </a:t>
            </a:r>
            <a:r>
              <a:rPr sz="1800" dirty="0">
                <a:latin typeface="Arial MT"/>
                <a:cs typeface="Arial MT"/>
              </a:rPr>
              <a:t>for</a:t>
            </a:r>
            <a:r>
              <a:rPr sz="1800" spc="-50" dirty="0">
                <a:latin typeface="Arial MT"/>
                <a:cs typeface="Arial MT"/>
              </a:rPr>
              <a:t> </a:t>
            </a:r>
            <a:r>
              <a:rPr sz="1800" dirty="0">
                <a:latin typeface="Arial MT"/>
                <a:cs typeface="Arial MT"/>
              </a:rPr>
              <a:t>Outreach</a:t>
            </a:r>
            <a:r>
              <a:rPr sz="1800" spc="-30" dirty="0">
                <a:latin typeface="Arial MT"/>
                <a:cs typeface="Arial MT"/>
              </a:rPr>
              <a:t> </a:t>
            </a:r>
            <a:r>
              <a:rPr sz="1800" spc="-10" dirty="0">
                <a:latin typeface="Arial MT"/>
                <a:cs typeface="Arial MT"/>
              </a:rPr>
              <a:t>International </a:t>
            </a:r>
            <a:r>
              <a:rPr sz="1800" dirty="0">
                <a:latin typeface="Arial MT"/>
                <a:cs typeface="Arial MT"/>
              </a:rPr>
              <a:t>Media</a:t>
            </a:r>
            <a:r>
              <a:rPr sz="1800" spc="-60" dirty="0">
                <a:latin typeface="Arial MT"/>
                <a:cs typeface="Arial MT"/>
              </a:rPr>
              <a:t> </a:t>
            </a:r>
            <a:r>
              <a:rPr sz="1800" dirty="0">
                <a:latin typeface="Arial MT"/>
                <a:cs typeface="Arial MT"/>
              </a:rPr>
              <a:t>Limited’s</a:t>
            </a:r>
            <a:r>
              <a:rPr sz="1800" spc="-35" dirty="0">
                <a:latin typeface="Arial MT"/>
                <a:cs typeface="Arial MT"/>
              </a:rPr>
              <a:t> </a:t>
            </a:r>
            <a:r>
              <a:rPr sz="1800" dirty="0">
                <a:latin typeface="Arial MT"/>
                <a:cs typeface="Arial MT"/>
              </a:rPr>
              <a:t>Kano</a:t>
            </a:r>
            <a:r>
              <a:rPr sz="1800" spc="-55" dirty="0">
                <a:latin typeface="Arial MT"/>
                <a:cs typeface="Arial MT"/>
              </a:rPr>
              <a:t> </a:t>
            </a:r>
            <a:r>
              <a:rPr sz="1800" dirty="0">
                <a:latin typeface="Arial MT"/>
                <a:cs typeface="Arial MT"/>
              </a:rPr>
              <a:t>Branch,</a:t>
            </a:r>
            <a:r>
              <a:rPr sz="1800" spc="-35" dirty="0">
                <a:latin typeface="Arial MT"/>
                <a:cs typeface="Arial MT"/>
              </a:rPr>
              <a:t> </a:t>
            </a:r>
            <a:r>
              <a:rPr sz="1800" dirty="0">
                <a:latin typeface="Arial MT"/>
                <a:cs typeface="Arial MT"/>
              </a:rPr>
              <a:t>bringing</a:t>
            </a:r>
            <a:r>
              <a:rPr sz="1800" spc="-30" dirty="0">
                <a:latin typeface="Arial MT"/>
                <a:cs typeface="Arial MT"/>
              </a:rPr>
              <a:t> </a:t>
            </a:r>
            <a:r>
              <a:rPr sz="1800" spc="-10" dirty="0">
                <a:latin typeface="Arial MT"/>
                <a:cs typeface="Arial MT"/>
              </a:rPr>
              <a:t>extensive </a:t>
            </a:r>
            <a:r>
              <a:rPr sz="1800" dirty="0">
                <a:latin typeface="Arial MT"/>
                <a:cs typeface="Arial MT"/>
              </a:rPr>
              <a:t>experience</a:t>
            </a:r>
            <a:r>
              <a:rPr sz="1800" spc="-10" dirty="0">
                <a:latin typeface="Arial MT"/>
                <a:cs typeface="Arial MT"/>
              </a:rPr>
              <a:t> </a:t>
            </a:r>
            <a:r>
              <a:rPr sz="1800" dirty="0">
                <a:latin typeface="Arial MT"/>
                <a:cs typeface="Arial MT"/>
              </a:rPr>
              <a:t>in</a:t>
            </a:r>
            <a:r>
              <a:rPr sz="1800" spc="-45" dirty="0">
                <a:latin typeface="Arial MT"/>
                <a:cs typeface="Arial MT"/>
              </a:rPr>
              <a:t> </a:t>
            </a:r>
            <a:r>
              <a:rPr sz="1800" dirty="0">
                <a:latin typeface="Arial MT"/>
                <a:cs typeface="Arial MT"/>
              </a:rPr>
              <a:t>marketing</a:t>
            </a:r>
            <a:r>
              <a:rPr sz="1800" spc="-25" dirty="0">
                <a:latin typeface="Arial MT"/>
                <a:cs typeface="Arial MT"/>
              </a:rPr>
              <a:t> </a:t>
            </a:r>
            <a:r>
              <a:rPr sz="1800" dirty="0">
                <a:latin typeface="Arial MT"/>
                <a:cs typeface="Arial MT"/>
              </a:rPr>
              <a:t>and</a:t>
            </a:r>
            <a:r>
              <a:rPr sz="1800" spc="-30" dirty="0">
                <a:latin typeface="Arial MT"/>
                <a:cs typeface="Arial MT"/>
              </a:rPr>
              <a:t> </a:t>
            </a:r>
            <a:r>
              <a:rPr sz="1800" dirty="0">
                <a:latin typeface="Arial MT"/>
                <a:cs typeface="Arial MT"/>
              </a:rPr>
              <a:t>business</a:t>
            </a:r>
            <a:r>
              <a:rPr sz="1800" spc="-25" dirty="0">
                <a:latin typeface="Arial MT"/>
                <a:cs typeface="Arial MT"/>
              </a:rPr>
              <a:t> </a:t>
            </a:r>
            <a:r>
              <a:rPr sz="1800" spc="-10" dirty="0">
                <a:latin typeface="Arial MT"/>
                <a:cs typeface="Arial MT"/>
              </a:rPr>
              <a:t>growth.</a:t>
            </a:r>
            <a:endParaRPr sz="1800">
              <a:latin typeface="Arial MT"/>
              <a:cs typeface="Arial MT"/>
            </a:endParaRPr>
          </a:p>
          <a:p>
            <a:pPr>
              <a:lnSpc>
                <a:spcPct val="100000"/>
              </a:lnSpc>
              <a:spcBef>
                <a:spcPts val="90"/>
              </a:spcBef>
            </a:pPr>
            <a:endParaRPr sz="1800">
              <a:latin typeface="Arial MT"/>
              <a:cs typeface="Arial MT"/>
            </a:endParaRPr>
          </a:p>
          <a:p>
            <a:pPr marL="12700" marR="41275">
              <a:lnSpc>
                <a:spcPct val="100000"/>
              </a:lnSpc>
            </a:pPr>
            <a:r>
              <a:rPr sz="1800" dirty="0">
                <a:latin typeface="Arial MT"/>
                <a:cs typeface="Arial MT"/>
              </a:rPr>
              <a:t>He</a:t>
            </a:r>
            <a:r>
              <a:rPr sz="1800" spc="-30" dirty="0">
                <a:latin typeface="Arial MT"/>
                <a:cs typeface="Arial MT"/>
              </a:rPr>
              <a:t> </a:t>
            </a:r>
            <a:r>
              <a:rPr sz="1800" dirty="0">
                <a:latin typeface="Arial MT"/>
                <a:cs typeface="Arial MT"/>
              </a:rPr>
              <a:t>holds</a:t>
            </a:r>
            <a:r>
              <a:rPr sz="1800" spc="-15"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Diploma</a:t>
            </a:r>
            <a:r>
              <a:rPr sz="1800" spc="-5"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Marketing</a:t>
            </a:r>
            <a:r>
              <a:rPr sz="1800" spc="-15" dirty="0">
                <a:latin typeface="Arial MT"/>
                <a:cs typeface="Arial MT"/>
              </a:rPr>
              <a:t> </a:t>
            </a:r>
            <a:r>
              <a:rPr sz="1800" dirty="0">
                <a:latin typeface="Arial MT"/>
                <a:cs typeface="Arial MT"/>
              </a:rPr>
              <a:t>from</a:t>
            </a:r>
            <a:r>
              <a:rPr sz="1800" spc="-20" dirty="0">
                <a:latin typeface="Arial MT"/>
                <a:cs typeface="Arial MT"/>
              </a:rPr>
              <a:t> </a:t>
            </a:r>
            <a:r>
              <a:rPr sz="1800" dirty="0">
                <a:latin typeface="Arial MT"/>
                <a:cs typeface="Arial MT"/>
              </a:rPr>
              <a:t>Kano</a:t>
            </a:r>
            <a:r>
              <a:rPr sz="1800" spc="-15" dirty="0">
                <a:latin typeface="Arial MT"/>
                <a:cs typeface="Arial MT"/>
              </a:rPr>
              <a:t> </a:t>
            </a:r>
            <a:r>
              <a:rPr sz="1800" spc="-10" dirty="0">
                <a:latin typeface="Arial MT"/>
                <a:cs typeface="Arial MT"/>
              </a:rPr>
              <a:t>State Polytechnic.</a:t>
            </a:r>
            <a:endParaRPr sz="1800">
              <a:latin typeface="Arial MT"/>
              <a:cs typeface="Arial MT"/>
            </a:endParaRPr>
          </a:p>
        </p:txBody>
      </p:sp>
      <p:sp>
        <p:nvSpPr>
          <p:cNvPr id="3" name="object 3"/>
          <p:cNvSpPr txBox="1"/>
          <p:nvPr/>
        </p:nvSpPr>
        <p:spPr>
          <a:xfrm>
            <a:off x="3544315" y="3184016"/>
            <a:ext cx="5318760" cy="194627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MT"/>
                <a:cs typeface="Arial MT"/>
              </a:rPr>
              <a:t>Since</a:t>
            </a:r>
            <a:r>
              <a:rPr sz="1800" spc="-50" dirty="0">
                <a:latin typeface="Arial MT"/>
                <a:cs typeface="Arial MT"/>
              </a:rPr>
              <a:t> </a:t>
            </a:r>
            <a:r>
              <a:rPr sz="1800" dirty="0">
                <a:latin typeface="Arial MT"/>
                <a:cs typeface="Arial MT"/>
              </a:rPr>
              <a:t>joining</a:t>
            </a:r>
            <a:r>
              <a:rPr sz="1800" spc="-25" dirty="0">
                <a:latin typeface="Arial MT"/>
                <a:cs typeface="Arial MT"/>
              </a:rPr>
              <a:t> </a:t>
            </a:r>
            <a:r>
              <a:rPr sz="1800" dirty="0">
                <a:latin typeface="Arial MT"/>
                <a:cs typeface="Arial MT"/>
              </a:rPr>
              <a:t>the</a:t>
            </a:r>
            <a:r>
              <a:rPr sz="1800" spc="-55" dirty="0">
                <a:latin typeface="Arial MT"/>
                <a:cs typeface="Arial MT"/>
              </a:rPr>
              <a:t> </a:t>
            </a:r>
            <a:r>
              <a:rPr sz="1800" dirty="0">
                <a:latin typeface="Arial MT"/>
                <a:cs typeface="Arial MT"/>
              </a:rPr>
              <a:t>organization</a:t>
            </a:r>
            <a:r>
              <a:rPr sz="1800" spc="-30" dirty="0">
                <a:latin typeface="Arial MT"/>
                <a:cs typeface="Arial MT"/>
              </a:rPr>
              <a:t> </a:t>
            </a:r>
            <a:r>
              <a:rPr sz="1800" dirty="0">
                <a:latin typeface="Arial MT"/>
                <a:cs typeface="Arial MT"/>
              </a:rPr>
              <a:t>in</a:t>
            </a:r>
            <a:r>
              <a:rPr sz="1800" spc="-50" dirty="0">
                <a:latin typeface="Arial MT"/>
                <a:cs typeface="Arial MT"/>
              </a:rPr>
              <a:t> </a:t>
            </a:r>
            <a:r>
              <a:rPr sz="1800" dirty="0">
                <a:latin typeface="Arial MT"/>
                <a:cs typeface="Arial MT"/>
              </a:rPr>
              <a:t>2003,</a:t>
            </a:r>
            <a:r>
              <a:rPr sz="1800" spc="-30" dirty="0">
                <a:latin typeface="Arial MT"/>
                <a:cs typeface="Arial MT"/>
              </a:rPr>
              <a:t> </a:t>
            </a:r>
            <a:r>
              <a:rPr sz="1800" dirty="0">
                <a:latin typeface="Arial MT"/>
                <a:cs typeface="Arial MT"/>
              </a:rPr>
              <a:t>Mr.</a:t>
            </a:r>
            <a:r>
              <a:rPr sz="1800" spc="-45" dirty="0">
                <a:latin typeface="Arial MT"/>
                <a:cs typeface="Arial MT"/>
              </a:rPr>
              <a:t> </a:t>
            </a:r>
            <a:r>
              <a:rPr sz="1800" dirty="0">
                <a:latin typeface="Arial MT"/>
                <a:cs typeface="Arial MT"/>
              </a:rPr>
              <a:t>Umar</a:t>
            </a:r>
            <a:r>
              <a:rPr sz="1800" spc="-45" dirty="0">
                <a:latin typeface="Arial MT"/>
                <a:cs typeface="Arial MT"/>
              </a:rPr>
              <a:t> </a:t>
            </a:r>
            <a:r>
              <a:rPr sz="1800" spc="-25" dirty="0">
                <a:latin typeface="Arial MT"/>
                <a:cs typeface="Arial MT"/>
              </a:rPr>
              <a:t>has </a:t>
            </a:r>
            <a:r>
              <a:rPr sz="1800" dirty="0">
                <a:latin typeface="Arial MT"/>
                <a:cs typeface="Arial MT"/>
              </a:rPr>
              <a:t>played</a:t>
            </a:r>
            <a:r>
              <a:rPr sz="1800" spc="-5" dirty="0">
                <a:latin typeface="Arial MT"/>
                <a:cs typeface="Arial MT"/>
              </a:rPr>
              <a:t> </a:t>
            </a:r>
            <a:r>
              <a:rPr sz="1800" dirty="0">
                <a:latin typeface="Arial MT"/>
                <a:cs typeface="Arial MT"/>
              </a:rPr>
              <a:t>a</a:t>
            </a:r>
            <a:r>
              <a:rPr sz="1800" spc="-30" dirty="0">
                <a:latin typeface="Arial MT"/>
                <a:cs typeface="Arial MT"/>
              </a:rPr>
              <a:t> </a:t>
            </a:r>
            <a:r>
              <a:rPr sz="1800" dirty="0">
                <a:latin typeface="Arial MT"/>
                <a:cs typeface="Arial MT"/>
              </a:rPr>
              <a:t>key</a:t>
            </a:r>
            <a:r>
              <a:rPr sz="1800" spc="-30" dirty="0">
                <a:latin typeface="Arial MT"/>
                <a:cs typeface="Arial MT"/>
              </a:rPr>
              <a:t> </a:t>
            </a:r>
            <a:r>
              <a:rPr sz="1800" dirty="0">
                <a:latin typeface="Arial MT"/>
                <a:cs typeface="Arial MT"/>
              </a:rPr>
              <a:t>role</a:t>
            </a:r>
            <a:r>
              <a:rPr sz="1800" spc="-20" dirty="0">
                <a:latin typeface="Arial MT"/>
                <a:cs typeface="Arial MT"/>
              </a:rPr>
              <a:t> </a:t>
            </a:r>
            <a:r>
              <a:rPr sz="1800" dirty="0">
                <a:latin typeface="Arial MT"/>
                <a:cs typeface="Arial MT"/>
              </a:rPr>
              <a:t>in</a:t>
            </a:r>
            <a:r>
              <a:rPr sz="1800" spc="-40" dirty="0">
                <a:latin typeface="Arial MT"/>
                <a:cs typeface="Arial MT"/>
              </a:rPr>
              <a:t> </a:t>
            </a:r>
            <a:r>
              <a:rPr sz="1800" dirty="0">
                <a:latin typeface="Arial MT"/>
                <a:cs typeface="Arial MT"/>
              </a:rPr>
              <a:t>expanding</a:t>
            </a:r>
            <a:r>
              <a:rPr sz="1800" spc="15" dirty="0">
                <a:latin typeface="Arial MT"/>
                <a:cs typeface="Arial MT"/>
              </a:rPr>
              <a:t> </a:t>
            </a:r>
            <a:r>
              <a:rPr sz="1800" dirty="0">
                <a:latin typeface="Arial MT"/>
                <a:cs typeface="Arial MT"/>
              </a:rPr>
              <a:t>client</a:t>
            </a:r>
            <a:r>
              <a:rPr sz="1800" spc="-25" dirty="0">
                <a:latin typeface="Arial MT"/>
                <a:cs typeface="Arial MT"/>
              </a:rPr>
              <a:t> </a:t>
            </a:r>
            <a:r>
              <a:rPr sz="1800" spc="-10" dirty="0">
                <a:latin typeface="Arial MT"/>
                <a:cs typeface="Arial MT"/>
              </a:rPr>
              <a:t>relationships, </a:t>
            </a:r>
            <a:r>
              <a:rPr sz="1800" dirty="0">
                <a:latin typeface="Arial MT"/>
                <a:cs typeface="Arial MT"/>
              </a:rPr>
              <a:t>driving</a:t>
            </a:r>
            <a:r>
              <a:rPr sz="1800" spc="-55" dirty="0">
                <a:latin typeface="Arial MT"/>
                <a:cs typeface="Arial MT"/>
              </a:rPr>
              <a:t> </a:t>
            </a:r>
            <a:r>
              <a:rPr sz="1800" dirty="0">
                <a:latin typeface="Arial MT"/>
                <a:cs typeface="Arial MT"/>
              </a:rPr>
              <a:t>business</a:t>
            </a:r>
            <a:r>
              <a:rPr sz="1800" spc="-30" dirty="0">
                <a:latin typeface="Arial MT"/>
                <a:cs typeface="Arial MT"/>
              </a:rPr>
              <a:t> </a:t>
            </a:r>
            <a:r>
              <a:rPr sz="1800" dirty="0">
                <a:latin typeface="Arial MT"/>
                <a:cs typeface="Arial MT"/>
              </a:rPr>
              <a:t>development</a:t>
            </a:r>
            <a:r>
              <a:rPr sz="1800" spc="-30" dirty="0">
                <a:latin typeface="Arial MT"/>
                <a:cs typeface="Arial MT"/>
              </a:rPr>
              <a:t> </a:t>
            </a:r>
            <a:r>
              <a:rPr sz="1800" dirty="0">
                <a:latin typeface="Arial MT"/>
                <a:cs typeface="Arial MT"/>
              </a:rPr>
              <a:t>strategies,</a:t>
            </a:r>
            <a:r>
              <a:rPr sz="1800" spc="-40" dirty="0">
                <a:latin typeface="Arial MT"/>
                <a:cs typeface="Arial MT"/>
              </a:rPr>
              <a:t> </a:t>
            </a:r>
            <a:r>
              <a:rPr sz="1800" spc="-25" dirty="0">
                <a:latin typeface="Arial MT"/>
                <a:cs typeface="Arial MT"/>
              </a:rPr>
              <a:t>and </a:t>
            </a:r>
            <a:r>
              <a:rPr sz="1800" dirty="0">
                <a:latin typeface="Arial MT"/>
                <a:cs typeface="Arial MT"/>
              </a:rPr>
              <a:t>supporting</a:t>
            </a:r>
            <a:r>
              <a:rPr sz="1800" spc="-45" dirty="0">
                <a:latin typeface="Arial MT"/>
                <a:cs typeface="Arial MT"/>
              </a:rPr>
              <a:t> </a:t>
            </a:r>
            <a:r>
              <a:rPr sz="1800" dirty="0">
                <a:latin typeface="Arial MT"/>
                <a:cs typeface="Arial MT"/>
              </a:rPr>
              <a:t>the</a:t>
            </a:r>
            <a:r>
              <a:rPr sz="1800" spc="-60" dirty="0">
                <a:latin typeface="Arial MT"/>
                <a:cs typeface="Arial MT"/>
              </a:rPr>
              <a:t> </a:t>
            </a:r>
            <a:r>
              <a:rPr sz="1800" dirty="0">
                <a:latin typeface="Arial MT"/>
                <a:cs typeface="Arial MT"/>
              </a:rPr>
              <a:t>company’s</a:t>
            </a:r>
            <a:r>
              <a:rPr sz="1800" spc="-25" dirty="0">
                <a:latin typeface="Arial MT"/>
                <a:cs typeface="Arial MT"/>
              </a:rPr>
              <a:t> </a:t>
            </a:r>
            <a:r>
              <a:rPr sz="1800" dirty="0">
                <a:latin typeface="Arial MT"/>
                <a:cs typeface="Arial MT"/>
              </a:rPr>
              <a:t>growth</a:t>
            </a:r>
            <a:r>
              <a:rPr sz="1800" spc="-15" dirty="0">
                <a:latin typeface="Arial MT"/>
                <a:cs typeface="Arial MT"/>
              </a:rPr>
              <a:t> </a:t>
            </a:r>
            <a:r>
              <a:rPr sz="1800" dirty="0">
                <a:latin typeface="Arial MT"/>
                <a:cs typeface="Arial MT"/>
              </a:rPr>
              <a:t>objectives.</a:t>
            </a:r>
            <a:r>
              <a:rPr sz="1800" spc="-45" dirty="0">
                <a:latin typeface="Arial MT"/>
                <a:cs typeface="Arial MT"/>
              </a:rPr>
              <a:t> </a:t>
            </a:r>
            <a:r>
              <a:rPr sz="1800" spc="-25" dirty="0">
                <a:latin typeface="Arial MT"/>
                <a:cs typeface="Arial MT"/>
              </a:rPr>
              <a:t>His </a:t>
            </a:r>
            <a:r>
              <a:rPr sz="1800" dirty="0">
                <a:latin typeface="Arial MT"/>
                <a:cs typeface="Arial MT"/>
              </a:rPr>
              <a:t>dedication,</a:t>
            </a:r>
            <a:r>
              <a:rPr sz="1800" spc="-25" dirty="0">
                <a:latin typeface="Arial MT"/>
                <a:cs typeface="Arial MT"/>
              </a:rPr>
              <a:t> </a:t>
            </a:r>
            <a:r>
              <a:rPr sz="1800" dirty="0">
                <a:latin typeface="Arial MT"/>
                <a:cs typeface="Arial MT"/>
              </a:rPr>
              <a:t>insight,</a:t>
            </a:r>
            <a:r>
              <a:rPr sz="1800" spc="-30" dirty="0">
                <a:latin typeface="Arial MT"/>
                <a:cs typeface="Arial MT"/>
              </a:rPr>
              <a:t> </a:t>
            </a:r>
            <a:r>
              <a:rPr sz="1800" dirty="0">
                <a:latin typeface="Arial MT"/>
                <a:cs typeface="Arial MT"/>
              </a:rPr>
              <a:t>and</a:t>
            </a:r>
            <a:r>
              <a:rPr sz="1800" spc="-30" dirty="0">
                <a:latin typeface="Arial MT"/>
                <a:cs typeface="Arial MT"/>
              </a:rPr>
              <a:t> </a:t>
            </a:r>
            <a:r>
              <a:rPr sz="1800" dirty="0">
                <a:latin typeface="Arial MT"/>
                <a:cs typeface="Arial MT"/>
              </a:rPr>
              <a:t>commitment</a:t>
            </a:r>
            <a:r>
              <a:rPr sz="1800" spc="-30" dirty="0">
                <a:latin typeface="Arial MT"/>
                <a:cs typeface="Arial MT"/>
              </a:rPr>
              <a:t> </a:t>
            </a:r>
            <a:r>
              <a:rPr sz="1800" dirty="0">
                <a:latin typeface="Arial MT"/>
                <a:cs typeface="Arial MT"/>
              </a:rPr>
              <a:t>to</a:t>
            </a:r>
            <a:r>
              <a:rPr sz="1800" spc="-30" dirty="0">
                <a:latin typeface="Arial MT"/>
                <a:cs typeface="Arial MT"/>
              </a:rPr>
              <a:t> </a:t>
            </a:r>
            <a:r>
              <a:rPr sz="1800" spc="-10" dirty="0">
                <a:latin typeface="Arial MT"/>
                <a:cs typeface="Arial MT"/>
              </a:rPr>
              <a:t>excellence </a:t>
            </a:r>
            <a:r>
              <a:rPr sz="1800" dirty="0">
                <a:latin typeface="Arial MT"/>
                <a:cs typeface="Arial MT"/>
              </a:rPr>
              <a:t>have</a:t>
            </a:r>
            <a:r>
              <a:rPr sz="1800" spc="-20" dirty="0">
                <a:latin typeface="Arial MT"/>
                <a:cs typeface="Arial MT"/>
              </a:rPr>
              <a:t> </a:t>
            </a:r>
            <a:r>
              <a:rPr sz="1800" dirty="0">
                <a:latin typeface="Arial MT"/>
                <a:cs typeface="Arial MT"/>
              </a:rPr>
              <a:t>made</a:t>
            </a:r>
            <a:r>
              <a:rPr sz="1800" spc="-20" dirty="0">
                <a:latin typeface="Arial MT"/>
                <a:cs typeface="Arial MT"/>
              </a:rPr>
              <a:t> </a:t>
            </a:r>
            <a:r>
              <a:rPr sz="1800" dirty="0">
                <a:latin typeface="Arial MT"/>
                <a:cs typeface="Arial MT"/>
              </a:rPr>
              <a:t>him</a:t>
            </a:r>
            <a:r>
              <a:rPr sz="1800" spc="-10"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valuable</a:t>
            </a:r>
            <a:r>
              <a:rPr sz="1800" spc="-5" dirty="0">
                <a:latin typeface="Arial MT"/>
                <a:cs typeface="Arial MT"/>
              </a:rPr>
              <a:t> </a:t>
            </a:r>
            <a:r>
              <a:rPr sz="1800" dirty="0">
                <a:latin typeface="Arial MT"/>
                <a:cs typeface="Arial MT"/>
              </a:rPr>
              <a:t>member</a:t>
            </a:r>
            <a:r>
              <a:rPr sz="1800" spc="-20"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the</a:t>
            </a:r>
            <a:r>
              <a:rPr sz="1800" spc="-30" dirty="0">
                <a:latin typeface="Arial MT"/>
                <a:cs typeface="Arial MT"/>
              </a:rPr>
              <a:t> </a:t>
            </a:r>
            <a:r>
              <a:rPr sz="1800" spc="-10" dirty="0">
                <a:latin typeface="Arial MT"/>
                <a:cs typeface="Arial MT"/>
              </a:rPr>
              <a:t>Outreach team.</a:t>
            </a:r>
            <a:endParaRPr sz="1800">
              <a:latin typeface="Arial MT"/>
              <a:cs typeface="Arial MT"/>
            </a:endParaRPr>
          </a:p>
        </p:txBody>
      </p:sp>
      <p:sp>
        <p:nvSpPr>
          <p:cNvPr id="5" name="object 5" descr="$PPTXTitle"/>
          <p:cNvSpPr txBox="1">
            <a:spLocks noGrp="1"/>
          </p:cNvSpPr>
          <p:nvPr>
            <p:ph type="title"/>
          </p:nvPr>
        </p:nvSpPr>
        <p:spPr>
          <a:xfrm>
            <a:off x="2531491" y="78994"/>
            <a:ext cx="3043555" cy="756920"/>
          </a:xfrm>
          <a:prstGeom prst="rect">
            <a:avLst/>
          </a:prstGeom>
        </p:spPr>
        <p:txBody>
          <a:bodyPr vert="horz" wrap="square" lIns="0" tIns="12700" rIns="0" bIns="0" rtlCol="0">
            <a:spAutoFit/>
          </a:bodyPr>
          <a:lstStyle/>
          <a:p>
            <a:pPr marL="12700">
              <a:lnSpc>
                <a:spcPct val="100000"/>
              </a:lnSpc>
              <a:spcBef>
                <a:spcPts val="100"/>
              </a:spcBef>
            </a:pPr>
            <a:r>
              <a:rPr sz="4800" b="1" spc="-10" dirty="0">
                <a:solidFill>
                  <a:srgbClr val="DA241D"/>
                </a:solidFill>
                <a:latin typeface="Calibri"/>
                <a:cs typeface="Calibri"/>
              </a:rPr>
              <a:t>PERSONNEL</a:t>
            </a:r>
            <a:endParaRPr sz="4800">
              <a:latin typeface="Calibri"/>
              <a:cs typeface="Calibri"/>
            </a:endParaRPr>
          </a:p>
        </p:txBody>
      </p:sp>
      <p:sp>
        <p:nvSpPr>
          <p:cNvPr id="6" name="object 6"/>
          <p:cNvSpPr txBox="1"/>
          <p:nvPr/>
        </p:nvSpPr>
        <p:spPr>
          <a:xfrm>
            <a:off x="1066901" y="5007940"/>
            <a:ext cx="1790064" cy="30035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DA241D"/>
                </a:solidFill>
                <a:latin typeface="Arial"/>
                <a:cs typeface="Arial"/>
              </a:rPr>
              <a:t>Mr.</a:t>
            </a:r>
            <a:r>
              <a:rPr sz="1800" b="1" spc="-60" dirty="0">
                <a:solidFill>
                  <a:srgbClr val="DA241D"/>
                </a:solidFill>
                <a:latin typeface="Arial"/>
                <a:cs typeface="Arial"/>
              </a:rPr>
              <a:t> </a:t>
            </a:r>
            <a:r>
              <a:rPr sz="1800" b="1" dirty="0">
                <a:solidFill>
                  <a:srgbClr val="DA241D"/>
                </a:solidFill>
                <a:latin typeface="Arial"/>
                <a:cs typeface="Arial"/>
              </a:rPr>
              <a:t>Dahiru</a:t>
            </a:r>
            <a:r>
              <a:rPr sz="1800" b="1" spc="-60" dirty="0">
                <a:solidFill>
                  <a:srgbClr val="DA241D"/>
                </a:solidFill>
                <a:latin typeface="Arial"/>
                <a:cs typeface="Arial"/>
              </a:rPr>
              <a:t> </a:t>
            </a:r>
            <a:r>
              <a:rPr sz="1800" b="1" spc="-20" dirty="0">
                <a:solidFill>
                  <a:srgbClr val="DA241D"/>
                </a:solidFill>
                <a:latin typeface="Arial"/>
                <a:cs typeface="Arial"/>
              </a:rPr>
              <a:t>Umar</a:t>
            </a:r>
            <a:endParaRPr sz="1800">
              <a:latin typeface="Arial"/>
              <a:cs typeface="Arial"/>
            </a:endParaRPr>
          </a:p>
        </p:txBody>
      </p:sp>
      <p:sp>
        <p:nvSpPr>
          <p:cNvPr id="7" name="object 7"/>
          <p:cNvSpPr txBox="1"/>
          <p:nvPr/>
        </p:nvSpPr>
        <p:spPr>
          <a:xfrm>
            <a:off x="90017" y="5282946"/>
            <a:ext cx="374078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DA241D"/>
                </a:solidFill>
                <a:latin typeface="Arial"/>
                <a:cs typeface="Arial"/>
              </a:rPr>
              <a:t>Executive-</a:t>
            </a:r>
            <a:r>
              <a:rPr sz="1800" b="1" spc="-5" dirty="0">
                <a:solidFill>
                  <a:srgbClr val="DA241D"/>
                </a:solidFill>
                <a:latin typeface="Arial"/>
                <a:cs typeface="Arial"/>
              </a:rPr>
              <a:t> </a:t>
            </a:r>
            <a:r>
              <a:rPr sz="1800" b="1" dirty="0">
                <a:solidFill>
                  <a:srgbClr val="DA241D"/>
                </a:solidFill>
                <a:latin typeface="Arial"/>
                <a:cs typeface="Arial"/>
              </a:rPr>
              <a:t>Business</a:t>
            </a:r>
            <a:r>
              <a:rPr sz="1800" b="1" spc="-50" dirty="0">
                <a:solidFill>
                  <a:srgbClr val="DA241D"/>
                </a:solidFill>
                <a:latin typeface="Arial"/>
                <a:cs typeface="Arial"/>
              </a:rPr>
              <a:t> </a:t>
            </a:r>
            <a:r>
              <a:rPr sz="1800" b="1" spc="-10" dirty="0">
                <a:solidFill>
                  <a:srgbClr val="DA241D"/>
                </a:solidFill>
                <a:latin typeface="Arial"/>
                <a:cs typeface="Arial"/>
              </a:rPr>
              <a:t>Development</a:t>
            </a:r>
            <a:endParaRPr sz="1800">
              <a:latin typeface="Arial"/>
              <a:cs typeface="Arial"/>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599" y="988568"/>
            <a:ext cx="3049693" cy="36596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descr="$PPTXTitle"/>
          <p:cNvSpPr txBox="1">
            <a:spLocks noGrp="1"/>
          </p:cNvSpPr>
          <p:nvPr>
            <p:ph type="title"/>
          </p:nvPr>
        </p:nvSpPr>
        <p:spPr>
          <a:xfrm>
            <a:off x="2531491" y="78994"/>
            <a:ext cx="3043555" cy="756920"/>
          </a:xfrm>
          <a:prstGeom prst="rect">
            <a:avLst/>
          </a:prstGeom>
        </p:spPr>
        <p:txBody>
          <a:bodyPr vert="horz" wrap="square" lIns="0" tIns="12700" rIns="0" bIns="0" rtlCol="0">
            <a:spAutoFit/>
          </a:bodyPr>
          <a:lstStyle/>
          <a:p>
            <a:pPr marL="12700">
              <a:lnSpc>
                <a:spcPct val="100000"/>
              </a:lnSpc>
              <a:spcBef>
                <a:spcPts val="100"/>
              </a:spcBef>
            </a:pPr>
            <a:r>
              <a:rPr sz="4800" b="1" spc="-10" dirty="0">
                <a:solidFill>
                  <a:srgbClr val="DA241D"/>
                </a:solidFill>
                <a:latin typeface="Calibri"/>
                <a:cs typeface="Calibri"/>
              </a:rPr>
              <a:t>PERSONNEL</a:t>
            </a:r>
            <a:endParaRPr sz="4800">
              <a:latin typeface="Calibri"/>
              <a:cs typeface="Calibri"/>
            </a:endParaRPr>
          </a:p>
        </p:txBody>
      </p:sp>
      <p:sp>
        <p:nvSpPr>
          <p:cNvPr id="6" name="object 6"/>
          <p:cNvSpPr txBox="1"/>
          <p:nvPr/>
        </p:nvSpPr>
        <p:spPr>
          <a:xfrm>
            <a:off x="1066900" y="5007940"/>
            <a:ext cx="2763901" cy="289823"/>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DA241D"/>
                </a:solidFill>
                <a:latin typeface="Arial"/>
                <a:cs typeface="Arial"/>
              </a:rPr>
              <a:t>Mr.</a:t>
            </a:r>
            <a:r>
              <a:rPr sz="1800" b="1" spc="-60" dirty="0">
                <a:solidFill>
                  <a:srgbClr val="DA241D"/>
                </a:solidFill>
                <a:latin typeface="Arial"/>
                <a:cs typeface="Arial"/>
              </a:rPr>
              <a:t> </a:t>
            </a:r>
            <a:r>
              <a:rPr lang="en-US" sz="1800" b="1" dirty="0" smtClean="0">
                <a:solidFill>
                  <a:srgbClr val="DA241D"/>
                </a:solidFill>
                <a:latin typeface="Arial"/>
                <a:cs typeface="Arial"/>
              </a:rPr>
              <a:t>Friday Robert</a:t>
            </a:r>
            <a:endParaRPr sz="1800" dirty="0">
              <a:latin typeface="Arial"/>
              <a:cs typeface="Arial"/>
            </a:endParaRPr>
          </a:p>
        </p:txBody>
      </p:sp>
      <p:sp>
        <p:nvSpPr>
          <p:cNvPr id="7" name="object 7"/>
          <p:cNvSpPr txBox="1"/>
          <p:nvPr/>
        </p:nvSpPr>
        <p:spPr>
          <a:xfrm>
            <a:off x="1066900" y="5323414"/>
            <a:ext cx="3740785" cy="299720"/>
          </a:xfrm>
          <a:prstGeom prst="rect">
            <a:avLst/>
          </a:prstGeom>
        </p:spPr>
        <p:txBody>
          <a:bodyPr vert="horz" wrap="square" lIns="0" tIns="12700" rIns="0" bIns="0" rtlCol="0">
            <a:spAutoFit/>
          </a:bodyPr>
          <a:lstStyle/>
          <a:p>
            <a:pPr marL="12700">
              <a:lnSpc>
                <a:spcPct val="100000"/>
              </a:lnSpc>
              <a:spcBef>
                <a:spcPts val="100"/>
              </a:spcBef>
            </a:pPr>
            <a:r>
              <a:rPr lang="en-US" sz="1800" b="1" dirty="0" smtClean="0">
                <a:solidFill>
                  <a:srgbClr val="DA241D"/>
                </a:solidFill>
                <a:latin typeface="Arial"/>
                <a:cs typeface="Arial"/>
              </a:rPr>
              <a:t>Head of </a:t>
            </a:r>
            <a:r>
              <a:rPr lang="en-US" sz="1800" b="1" dirty="0" err="1" smtClean="0">
                <a:solidFill>
                  <a:srgbClr val="DA241D"/>
                </a:solidFill>
                <a:latin typeface="Arial"/>
                <a:cs typeface="Arial"/>
              </a:rPr>
              <a:t>Operaion</a:t>
            </a:r>
            <a:r>
              <a:rPr lang="en-US" b="1" dirty="0" err="1" smtClean="0">
                <a:solidFill>
                  <a:srgbClr val="DA241D"/>
                </a:solidFill>
                <a:latin typeface="Arial"/>
                <a:cs typeface="Arial"/>
              </a:rPr>
              <a:t>s</a:t>
            </a:r>
            <a:r>
              <a:rPr lang="en-US" b="1" dirty="0" smtClean="0">
                <a:solidFill>
                  <a:srgbClr val="DA241D"/>
                </a:solidFill>
                <a:latin typeface="Arial"/>
                <a:cs typeface="Arial"/>
              </a:rPr>
              <a:t>.</a:t>
            </a:r>
            <a:endParaRPr sz="1800" dirty="0">
              <a:latin typeface="Arial"/>
              <a:cs typeface="Arial"/>
            </a:endParaRPr>
          </a:p>
        </p:txBody>
      </p:sp>
      <p:sp>
        <p:nvSpPr>
          <p:cNvPr id="10" name="Rectangle 9"/>
          <p:cNvSpPr/>
          <p:nvPr/>
        </p:nvSpPr>
        <p:spPr>
          <a:xfrm>
            <a:off x="3733800" y="988568"/>
            <a:ext cx="4572000" cy="2862322"/>
          </a:xfrm>
          <a:prstGeom prst="rect">
            <a:avLst/>
          </a:prstGeom>
        </p:spPr>
        <p:txBody>
          <a:bodyPr>
            <a:spAutoFit/>
          </a:bodyPr>
          <a:lstStyle/>
          <a:p>
            <a:r>
              <a:rPr lang="en-US" dirty="0" smtClean="0"/>
              <a:t>Mr. Friday Roberts is responsible for overseeing the company’s day-to-day operations, coordinating field activities, managing operational processes, and ensuring projects are executed efficiently and within agreed timelines. He holds a </a:t>
            </a:r>
            <a:r>
              <a:rPr lang="en-US" b="1" dirty="0" smtClean="0"/>
              <a:t>School Leaving Certificate</a:t>
            </a:r>
            <a:r>
              <a:rPr lang="en-US" dirty="0" smtClean="0"/>
              <a:t> and has practical experience in operations management, field coordination, logistics, and team supervision.</a:t>
            </a:r>
            <a:endParaRPr lang="en-US" dirty="0"/>
          </a:p>
        </p:txBody>
      </p:sp>
    </p:spTree>
    <p:extLst>
      <p:ext uri="{BB962C8B-B14F-4D97-AF65-F5344CB8AC3E}">
        <p14:creationId xmlns:p14="http://schemas.microsoft.com/office/powerpoint/2010/main" val="2879341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2836" y="918972"/>
            <a:ext cx="7723632" cy="5522976"/>
          </a:xfrm>
          <a:prstGeom prst="rect">
            <a:avLst/>
          </a:prstGeom>
        </p:spPr>
      </p:pic>
      <p:sp>
        <p:nvSpPr>
          <p:cNvPr id="3" name="object 3" descr="$PPTXTitle"/>
          <p:cNvSpPr txBox="1">
            <a:spLocks noGrp="1"/>
          </p:cNvSpPr>
          <p:nvPr>
            <p:ph type="title"/>
          </p:nvPr>
        </p:nvSpPr>
        <p:spPr>
          <a:xfrm>
            <a:off x="867867" y="73863"/>
            <a:ext cx="7055484" cy="788670"/>
          </a:xfrm>
          <a:prstGeom prst="rect">
            <a:avLst/>
          </a:prstGeom>
        </p:spPr>
        <p:txBody>
          <a:bodyPr vert="horz" wrap="square" lIns="0" tIns="13335" rIns="0" bIns="0" rtlCol="0">
            <a:spAutoFit/>
          </a:bodyPr>
          <a:lstStyle/>
          <a:p>
            <a:pPr marL="12700">
              <a:lnSpc>
                <a:spcPct val="100000"/>
              </a:lnSpc>
              <a:spcBef>
                <a:spcPts val="105"/>
              </a:spcBef>
            </a:pPr>
            <a:r>
              <a:rPr sz="5000" dirty="0">
                <a:solidFill>
                  <a:srgbClr val="DA241D"/>
                </a:solidFill>
              </a:rPr>
              <a:t>HOARDINGS</a:t>
            </a:r>
            <a:r>
              <a:rPr sz="5000" spc="-130" dirty="0">
                <a:solidFill>
                  <a:srgbClr val="DA241D"/>
                </a:solidFill>
              </a:rPr>
              <a:t> </a:t>
            </a:r>
            <a:r>
              <a:rPr sz="5000" spc="-10" dirty="0">
                <a:solidFill>
                  <a:srgbClr val="DA241D"/>
                </a:solidFill>
              </a:rPr>
              <a:t>DISTRIBUTION</a:t>
            </a:r>
            <a:endParaRPr sz="5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11352" y="2706623"/>
            <a:ext cx="231647" cy="265175"/>
          </a:xfrm>
          <a:prstGeom prst="rect">
            <a:avLst/>
          </a:prstGeom>
        </p:spPr>
      </p:pic>
      <p:pic>
        <p:nvPicPr>
          <p:cNvPr id="3" name="object 3"/>
          <p:cNvPicPr/>
          <p:nvPr/>
        </p:nvPicPr>
        <p:blipFill>
          <a:blip r:embed="rId2" cstate="print"/>
          <a:stretch>
            <a:fillRect/>
          </a:stretch>
        </p:blipFill>
        <p:spPr>
          <a:xfrm>
            <a:off x="911352" y="3253740"/>
            <a:ext cx="231647" cy="265175"/>
          </a:xfrm>
          <a:prstGeom prst="rect">
            <a:avLst/>
          </a:prstGeom>
        </p:spPr>
      </p:pic>
      <p:pic>
        <p:nvPicPr>
          <p:cNvPr id="4" name="object 4"/>
          <p:cNvPicPr/>
          <p:nvPr/>
        </p:nvPicPr>
        <p:blipFill>
          <a:blip r:embed="rId2" cstate="print"/>
          <a:stretch>
            <a:fillRect/>
          </a:stretch>
        </p:blipFill>
        <p:spPr>
          <a:xfrm>
            <a:off x="911352" y="3803903"/>
            <a:ext cx="231647" cy="265175"/>
          </a:xfrm>
          <a:prstGeom prst="rect">
            <a:avLst/>
          </a:prstGeom>
        </p:spPr>
      </p:pic>
      <p:pic>
        <p:nvPicPr>
          <p:cNvPr id="5" name="object 5"/>
          <p:cNvPicPr/>
          <p:nvPr/>
        </p:nvPicPr>
        <p:blipFill>
          <a:blip r:embed="rId2" cstate="print"/>
          <a:stretch>
            <a:fillRect/>
          </a:stretch>
        </p:blipFill>
        <p:spPr>
          <a:xfrm>
            <a:off x="911352" y="4351020"/>
            <a:ext cx="231647" cy="266700"/>
          </a:xfrm>
          <a:prstGeom prst="rect">
            <a:avLst/>
          </a:prstGeom>
        </p:spPr>
      </p:pic>
      <p:pic>
        <p:nvPicPr>
          <p:cNvPr id="6" name="object 6"/>
          <p:cNvPicPr/>
          <p:nvPr/>
        </p:nvPicPr>
        <p:blipFill>
          <a:blip r:embed="rId2" cstate="print"/>
          <a:stretch>
            <a:fillRect/>
          </a:stretch>
        </p:blipFill>
        <p:spPr>
          <a:xfrm>
            <a:off x="911352" y="4901184"/>
            <a:ext cx="231647" cy="265175"/>
          </a:xfrm>
          <a:prstGeom prst="rect">
            <a:avLst/>
          </a:prstGeom>
        </p:spPr>
      </p:pic>
      <p:sp>
        <p:nvSpPr>
          <p:cNvPr id="7" name="object 7"/>
          <p:cNvSpPr txBox="1"/>
          <p:nvPr/>
        </p:nvSpPr>
        <p:spPr>
          <a:xfrm>
            <a:off x="898347" y="1951685"/>
            <a:ext cx="3721100" cy="321818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alibri"/>
                <a:cs typeface="Calibri"/>
              </a:rPr>
              <a:t>We</a:t>
            </a:r>
            <a:r>
              <a:rPr sz="1800" b="1" spc="-50" dirty="0">
                <a:solidFill>
                  <a:srgbClr val="FF0000"/>
                </a:solidFill>
                <a:latin typeface="Calibri"/>
                <a:cs typeface="Calibri"/>
              </a:rPr>
              <a:t> </a:t>
            </a:r>
            <a:r>
              <a:rPr sz="1800" b="1" dirty="0">
                <a:solidFill>
                  <a:srgbClr val="FF0000"/>
                </a:solidFill>
                <a:latin typeface="Calibri"/>
                <a:cs typeface="Calibri"/>
              </a:rPr>
              <a:t>deliver</a:t>
            </a:r>
            <a:r>
              <a:rPr sz="1800" b="1" spc="-65" dirty="0">
                <a:solidFill>
                  <a:srgbClr val="FF0000"/>
                </a:solidFill>
                <a:latin typeface="Calibri"/>
                <a:cs typeface="Calibri"/>
              </a:rPr>
              <a:t> </a:t>
            </a:r>
            <a:r>
              <a:rPr sz="1800" b="1" dirty="0">
                <a:solidFill>
                  <a:srgbClr val="FF0000"/>
                </a:solidFill>
                <a:latin typeface="Calibri"/>
                <a:cs typeface="Calibri"/>
              </a:rPr>
              <a:t>value</a:t>
            </a:r>
            <a:r>
              <a:rPr sz="1800" b="1" spc="-70" dirty="0">
                <a:solidFill>
                  <a:srgbClr val="FF0000"/>
                </a:solidFill>
                <a:latin typeface="Calibri"/>
                <a:cs typeface="Calibri"/>
              </a:rPr>
              <a:t> </a:t>
            </a:r>
            <a:r>
              <a:rPr sz="1800" b="1" dirty="0">
                <a:solidFill>
                  <a:srgbClr val="FF0000"/>
                </a:solidFill>
                <a:latin typeface="Calibri"/>
                <a:cs typeface="Calibri"/>
              </a:rPr>
              <a:t>in</a:t>
            </a:r>
            <a:r>
              <a:rPr sz="1800" b="1" spc="-45" dirty="0">
                <a:solidFill>
                  <a:srgbClr val="FF0000"/>
                </a:solidFill>
                <a:latin typeface="Calibri"/>
                <a:cs typeface="Calibri"/>
              </a:rPr>
              <a:t> </a:t>
            </a:r>
            <a:r>
              <a:rPr sz="1800" b="1" dirty="0">
                <a:solidFill>
                  <a:srgbClr val="FF0000"/>
                </a:solidFill>
                <a:latin typeface="Calibri"/>
                <a:cs typeface="Calibri"/>
              </a:rPr>
              <a:t>the</a:t>
            </a:r>
            <a:r>
              <a:rPr sz="1800" b="1" spc="-45" dirty="0">
                <a:solidFill>
                  <a:srgbClr val="FF0000"/>
                </a:solidFill>
                <a:latin typeface="Calibri"/>
                <a:cs typeface="Calibri"/>
              </a:rPr>
              <a:t> </a:t>
            </a:r>
            <a:r>
              <a:rPr sz="1800" b="1" dirty="0">
                <a:solidFill>
                  <a:srgbClr val="FF0000"/>
                </a:solidFill>
                <a:latin typeface="Calibri"/>
                <a:cs typeface="Calibri"/>
              </a:rPr>
              <a:t>following</a:t>
            </a:r>
            <a:r>
              <a:rPr sz="1800" b="1" spc="-75" dirty="0">
                <a:solidFill>
                  <a:srgbClr val="FF0000"/>
                </a:solidFill>
                <a:latin typeface="Calibri"/>
                <a:cs typeface="Calibri"/>
              </a:rPr>
              <a:t> </a:t>
            </a:r>
            <a:r>
              <a:rPr sz="1800" b="1" spc="-10" dirty="0">
                <a:solidFill>
                  <a:srgbClr val="FF0000"/>
                </a:solidFill>
                <a:latin typeface="Calibri"/>
                <a:cs typeface="Calibri"/>
              </a:rPr>
              <a:t>ways:</a:t>
            </a:r>
            <a:endParaRPr sz="1800">
              <a:latin typeface="Calibri"/>
              <a:cs typeface="Calibri"/>
            </a:endParaRPr>
          </a:p>
          <a:p>
            <a:pPr marL="12700" marR="474980">
              <a:lnSpc>
                <a:spcPct val="200000"/>
              </a:lnSpc>
              <a:spcBef>
                <a:spcPts val="700"/>
              </a:spcBef>
            </a:pPr>
            <a:r>
              <a:rPr sz="1800" b="1" dirty="0">
                <a:latin typeface="Arial"/>
                <a:cs typeface="Arial"/>
              </a:rPr>
              <a:t>Multiple</a:t>
            </a:r>
            <a:r>
              <a:rPr sz="1800" b="1" spc="-50" dirty="0">
                <a:latin typeface="Arial"/>
                <a:cs typeface="Arial"/>
              </a:rPr>
              <a:t> </a:t>
            </a:r>
            <a:r>
              <a:rPr sz="1800" b="1" dirty="0">
                <a:latin typeface="Arial"/>
                <a:cs typeface="Arial"/>
              </a:rPr>
              <a:t>Platform</a:t>
            </a:r>
            <a:r>
              <a:rPr sz="1800" b="1" spc="-85" dirty="0">
                <a:latin typeface="Arial"/>
                <a:cs typeface="Arial"/>
              </a:rPr>
              <a:t> </a:t>
            </a:r>
            <a:r>
              <a:rPr sz="1800" b="1" spc="-10" dirty="0">
                <a:latin typeface="Arial"/>
                <a:cs typeface="Arial"/>
              </a:rPr>
              <a:t>Availability </a:t>
            </a:r>
            <a:r>
              <a:rPr sz="1800" b="1" dirty="0">
                <a:latin typeface="Arial"/>
                <a:cs typeface="Arial"/>
              </a:rPr>
              <a:t>Competitive</a:t>
            </a:r>
            <a:r>
              <a:rPr sz="1800" b="1" spc="-10" dirty="0">
                <a:latin typeface="Arial"/>
                <a:cs typeface="Arial"/>
              </a:rPr>
              <a:t> </a:t>
            </a:r>
            <a:r>
              <a:rPr sz="1800" b="1" dirty="0">
                <a:latin typeface="Arial"/>
                <a:cs typeface="Arial"/>
              </a:rPr>
              <a:t>Pricing</a:t>
            </a:r>
            <a:r>
              <a:rPr sz="1800" b="1" spc="-35" dirty="0">
                <a:latin typeface="Arial"/>
                <a:cs typeface="Arial"/>
              </a:rPr>
              <a:t> </a:t>
            </a:r>
            <a:r>
              <a:rPr sz="1800" b="1" spc="-10" dirty="0">
                <a:latin typeface="Arial"/>
                <a:cs typeface="Arial"/>
              </a:rPr>
              <a:t>Structure </a:t>
            </a:r>
            <a:r>
              <a:rPr sz="1800" b="1" dirty="0">
                <a:latin typeface="Arial"/>
                <a:cs typeface="Arial"/>
              </a:rPr>
              <a:t>Dedicated</a:t>
            </a:r>
            <a:r>
              <a:rPr sz="1800" b="1" spc="-35" dirty="0">
                <a:latin typeface="Arial"/>
                <a:cs typeface="Arial"/>
              </a:rPr>
              <a:t> </a:t>
            </a:r>
            <a:r>
              <a:rPr sz="1800" b="1" spc="-10" dirty="0">
                <a:latin typeface="Arial"/>
                <a:cs typeface="Arial"/>
              </a:rPr>
              <a:t>Staff</a:t>
            </a:r>
            <a:endParaRPr sz="1800">
              <a:latin typeface="Arial"/>
              <a:cs typeface="Arial"/>
            </a:endParaRPr>
          </a:p>
          <a:p>
            <a:pPr>
              <a:lnSpc>
                <a:spcPct val="100000"/>
              </a:lnSpc>
              <a:spcBef>
                <a:spcPts val="760"/>
              </a:spcBef>
            </a:pPr>
            <a:endParaRPr sz="1800">
              <a:latin typeface="Arial"/>
              <a:cs typeface="Arial"/>
            </a:endParaRPr>
          </a:p>
          <a:p>
            <a:pPr marL="12700">
              <a:lnSpc>
                <a:spcPct val="100000"/>
              </a:lnSpc>
            </a:pPr>
            <a:r>
              <a:rPr sz="1800" b="1" dirty="0">
                <a:latin typeface="Arial"/>
                <a:cs typeface="Arial"/>
              </a:rPr>
              <a:t>Advisory</a:t>
            </a:r>
            <a:r>
              <a:rPr sz="1800" b="1" spc="-50" dirty="0">
                <a:latin typeface="Arial"/>
                <a:cs typeface="Arial"/>
              </a:rPr>
              <a:t> </a:t>
            </a:r>
            <a:r>
              <a:rPr sz="1800" b="1" spc="-10" dirty="0">
                <a:latin typeface="Arial"/>
                <a:cs typeface="Arial"/>
              </a:rPr>
              <a:t>Services</a:t>
            </a:r>
            <a:endParaRPr sz="1800">
              <a:latin typeface="Arial"/>
              <a:cs typeface="Arial"/>
            </a:endParaRPr>
          </a:p>
          <a:p>
            <a:pPr>
              <a:lnSpc>
                <a:spcPct val="100000"/>
              </a:lnSpc>
              <a:spcBef>
                <a:spcPts val="90"/>
              </a:spcBef>
            </a:pPr>
            <a:endParaRPr sz="1800">
              <a:latin typeface="Arial"/>
              <a:cs typeface="Arial"/>
            </a:endParaRPr>
          </a:p>
          <a:p>
            <a:pPr marL="12700">
              <a:lnSpc>
                <a:spcPct val="100000"/>
              </a:lnSpc>
            </a:pPr>
            <a:r>
              <a:rPr sz="1800" b="1" dirty="0">
                <a:latin typeface="Arial"/>
                <a:cs typeface="Arial"/>
              </a:rPr>
              <a:t>Years</a:t>
            </a:r>
            <a:r>
              <a:rPr sz="1800" b="1" spc="-45" dirty="0">
                <a:latin typeface="Arial"/>
                <a:cs typeface="Arial"/>
              </a:rPr>
              <a:t> </a:t>
            </a:r>
            <a:r>
              <a:rPr sz="1800" b="1" dirty="0">
                <a:latin typeface="Arial"/>
                <a:cs typeface="Arial"/>
              </a:rPr>
              <a:t>Of</a:t>
            </a:r>
            <a:r>
              <a:rPr sz="1800" b="1" spc="-55" dirty="0">
                <a:latin typeface="Arial"/>
                <a:cs typeface="Arial"/>
              </a:rPr>
              <a:t> </a:t>
            </a:r>
            <a:r>
              <a:rPr sz="1800" b="1" dirty="0">
                <a:latin typeface="Arial"/>
                <a:cs typeface="Arial"/>
              </a:rPr>
              <a:t>Industry</a:t>
            </a:r>
            <a:r>
              <a:rPr sz="1800" b="1" spc="-65" dirty="0">
                <a:latin typeface="Arial"/>
                <a:cs typeface="Arial"/>
              </a:rPr>
              <a:t> </a:t>
            </a:r>
            <a:r>
              <a:rPr sz="1800" b="1" spc="-10" dirty="0">
                <a:latin typeface="Arial"/>
                <a:cs typeface="Arial"/>
              </a:rPr>
              <a:t>Experience</a:t>
            </a:r>
            <a:endParaRPr sz="1800">
              <a:latin typeface="Arial"/>
              <a:cs typeface="Arial"/>
            </a:endParaRPr>
          </a:p>
        </p:txBody>
      </p:sp>
      <p:grpSp>
        <p:nvGrpSpPr>
          <p:cNvPr id="8" name="object 8"/>
          <p:cNvGrpSpPr/>
          <p:nvPr/>
        </p:nvGrpSpPr>
        <p:grpSpPr>
          <a:xfrm>
            <a:off x="0" y="858011"/>
            <a:ext cx="9144000" cy="741045"/>
            <a:chOff x="0" y="858011"/>
            <a:chExt cx="9144000" cy="741045"/>
          </a:xfrm>
        </p:grpSpPr>
        <p:pic>
          <p:nvPicPr>
            <p:cNvPr id="9" name="object 9"/>
            <p:cNvPicPr/>
            <p:nvPr/>
          </p:nvPicPr>
          <p:blipFill>
            <a:blip r:embed="rId3" cstate="print"/>
            <a:stretch>
              <a:fillRect/>
            </a:stretch>
          </p:blipFill>
          <p:spPr>
            <a:xfrm>
              <a:off x="0" y="926591"/>
              <a:ext cx="9144000" cy="672084"/>
            </a:xfrm>
            <a:prstGeom prst="rect">
              <a:avLst/>
            </a:prstGeom>
          </p:spPr>
        </p:pic>
        <p:pic>
          <p:nvPicPr>
            <p:cNvPr id="10" name="object 10"/>
            <p:cNvPicPr/>
            <p:nvPr/>
          </p:nvPicPr>
          <p:blipFill>
            <a:blip r:embed="rId4" cstate="print"/>
            <a:stretch>
              <a:fillRect/>
            </a:stretch>
          </p:blipFill>
          <p:spPr>
            <a:xfrm>
              <a:off x="7620" y="858011"/>
              <a:ext cx="708660" cy="723900"/>
            </a:xfrm>
            <a:prstGeom prst="rect">
              <a:avLst/>
            </a:prstGeom>
          </p:spPr>
        </p:pic>
      </p:grpSp>
      <p:grpSp>
        <p:nvGrpSpPr>
          <p:cNvPr id="11" name="object 11"/>
          <p:cNvGrpSpPr/>
          <p:nvPr/>
        </p:nvGrpSpPr>
        <p:grpSpPr>
          <a:xfrm>
            <a:off x="4722876" y="1869948"/>
            <a:ext cx="4291965" cy="3282950"/>
            <a:chOff x="4722876" y="1869948"/>
            <a:chExt cx="4291965" cy="3282950"/>
          </a:xfrm>
        </p:grpSpPr>
        <p:pic>
          <p:nvPicPr>
            <p:cNvPr id="12" name="object 12"/>
            <p:cNvPicPr/>
            <p:nvPr/>
          </p:nvPicPr>
          <p:blipFill>
            <a:blip r:embed="rId5" cstate="print"/>
            <a:stretch>
              <a:fillRect/>
            </a:stretch>
          </p:blipFill>
          <p:spPr>
            <a:xfrm>
              <a:off x="4722876" y="1869948"/>
              <a:ext cx="4291583" cy="3282696"/>
            </a:xfrm>
            <a:prstGeom prst="rect">
              <a:avLst/>
            </a:prstGeom>
          </p:spPr>
        </p:pic>
        <p:sp>
          <p:nvSpPr>
            <p:cNvPr id="13" name="object 13"/>
            <p:cNvSpPr/>
            <p:nvPr/>
          </p:nvSpPr>
          <p:spPr>
            <a:xfrm>
              <a:off x="5244084" y="2218944"/>
              <a:ext cx="3199130" cy="2441575"/>
            </a:xfrm>
            <a:custGeom>
              <a:avLst/>
              <a:gdLst/>
              <a:ahLst/>
              <a:cxnLst/>
              <a:rect l="l" t="t" r="r" b="b"/>
              <a:pathLst>
                <a:path w="3199129" h="2441575">
                  <a:moveTo>
                    <a:pt x="2631947" y="0"/>
                  </a:moveTo>
                  <a:lnTo>
                    <a:pt x="0" y="1220596"/>
                  </a:lnTo>
                  <a:lnTo>
                    <a:pt x="566927" y="2441320"/>
                  </a:lnTo>
                  <a:lnTo>
                    <a:pt x="3198875" y="1220596"/>
                  </a:lnTo>
                  <a:lnTo>
                    <a:pt x="2631947" y="0"/>
                  </a:lnTo>
                  <a:close/>
                </a:path>
              </a:pathLst>
            </a:custGeom>
            <a:solidFill>
              <a:srgbClr val="FFFFFF"/>
            </a:solidFill>
          </p:spPr>
          <p:txBody>
            <a:bodyPr wrap="square" lIns="0" tIns="0" rIns="0" bIns="0" rtlCol="0"/>
            <a:lstStyle/>
            <a:p>
              <a:endParaRPr/>
            </a:p>
          </p:txBody>
        </p:sp>
        <p:sp>
          <p:nvSpPr>
            <p:cNvPr id="14" name="object 14"/>
            <p:cNvSpPr/>
            <p:nvPr/>
          </p:nvSpPr>
          <p:spPr>
            <a:xfrm>
              <a:off x="5244084" y="2218944"/>
              <a:ext cx="3199130" cy="2441575"/>
            </a:xfrm>
            <a:custGeom>
              <a:avLst/>
              <a:gdLst/>
              <a:ahLst/>
              <a:cxnLst/>
              <a:rect l="l" t="t" r="r" b="b"/>
              <a:pathLst>
                <a:path w="3199129" h="2441575">
                  <a:moveTo>
                    <a:pt x="0" y="1220596"/>
                  </a:moveTo>
                  <a:lnTo>
                    <a:pt x="2631947" y="0"/>
                  </a:lnTo>
                  <a:lnTo>
                    <a:pt x="3198875" y="1220596"/>
                  </a:lnTo>
                  <a:lnTo>
                    <a:pt x="566927" y="2441320"/>
                  </a:lnTo>
                  <a:lnTo>
                    <a:pt x="0" y="1220596"/>
                  </a:lnTo>
                </a:path>
              </a:pathLst>
            </a:custGeom>
            <a:ln w="12191">
              <a:solidFill>
                <a:srgbClr val="2D528F"/>
              </a:solidFill>
            </a:ln>
          </p:spPr>
          <p:txBody>
            <a:bodyPr wrap="square" lIns="0" tIns="0" rIns="0" bIns="0" rtlCol="0"/>
            <a:lstStyle/>
            <a:p>
              <a:endParaRPr/>
            </a:p>
          </p:txBody>
        </p:sp>
        <p:pic>
          <p:nvPicPr>
            <p:cNvPr id="15" name="object 15"/>
            <p:cNvPicPr/>
            <p:nvPr/>
          </p:nvPicPr>
          <p:blipFill>
            <a:blip r:embed="rId6" cstate="print"/>
            <a:stretch>
              <a:fillRect/>
            </a:stretch>
          </p:blipFill>
          <p:spPr>
            <a:xfrm>
              <a:off x="6009132" y="2788920"/>
              <a:ext cx="1429512" cy="1444752"/>
            </a:xfrm>
            <a:prstGeom prst="rect">
              <a:avLst/>
            </a:prstGeom>
          </p:spPr>
        </p:pic>
      </p:grpSp>
      <p:sp>
        <p:nvSpPr>
          <p:cNvPr id="16" name="object 16" descr="$PPTXTitle"/>
          <p:cNvSpPr txBox="1">
            <a:spLocks noGrp="1"/>
          </p:cNvSpPr>
          <p:nvPr>
            <p:ph type="title"/>
          </p:nvPr>
        </p:nvSpPr>
        <p:spPr>
          <a:xfrm>
            <a:off x="2487929" y="850214"/>
            <a:ext cx="4742815" cy="697230"/>
          </a:xfrm>
          <a:prstGeom prst="rect">
            <a:avLst/>
          </a:prstGeom>
        </p:spPr>
        <p:txBody>
          <a:bodyPr vert="horz" wrap="square" lIns="0" tIns="13335" rIns="0" bIns="0" rtlCol="0">
            <a:spAutoFit/>
          </a:bodyPr>
          <a:lstStyle/>
          <a:p>
            <a:pPr marL="12700">
              <a:lnSpc>
                <a:spcPct val="100000"/>
              </a:lnSpc>
              <a:spcBef>
                <a:spcPts val="105"/>
              </a:spcBef>
            </a:pPr>
            <a:r>
              <a:rPr sz="4400" spc="-80" dirty="0"/>
              <a:t>VALUE</a:t>
            </a:r>
            <a:r>
              <a:rPr sz="4400" spc="-155" dirty="0"/>
              <a:t> </a:t>
            </a:r>
            <a:r>
              <a:rPr sz="4400" spc="-10" dirty="0"/>
              <a:t>PROPOSITION</a:t>
            </a:r>
            <a:endParaRPr sz="4400"/>
          </a:p>
        </p:txBody>
      </p:sp>
      <p:sp>
        <p:nvSpPr>
          <p:cNvPr id="17" name="object 1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7"/>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5600" algn="l"/>
              </a:tabLst>
            </a:pPr>
            <a:r>
              <a:rPr dirty="0"/>
              <a:t>We</a:t>
            </a:r>
            <a:r>
              <a:rPr spc="-40" dirty="0"/>
              <a:t> </a:t>
            </a:r>
            <a:r>
              <a:rPr dirty="0"/>
              <a:t>have</a:t>
            </a:r>
            <a:r>
              <a:rPr spc="-45" dirty="0"/>
              <a:t> </a:t>
            </a:r>
            <a:r>
              <a:rPr dirty="0"/>
              <a:t>a</a:t>
            </a:r>
            <a:r>
              <a:rPr spc="-25" dirty="0"/>
              <a:t> </a:t>
            </a:r>
            <a:r>
              <a:rPr dirty="0"/>
              <a:t>combination</a:t>
            </a:r>
            <a:r>
              <a:rPr spc="-30" dirty="0"/>
              <a:t> </a:t>
            </a:r>
            <a:r>
              <a:rPr dirty="0"/>
              <a:t>of</a:t>
            </a:r>
            <a:r>
              <a:rPr spc="-25" dirty="0"/>
              <a:t> </a:t>
            </a:r>
            <a:r>
              <a:rPr spc="-10" dirty="0"/>
              <a:t>platforms</a:t>
            </a:r>
            <a:r>
              <a:rPr spc="-45" dirty="0"/>
              <a:t> </a:t>
            </a:r>
            <a:r>
              <a:rPr dirty="0"/>
              <a:t>which</a:t>
            </a:r>
            <a:r>
              <a:rPr spc="-20" dirty="0"/>
              <a:t> </a:t>
            </a:r>
            <a:r>
              <a:rPr dirty="0"/>
              <a:t>are</a:t>
            </a:r>
            <a:r>
              <a:rPr spc="350" dirty="0"/>
              <a:t> </a:t>
            </a:r>
            <a:r>
              <a:rPr dirty="0"/>
              <a:t>as</a:t>
            </a:r>
            <a:r>
              <a:rPr spc="-45" dirty="0"/>
              <a:t> </a:t>
            </a:r>
            <a:r>
              <a:rPr spc="-10" dirty="0"/>
              <a:t>follows:</a:t>
            </a:r>
          </a:p>
          <a:p>
            <a:pPr marL="355600" indent="-342900">
              <a:lnSpc>
                <a:spcPct val="100000"/>
              </a:lnSpc>
              <a:spcBef>
                <a:spcPts val="1995"/>
              </a:spcBef>
              <a:buFont typeface="Arial MT"/>
              <a:buChar char="•"/>
              <a:tabLst>
                <a:tab pos="355600" algn="l"/>
              </a:tabLst>
            </a:pPr>
            <a:r>
              <a:rPr dirty="0"/>
              <a:t>Wall</a:t>
            </a:r>
            <a:r>
              <a:rPr spc="-65" dirty="0"/>
              <a:t> </a:t>
            </a:r>
            <a:r>
              <a:rPr dirty="0"/>
              <a:t>Branding</a:t>
            </a:r>
            <a:r>
              <a:rPr spc="305" dirty="0"/>
              <a:t> </a:t>
            </a:r>
            <a:r>
              <a:rPr dirty="0"/>
              <a:t>Static</a:t>
            </a:r>
            <a:r>
              <a:rPr spc="-70" dirty="0"/>
              <a:t> </a:t>
            </a:r>
            <a:r>
              <a:rPr spc="-10" dirty="0"/>
              <a:t>Billboards</a:t>
            </a:r>
          </a:p>
          <a:p>
            <a:pPr marL="355600" marR="5080" indent="-343535">
              <a:lnSpc>
                <a:spcPct val="200100"/>
              </a:lnSpc>
              <a:spcBef>
                <a:spcPts val="430"/>
              </a:spcBef>
              <a:buFont typeface="Arial MT"/>
              <a:buChar char="•"/>
              <a:tabLst>
                <a:tab pos="355600" algn="l"/>
              </a:tabLst>
            </a:pPr>
            <a:r>
              <a:rPr dirty="0"/>
              <a:t>Building</a:t>
            </a:r>
            <a:r>
              <a:rPr spc="-40" dirty="0"/>
              <a:t> </a:t>
            </a:r>
            <a:r>
              <a:rPr dirty="0"/>
              <a:t>Branding</a:t>
            </a:r>
            <a:r>
              <a:rPr spc="-45" dirty="0"/>
              <a:t> </a:t>
            </a:r>
            <a:r>
              <a:rPr dirty="0"/>
              <a:t>Advertising</a:t>
            </a:r>
            <a:r>
              <a:rPr spc="310" dirty="0"/>
              <a:t> </a:t>
            </a:r>
            <a:r>
              <a:rPr dirty="0"/>
              <a:t>KEKE</a:t>
            </a:r>
            <a:r>
              <a:rPr spc="-45" dirty="0"/>
              <a:t> </a:t>
            </a:r>
            <a:r>
              <a:rPr dirty="0"/>
              <a:t>Mobile</a:t>
            </a:r>
            <a:r>
              <a:rPr spc="-35" dirty="0"/>
              <a:t> </a:t>
            </a:r>
            <a:r>
              <a:rPr dirty="0"/>
              <a:t>Advertising</a:t>
            </a:r>
            <a:r>
              <a:rPr spc="310" dirty="0"/>
              <a:t> </a:t>
            </a:r>
            <a:r>
              <a:rPr spc="-10" dirty="0"/>
              <a:t>Street </a:t>
            </a:r>
            <a:r>
              <a:rPr dirty="0"/>
              <a:t>Lamp</a:t>
            </a:r>
            <a:r>
              <a:rPr spc="-45" dirty="0"/>
              <a:t> </a:t>
            </a:r>
            <a:r>
              <a:rPr spc="-10" dirty="0"/>
              <a:t>Poles</a:t>
            </a:r>
          </a:p>
        </p:txBody>
      </p:sp>
      <p:pic>
        <p:nvPicPr>
          <p:cNvPr id="3" name="object 3"/>
          <p:cNvPicPr/>
          <p:nvPr/>
        </p:nvPicPr>
        <p:blipFill>
          <a:blip r:embed="rId2" cstate="print"/>
          <a:stretch>
            <a:fillRect/>
          </a:stretch>
        </p:blipFill>
        <p:spPr>
          <a:xfrm>
            <a:off x="0" y="926591"/>
            <a:ext cx="9121140" cy="670560"/>
          </a:xfrm>
          <a:prstGeom prst="rect">
            <a:avLst/>
          </a:prstGeom>
        </p:spPr>
      </p:pic>
      <p:sp>
        <p:nvSpPr>
          <p:cNvPr id="4" name="object 4" descr="$PPTXTitle"/>
          <p:cNvSpPr txBox="1">
            <a:spLocks noGrp="1"/>
          </p:cNvSpPr>
          <p:nvPr>
            <p:ph type="title"/>
          </p:nvPr>
        </p:nvSpPr>
        <p:spPr>
          <a:xfrm>
            <a:off x="3173983" y="876376"/>
            <a:ext cx="3888740" cy="697230"/>
          </a:xfrm>
          <a:prstGeom prst="rect">
            <a:avLst/>
          </a:prstGeom>
        </p:spPr>
        <p:txBody>
          <a:bodyPr vert="horz" wrap="square" lIns="0" tIns="13335" rIns="0" bIns="0" rtlCol="0">
            <a:spAutoFit/>
          </a:bodyPr>
          <a:lstStyle/>
          <a:p>
            <a:pPr marL="12700">
              <a:lnSpc>
                <a:spcPct val="100000"/>
              </a:lnSpc>
              <a:spcBef>
                <a:spcPts val="105"/>
              </a:spcBef>
            </a:pPr>
            <a:r>
              <a:rPr sz="4400" dirty="0"/>
              <a:t>OUR</a:t>
            </a:r>
            <a:r>
              <a:rPr sz="4400" spc="-85" dirty="0"/>
              <a:t> </a:t>
            </a:r>
            <a:r>
              <a:rPr sz="4400" spc="-65" dirty="0"/>
              <a:t>PLATFORMS</a:t>
            </a:r>
            <a:endParaRPr sz="4400"/>
          </a:p>
        </p:txBody>
      </p:sp>
      <p:pic>
        <p:nvPicPr>
          <p:cNvPr id="5" name="object 5"/>
          <p:cNvPicPr/>
          <p:nvPr/>
        </p:nvPicPr>
        <p:blipFill>
          <a:blip r:embed="rId3" cstate="print"/>
          <a:stretch>
            <a:fillRect/>
          </a:stretch>
        </p:blipFill>
        <p:spPr>
          <a:xfrm>
            <a:off x="7620" y="858011"/>
            <a:ext cx="708660" cy="723900"/>
          </a:xfrm>
          <a:prstGeom prst="rect">
            <a:avLst/>
          </a:prstGeom>
        </p:spPr>
      </p:pic>
      <p:sp>
        <p:nvSpPr>
          <p:cNvPr id="6" name="object 6"/>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858011"/>
            <a:ext cx="9144000" cy="722630"/>
            <a:chOff x="0" y="858011"/>
            <a:chExt cx="9144000" cy="722630"/>
          </a:xfrm>
        </p:grpSpPr>
        <p:pic>
          <p:nvPicPr>
            <p:cNvPr id="3" name="object 3"/>
            <p:cNvPicPr/>
            <p:nvPr/>
          </p:nvPicPr>
          <p:blipFill>
            <a:blip r:embed="rId2" cstate="print"/>
            <a:stretch>
              <a:fillRect/>
            </a:stretch>
          </p:blipFill>
          <p:spPr>
            <a:xfrm>
              <a:off x="0" y="911351"/>
              <a:ext cx="9144000" cy="669036"/>
            </a:xfrm>
            <a:prstGeom prst="rect">
              <a:avLst/>
            </a:prstGeom>
          </p:spPr>
        </p:pic>
        <p:pic>
          <p:nvPicPr>
            <p:cNvPr id="4" name="object 4"/>
            <p:cNvPicPr/>
            <p:nvPr/>
          </p:nvPicPr>
          <p:blipFill>
            <a:blip r:embed="rId3" cstate="print"/>
            <a:stretch>
              <a:fillRect/>
            </a:stretch>
          </p:blipFill>
          <p:spPr>
            <a:xfrm>
              <a:off x="7620" y="858011"/>
              <a:ext cx="708660" cy="722376"/>
            </a:xfrm>
            <a:prstGeom prst="rect">
              <a:avLst/>
            </a:prstGeom>
          </p:spPr>
        </p:pic>
      </p:grpSp>
      <p:sp>
        <p:nvSpPr>
          <p:cNvPr id="5" name="object 5" descr="$PPTXTitle"/>
          <p:cNvSpPr txBox="1">
            <a:spLocks noGrp="1"/>
          </p:cNvSpPr>
          <p:nvPr>
            <p:ph type="title"/>
          </p:nvPr>
        </p:nvSpPr>
        <p:spPr>
          <a:xfrm>
            <a:off x="1032890" y="707961"/>
            <a:ext cx="8090661" cy="786433"/>
          </a:xfrm>
          <a:prstGeom prst="rect">
            <a:avLst/>
          </a:prstGeom>
        </p:spPr>
        <p:txBody>
          <a:bodyPr vert="horz" wrap="square" lIns="0" tIns="108267" rIns="0" bIns="0" rtlCol="0">
            <a:spAutoFit/>
          </a:bodyPr>
          <a:lstStyle/>
          <a:p>
            <a:pPr marL="5023485">
              <a:lnSpc>
                <a:spcPct val="100000"/>
              </a:lnSpc>
              <a:spcBef>
                <a:spcPts val="105"/>
              </a:spcBef>
            </a:pPr>
            <a:r>
              <a:rPr sz="4400" b="1" spc="-20" dirty="0"/>
              <a:t>PORTRAIT</a:t>
            </a:r>
            <a:endParaRPr sz="4400" b="1" dirty="0"/>
          </a:p>
        </p:txBody>
      </p:sp>
      <p:sp>
        <p:nvSpPr>
          <p:cNvPr id="7" name="object 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grpSp>
        <p:nvGrpSpPr>
          <p:cNvPr id="8" name="Group 7"/>
          <p:cNvGrpSpPr/>
          <p:nvPr/>
        </p:nvGrpSpPr>
        <p:grpSpPr>
          <a:xfrm>
            <a:off x="716280" y="1633727"/>
            <a:ext cx="7219103" cy="3464145"/>
            <a:chOff x="1403648" y="817201"/>
            <a:chExt cx="6859063" cy="3464145"/>
          </a:xfrm>
        </p:grpSpPr>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03648" y="817201"/>
              <a:ext cx="3180384" cy="3464145"/>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6327" y="821081"/>
              <a:ext cx="3456384" cy="3456384"/>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858011"/>
            <a:ext cx="9144000" cy="722630"/>
            <a:chOff x="0" y="858011"/>
            <a:chExt cx="9144000" cy="722630"/>
          </a:xfrm>
        </p:grpSpPr>
        <p:pic>
          <p:nvPicPr>
            <p:cNvPr id="3" name="object 3"/>
            <p:cNvPicPr/>
            <p:nvPr/>
          </p:nvPicPr>
          <p:blipFill>
            <a:blip r:embed="rId2" cstate="print"/>
            <a:stretch>
              <a:fillRect/>
            </a:stretch>
          </p:blipFill>
          <p:spPr>
            <a:xfrm>
              <a:off x="0" y="911351"/>
              <a:ext cx="9144000" cy="669036"/>
            </a:xfrm>
            <a:prstGeom prst="rect">
              <a:avLst/>
            </a:prstGeom>
          </p:spPr>
        </p:pic>
        <p:pic>
          <p:nvPicPr>
            <p:cNvPr id="4" name="object 4"/>
            <p:cNvPicPr/>
            <p:nvPr/>
          </p:nvPicPr>
          <p:blipFill>
            <a:blip r:embed="rId3" cstate="print"/>
            <a:stretch>
              <a:fillRect/>
            </a:stretch>
          </p:blipFill>
          <p:spPr>
            <a:xfrm>
              <a:off x="7620" y="858011"/>
              <a:ext cx="708660" cy="722376"/>
            </a:xfrm>
            <a:prstGeom prst="rect">
              <a:avLst/>
            </a:prstGeom>
          </p:spPr>
        </p:pic>
      </p:grpSp>
      <p:sp>
        <p:nvSpPr>
          <p:cNvPr id="5" name="object 5" descr="$PPTXTitle"/>
          <p:cNvSpPr txBox="1">
            <a:spLocks noGrp="1"/>
          </p:cNvSpPr>
          <p:nvPr>
            <p:ph type="title"/>
          </p:nvPr>
        </p:nvSpPr>
        <p:spPr>
          <a:xfrm>
            <a:off x="152400" y="707961"/>
            <a:ext cx="8971151" cy="786433"/>
          </a:xfrm>
          <a:prstGeom prst="rect">
            <a:avLst/>
          </a:prstGeom>
        </p:spPr>
        <p:txBody>
          <a:bodyPr vert="horz" wrap="square" lIns="0" tIns="108267" rIns="0" bIns="0" rtlCol="0">
            <a:spAutoFit/>
          </a:bodyPr>
          <a:lstStyle/>
          <a:p>
            <a:pPr marL="5023485">
              <a:lnSpc>
                <a:spcPct val="100000"/>
              </a:lnSpc>
              <a:spcBef>
                <a:spcPts val="105"/>
              </a:spcBef>
            </a:pPr>
            <a:r>
              <a:rPr lang="en-US" sz="4400" b="1" spc="-20" dirty="0" smtClean="0"/>
              <a:t>MEGA BOARD</a:t>
            </a:r>
            <a:endParaRPr sz="4400" b="1" dirty="0"/>
          </a:p>
        </p:txBody>
      </p:sp>
      <p:sp>
        <p:nvSpPr>
          <p:cNvPr id="7" name="object 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grpSp>
        <p:nvGrpSpPr>
          <p:cNvPr id="11" name="Group 10"/>
          <p:cNvGrpSpPr/>
          <p:nvPr/>
        </p:nvGrpSpPr>
        <p:grpSpPr>
          <a:xfrm>
            <a:off x="680066" y="1703065"/>
            <a:ext cx="7931598" cy="2989312"/>
            <a:chOff x="179512" y="776608"/>
            <a:chExt cx="8784976" cy="3672408"/>
          </a:xfrm>
        </p:grpSpPr>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16016" y="776608"/>
              <a:ext cx="4248472" cy="3672408"/>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9512" y="776608"/>
              <a:ext cx="4392488" cy="3672408"/>
            </a:xfrm>
            <a:prstGeom prst="rect">
              <a:avLst/>
            </a:prstGeom>
          </p:spPr>
        </p:pic>
      </p:grpSp>
    </p:spTree>
    <p:extLst>
      <p:ext uri="{BB962C8B-B14F-4D97-AF65-F5344CB8AC3E}">
        <p14:creationId xmlns:p14="http://schemas.microsoft.com/office/powerpoint/2010/main" val="3310632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858011"/>
            <a:ext cx="9144000" cy="722630"/>
            <a:chOff x="0" y="858011"/>
            <a:chExt cx="9144000" cy="722630"/>
          </a:xfrm>
        </p:grpSpPr>
        <p:pic>
          <p:nvPicPr>
            <p:cNvPr id="3" name="object 3"/>
            <p:cNvPicPr/>
            <p:nvPr/>
          </p:nvPicPr>
          <p:blipFill>
            <a:blip r:embed="rId2" cstate="print"/>
            <a:stretch>
              <a:fillRect/>
            </a:stretch>
          </p:blipFill>
          <p:spPr>
            <a:xfrm>
              <a:off x="0" y="911351"/>
              <a:ext cx="9144000" cy="669036"/>
            </a:xfrm>
            <a:prstGeom prst="rect">
              <a:avLst/>
            </a:prstGeom>
          </p:spPr>
        </p:pic>
        <p:pic>
          <p:nvPicPr>
            <p:cNvPr id="4" name="object 4"/>
            <p:cNvPicPr/>
            <p:nvPr/>
          </p:nvPicPr>
          <p:blipFill>
            <a:blip r:embed="rId3" cstate="print"/>
            <a:stretch>
              <a:fillRect/>
            </a:stretch>
          </p:blipFill>
          <p:spPr>
            <a:xfrm>
              <a:off x="7620" y="858011"/>
              <a:ext cx="708660" cy="722376"/>
            </a:xfrm>
            <a:prstGeom prst="rect">
              <a:avLst/>
            </a:prstGeom>
          </p:spPr>
        </p:pic>
      </p:grpSp>
      <p:sp>
        <p:nvSpPr>
          <p:cNvPr id="5" name="object 5" descr="$PPTXTitle"/>
          <p:cNvSpPr txBox="1">
            <a:spLocks noGrp="1"/>
          </p:cNvSpPr>
          <p:nvPr>
            <p:ph type="title"/>
          </p:nvPr>
        </p:nvSpPr>
        <p:spPr>
          <a:xfrm>
            <a:off x="152400" y="707961"/>
            <a:ext cx="8971151" cy="786433"/>
          </a:xfrm>
          <a:prstGeom prst="rect">
            <a:avLst/>
          </a:prstGeom>
        </p:spPr>
        <p:txBody>
          <a:bodyPr vert="horz" wrap="square" lIns="0" tIns="108267" rIns="0" bIns="0" rtlCol="0">
            <a:spAutoFit/>
          </a:bodyPr>
          <a:lstStyle/>
          <a:p>
            <a:pPr marL="5023485">
              <a:lnSpc>
                <a:spcPct val="100000"/>
              </a:lnSpc>
              <a:spcBef>
                <a:spcPts val="105"/>
              </a:spcBef>
            </a:pPr>
            <a:r>
              <a:rPr lang="en-US" sz="4400" b="1" spc="-20" dirty="0" smtClean="0"/>
              <a:t>GANTRY</a:t>
            </a:r>
            <a:endParaRPr sz="4400" b="1" dirty="0"/>
          </a:p>
        </p:txBody>
      </p:sp>
      <p:sp>
        <p:nvSpPr>
          <p:cNvPr id="7" name="object 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grpSp>
        <p:nvGrpSpPr>
          <p:cNvPr id="10" name="Group 9"/>
          <p:cNvGrpSpPr/>
          <p:nvPr/>
        </p:nvGrpSpPr>
        <p:grpSpPr>
          <a:xfrm>
            <a:off x="150137" y="1717611"/>
            <a:ext cx="8627294" cy="3468998"/>
            <a:chOff x="337194" y="896106"/>
            <a:chExt cx="8627294" cy="3468998"/>
          </a:xfrm>
        </p:grpSpPr>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7194" y="896106"/>
              <a:ext cx="4162798" cy="3468998"/>
            </a:xfrm>
            <a:prstGeom prst="rect">
              <a:avLst/>
            </a:prstGeom>
          </p:spPr>
        </p:pic>
        <p:pic>
          <p:nvPicPr>
            <p:cNvPr id="15" name="Picture 1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01692" y="896106"/>
              <a:ext cx="4162796" cy="3468997"/>
            </a:xfrm>
            <a:prstGeom prst="rect">
              <a:avLst/>
            </a:prstGeom>
          </p:spPr>
        </p:pic>
      </p:grpSp>
    </p:spTree>
    <p:extLst>
      <p:ext uri="{BB962C8B-B14F-4D97-AF65-F5344CB8AC3E}">
        <p14:creationId xmlns:p14="http://schemas.microsoft.com/office/powerpoint/2010/main" val="988522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858011"/>
            <a:ext cx="9144000" cy="722630"/>
            <a:chOff x="0" y="858011"/>
            <a:chExt cx="9144000" cy="722630"/>
          </a:xfrm>
        </p:grpSpPr>
        <p:pic>
          <p:nvPicPr>
            <p:cNvPr id="3" name="object 3"/>
            <p:cNvPicPr/>
            <p:nvPr/>
          </p:nvPicPr>
          <p:blipFill>
            <a:blip r:embed="rId2" cstate="print"/>
            <a:stretch>
              <a:fillRect/>
            </a:stretch>
          </p:blipFill>
          <p:spPr>
            <a:xfrm>
              <a:off x="0" y="911351"/>
              <a:ext cx="9144000" cy="669036"/>
            </a:xfrm>
            <a:prstGeom prst="rect">
              <a:avLst/>
            </a:prstGeom>
          </p:spPr>
        </p:pic>
        <p:pic>
          <p:nvPicPr>
            <p:cNvPr id="4" name="object 4"/>
            <p:cNvPicPr/>
            <p:nvPr/>
          </p:nvPicPr>
          <p:blipFill>
            <a:blip r:embed="rId3" cstate="print"/>
            <a:stretch>
              <a:fillRect/>
            </a:stretch>
          </p:blipFill>
          <p:spPr>
            <a:xfrm>
              <a:off x="7620" y="858011"/>
              <a:ext cx="708660" cy="722376"/>
            </a:xfrm>
            <a:prstGeom prst="rect">
              <a:avLst/>
            </a:prstGeom>
          </p:spPr>
        </p:pic>
      </p:grpSp>
      <p:sp>
        <p:nvSpPr>
          <p:cNvPr id="5" name="object 5" descr="$PPTXTitle"/>
          <p:cNvSpPr txBox="1">
            <a:spLocks noGrp="1"/>
          </p:cNvSpPr>
          <p:nvPr>
            <p:ph type="title"/>
          </p:nvPr>
        </p:nvSpPr>
        <p:spPr>
          <a:xfrm>
            <a:off x="152400" y="707961"/>
            <a:ext cx="8971151" cy="786433"/>
          </a:xfrm>
          <a:prstGeom prst="rect">
            <a:avLst/>
          </a:prstGeom>
        </p:spPr>
        <p:txBody>
          <a:bodyPr vert="horz" wrap="square" lIns="0" tIns="108267" rIns="0" bIns="0" rtlCol="0">
            <a:spAutoFit/>
          </a:bodyPr>
          <a:lstStyle/>
          <a:p>
            <a:pPr marL="5023485">
              <a:lnSpc>
                <a:spcPct val="100000"/>
              </a:lnSpc>
              <a:spcBef>
                <a:spcPts val="105"/>
              </a:spcBef>
            </a:pPr>
            <a:r>
              <a:rPr lang="en-US" sz="4400" b="1" spc="-20" dirty="0" smtClean="0"/>
              <a:t>EYECATHER</a:t>
            </a:r>
            <a:endParaRPr sz="4400" b="1" dirty="0"/>
          </a:p>
        </p:txBody>
      </p:sp>
      <p:sp>
        <p:nvSpPr>
          <p:cNvPr id="7" name="object 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grpSp>
        <p:nvGrpSpPr>
          <p:cNvPr id="11" name="Group 10"/>
          <p:cNvGrpSpPr/>
          <p:nvPr/>
        </p:nvGrpSpPr>
        <p:grpSpPr>
          <a:xfrm>
            <a:off x="152400" y="1752600"/>
            <a:ext cx="8627294" cy="3468998"/>
            <a:chOff x="337194" y="896106"/>
            <a:chExt cx="8627294" cy="3468998"/>
          </a:xfrm>
        </p:grpSpPr>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7194" y="896106"/>
              <a:ext cx="4162798" cy="3468998"/>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01692" y="896106"/>
              <a:ext cx="4162796" cy="3468997"/>
            </a:xfrm>
            <a:prstGeom prst="rect">
              <a:avLst/>
            </a:prstGeom>
          </p:spPr>
        </p:pic>
      </p:grpSp>
    </p:spTree>
    <p:extLst>
      <p:ext uri="{BB962C8B-B14F-4D97-AF65-F5344CB8AC3E}">
        <p14:creationId xmlns:p14="http://schemas.microsoft.com/office/powerpoint/2010/main" val="4289865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858011"/>
            <a:ext cx="9144000" cy="722630"/>
            <a:chOff x="0" y="858011"/>
            <a:chExt cx="9144000" cy="722630"/>
          </a:xfrm>
        </p:grpSpPr>
        <p:pic>
          <p:nvPicPr>
            <p:cNvPr id="3" name="object 3"/>
            <p:cNvPicPr/>
            <p:nvPr/>
          </p:nvPicPr>
          <p:blipFill>
            <a:blip r:embed="rId2" cstate="print"/>
            <a:stretch>
              <a:fillRect/>
            </a:stretch>
          </p:blipFill>
          <p:spPr>
            <a:xfrm>
              <a:off x="0" y="911351"/>
              <a:ext cx="9144000" cy="669036"/>
            </a:xfrm>
            <a:prstGeom prst="rect">
              <a:avLst/>
            </a:prstGeom>
          </p:spPr>
        </p:pic>
        <p:pic>
          <p:nvPicPr>
            <p:cNvPr id="4" name="object 4"/>
            <p:cNvPicPr/>
            <p:nvPr/>
          </p:nvPicPr>
          <p:blipFill>
            <a:blip r:embed="rId3" cstate="print"/>
            <a:stretch>
              <a:fillRect/>
            </a:stretch>
          </p:blipFill>
          <p:spPr>
            <a:xfrm>
              <a:off x="7620" y="858011"/>
              <a:ext cx="708660" cy="722376"/>
            </a:xfrm>
            <a:prstGeom prst="rect">
              <a:avLst/>
            </a:prstGeom>
          </p:spPr>
        </p:pic>
      </p:grpSp>
      <p:sp>
        <p:nvSpPr>
          <p:cNvPr id="5" name="object 5" descr="$PPTXTitle"/>
          <p:cNvSpPr txBox="1">
            <a:spLocks noGrp="1"/>
          </p:cNvSpPr>
          <p:nvPr>
            <p:ph type="title"/>
          </p:nvPr>
        </p:nvSpPr>
        <p:spPr>
          <a:xfrm>
            <a:off x="152400" y="707961"/>
            <a:ext cx="8971151" cy="786433"/>
          </a:xfrm>
          <a:prstGeom prst="rect">
            <a:avLst/>
          </a:prstGeom>
        </p:spPr>
        <p:txBody>
          <a:bodyPr vert="horz" wrap="square" lIns="0" tIns="108267" rIns="0" bIns="0" rtlCol="0">
            <a:spAutoFit/>
          </a:bodyPr>
          <a:lstStyle/>
          <a:p>
            <a:pPr marL="5023485">
              <a:lnSpc>
                <a:spcPct val="100000"/>
              </a:lnSpc>
              <a:spcBef>
                <a:spcPts val="105"/>
              </a:spcBef>
            </a:pPr>
            <a:r>
              <a:rPr lang="en-US" sz="4400" b="1" spc="-20" dirty="0" smtClean="0"/>
              <a:t>UNIPOLE</a:t>
            </a:r>
            <a:endParaRPr sz="4400" b="1" dirty="0"/>
          </a:p>
        </p:txBody>
      </p:sp>
      <p:sp>
        <p:nvSpPr>
          <p:cNvPr id="7" name="object 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grpSp>
        <p:nvGrpSpPr>
          <p:cNvPr id="16" name="Group 15"/>
          <p:cNvGrpSpPr/>
          <p:nvPr/>
        </p:nvGrpSpPr>
        <p:grpSpPr>
          <a:xfrm>
            <a:off x="182578" y="1872148"/>
            <a:ext cx="8400858" cy="3397798"/>
            <a:chOff x="491622" y="1040188"/>
            <a:chExt cx="8400858" cy="3397798"/>
          </a:xfrm>
        </p:grpSpPr>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1622" y="1040188"/>
              <a:ext cx="4008370" cy="3396924"/>
            </a:xfrm>
            <a:prstGeom prst="rect">
              <a:avLst/>
            </a:prstGeom>
          </p:spPr>
        </p:pic>
        <p:pic>
          <p:nvPicPr>
            <p:cNvPr id="18" name="Picture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47167" y="1040188"/>
              <a:ext cx="4145313" cy="3397798"/>
            </a:xfrm>
            <a:prstGeom prst="rect">
              <a:avLst/>
            </a:prstGeom>
          </p:spPr>
        </p:pic>
      </p:grpSp>
    </p:spTree>
    <p:extLst>
      <p:ext uri="{BB962C8B-B14F-4D97-AF65-F5344CB8AC3E}">
        <p14:creationId xmlns:p14="http://schemas.microsoft.com/office/powerpoint/2010/main" val="160198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6324" y="2046732"/>
            <a:ext cx="4422648" cy="2919984"/>
          </a:xfrm>
          <a:prstGeom prst="rect">
            <a:avLst/>
          </a:prstGeom>
        </p:spPr>
      </p:pic>
      <p:sp>
        <p:nvSpPr>
          <p:cNvPr id="3" name="object 3"/>
          <p:cNvSpPr txBox="1"/>
          <p:nvPr/>
        </p:nvSpPr>
        <p:spPr>
          <a:xfrm>
            <a:off x="6725539" y="5407863"/>
            <a:ext cx="1301115" cy="243204"/>
          </a:xfrm>
          <a:prstGeom prst="rect">
            <a:avLst/>
          </a:prstGeom>
        </p:spPr>
        <p:txBody>
          <a:bodyPr vert="horz" wrap="square" lIns="0" tIns="15875" rIns="0" bIns="0" rtlCol="0">
            <a:spAutoFit/>
          </a:bodyPr>
          <a:lstStyle/>
          <a:p>
            <a:pPr marL="12700">
              <a:lnSpc>
                <a:spcPct val="100000"/>
              </a:lnSpc>
              <a:spcBef>
                <a:spcPts val="125"/>
              </a:spcBef>
            </a:pPr>
            <a:r>
              <a:rPr sz="1400" b="1" dirty="0">
                <a:solidFill>
                  <a:srgbClr val="070707"/>
                </a:solidFill>
                <a:latin typeface="Tahoma"/>
                <a:cs typeface="Tahoma"/>
              </a:rPr>
              <a:t>Keke</a:t>
            </a:r>
            <a:r>
              <a:rPr sz="1400" b="1" spc="-70" dirty="0">
                <a:solidFill>
                  <a:srgbClr val="070707"/>
                </a:solidFill>
                <a:latin typeface="Tahoma"/>
                <a:cs typeface="Tahoma"/>
              </a:rPr>
              <a:t> </a:t>
            </a:r>
            <a:r>
              <a:rPr sz="1400" b="1" spc="-25" dirty="0">
                <a:solidFill>
                  <a:srgbClr val="070707"/>
                </a:solidFill>
                <a:latin typeface="Tahoma"/>
                <a:cs typeface="Tahoma"/>
              </a:rPr>
              <a:t>Branding</a:t>
            </a:r>
            <a:endParaRPr sz="1400">
              <a:latin typeface="Tahoma"/>
              <a:cs typeface="Tahoma"/>
            </a:endParaRPr>
          </a:p>
        </p:txBody>
      </p:sp>
      <p:sp>
        <p:nvSpPr>
          <p:cNvPr id="4" name="object 4"/>
          <p:cNvSpPr txBox="1"/>
          <p:nvPr/>
        </p:nvSpPr>
        <p:spPr>
          <a:xfrm>
            <a:off x="882497" y="5242686"/>
            <a:ext cx="2320290" cy="243204"/>
          </a:xfrm>
          <a:prstGeom prst="rect">
            <a:avLst/>
          </a:prstGeom>
        </p:spPr>
        <p:txBody>
          <a:bodyPr vert="horz" wrap="square" lIns="0" tIns="15875" rIns="0" bIns="0" rtlCol="0">
            <a:spAutoFit/>
          </a:bodyPr>
          <a:lstStyle/>
          <a:p>
            <a:pPr marL="12700">
              <a:lnSpc>
                <a:spcPct val="100000"/>
              </a:lnSpc>
              <a:spcBef>
                <a:spcPts val="125"/>
              </a:spcBef>
            </a:pPr>
            <a:r>
              <a:rPr sz="1400" b="1" spc="-70" dirty="0">
                <a:solidFill>
                  <a:srgbClr val="070707"/>
                </a:solidFill>
                <a:latin typeface="Tahoma"/>
                <a:cs typeface="Tahoma"/>
              </a:rPr>
              <a:t>Bus</a:t>
            </a:r>
            <a:r>
              <a:rPr sz="1400" b="1" spc="-135" dirty="0">
                <a:solidFill>
                  <a:srgbClr val="070707"/>
                </a:solidFill>
                <a:latin typeface="Tahoma"/>
                <a:cs typeface="Tahoma"/>
              </a:rPr>
              <a:t> </a:t>
            </a:r>
            <a:r>
              <a:rPr sz="1400" b="1" spc="-70" dirty="0">
                <a:solidFill>
                  <a:srgbClr val="070707"/>
                </a:solidFill>
                <a:latin typeface="Tahoma"/>
                <a:cs typeface="Tahoma"/>
              </a:rPr>
              <a:t>Station</a:t>
            </a:r>
            <a:r>
              <a:rPr sz="1400" b="1" spc="-55" dirty="0">
                <a:solidFill>
                  <a:srgbClr val="070707"/>
                </a:solidFill>
                <a:latin typeface="Tahoma"/>
                <a:cs typeface="Tahoma"/>
              </a:rPr>
              <a:t> </a:t>
            </a:r>
            <a:r>
              <a:rPr sz="1400" b="1" dirty="0">
                <a:solidFill>
                  <a:srgbClr val="070707"/>
                </a:solidFill>
                <a:latin typeface="Tahoma"/>
                <a:cs typeface="Tahoma"/>
              </a:rPr>
              <a:t>on</a:t>
            </a:r>
            <a:r>
              <a:rPr sz="1400" b="1" spc="-10" dirty="0">
                <a:solidFill>
                  <a:srgbClr val="070707"/>
                </a:solidFill>
                <a:latin typeface="Tahoma"/>
                <a:cs typeface="Tahoma"/>
              </a:rPr>
              <a:t> </a:t>
            </a:r>
            <a:r>
              <a:rPr sz="1400" b="1" spc="-35" dirty="0">
                <a:solidFill>
                  <a:srgbClr val="070707"/>
                </a:solidFill>
                <a:latin typeface="Tahoma"/>
                <a:cs typeface="Tahoma"/>
              </a:rPr>
              <a:t>BRTCorridor</a:t>
            </a:r>
            <a:endParaRPr sz="1400">
              <a:latin typeface="Tahoma"/>
              <a:cs typeface="Tahoma"/>
            </a:endParaRPr>
          </a:p>
        </p:txBody>
      </p:sp>
      <p:pic>
        <p:nvPicPr>
          <p:cNvPr id="5" name="object 5"/>
          <p:cNvPicPr/>
          <p:nvPr/>
        </p:nvPicPr>
        <p:blipFill>
          <a:blip r:embed="rId3" cstate="print"/>
          <a:stretch>
            <a:fillRect/>
          </a:stretch>
        </p:blipFill>
        <p:spPr>
          <a:xfrm>
            <a:off x="0" y="925067"/>
            <a:ext cx="9144000" cy="672084"/>
          </a:xfrm>
          <a:prstGeom prst="rect">
            <a:avLst/>
          </a:prstGeom>
        </p:spPr>
      </p:pic>
      <p:sp>
        <p:nvSpPr>
          <p:cNvPr id="6" name="object 6" descr="$PPTXTitle"/>
          <p:cNvSpPr txBox="1">
            <a:spLocks noGrp="1"/>
          </p:cNvSpPr>
          <p:nvPr>
            <p:ph type="title"/>
          </p:nvPr>
        </p:nvSpPr>
        <p:spPr>
          <a:prstGeom prst="rect">
            <a:avLst/>
          </a:prstGeom>
        </p:spPr>
        <p:txBody>
          <a:bodyPr vert="horz" wrap="square" lIns="0" tIns="389902" rIns="0" bIns="0" rtlCol="0">
            <a:spAutoFit/>
          </a:bodyPr>
          <a:lstStyle/>
          <a:p>
            <a:pPr marL="5255260">
              <a:lnSpc>
                <a:spcPct val="100000"/>
              </a:lnSpc>
              <a:spcBef>
                <a:spcPts val="105"/>
              </a:spcBef>
            </a:pPr>
            <a:r>
              <a:rPr sz="2000" dirty="0"/>
              <a:t>BRT</a:t>
            </a:r>
            <a:r>
              <a:rPr sz="2000" spc="-75" dirty="0"/>
              <a:t> </a:t>
            </a:r>
            <a:r>
              <a:rPr sz="2000" dirty="0"/>
              <a:t>BUS/</a:t>
            </a:r>
            <a:r>
              <a:rPr sz="2000" spc="-95" dirty="0"/>
              <a:t> </a:t>
            </a:r>
            <a:r>
              <a:rPr sz="2000" spc="-10" dirty="0"/>
              <a:t>KEKE</a:t>
            </a:r>
            <a:r>
              <a:rPr sz="2000" spc="-85" dirty="0"/>
              <a:t> </a:t>
            </a:r>
            <a:r>
              <a:rPr sz="2000" spc="-10" dirty="0"/>
              <a:t>BRANDING</a:t>
            </a:r>
            <a:endParaRPr sz="2000"/>
          </a:p>
        </p:txBody>
      </p:sp>
      <p:pic>
        <p:nvPicPr>
          <p:cNvPr id="7" name="object 7"/>
          <p:cNvPicPr/>
          <p:nvPr/>
        </p:nvPicPr>
        <p:blipFill>
          <a:blip r:embed="rId4" cstate="print"/>
          <a:stretch>
            <a:fillRect/>
          </a:stretch>
        </p:blipFill>
        <p:spPr>
          <a:xfrm>
            <a:off x="7620" y="858011"/>
            <a:ext cx="708660" cy="723900"/>
          </a:xfrm>
          <a:prstGeom prst="rect">
            <a:avLst/>
          </a:prstGeom>
        </p:spPr>
      </p:pic>
      <p:grpSp>
        <p:nvGrpSpPr>
          <p:cNvPr id="8" name="object 8"/>
          <p:cNvGrpSpPr/>
          <p:nvPr/>
        </p:nvGrpSpPr>
        <p:grpSpPr>
          <a:xfrm>
            <a:off x="4806696" y="2049779"/>
            <a:ext cx="4196080" cy="3188335"/>
            <a:chOff x="4806696" y="2049779"/>
            <a:chExt cx="4196080" cy="3188335"/>
          </a:xfrm>
        </p:grpSpPr>
        <p:pic>
          <p:nvPicPr>
            <p:cNvPr id="9" name="object 9"/>
            <p:cNvPicPr/>
            <p:nvPr/>
          </p:nvPicPr>
          <p:blipFill>
            <a:blip r:embed="rId5" cstate="print"/>
            <a:stretch>
              <a:fillRect/>
            </a:stretch>
          </p:blipFill>
          <p:spPr>
            <a:xfrm>
              <a:off x="6760464" y="2049779"/>
              <a:ext cx="2241804" cy="1581912"/>
            </a:xfrm>
            <a:prstGeom prst="rect">
              <a:avLst/>
            </a:prstGeom>
          </p:spPr>
        </p:pic>
        <p:pic>
          <p:nvPicPr>
            <p:cNvPr id="10" name="object 10"/>
            <p:cNvPicPr/>
            <p:nvPr/>
          </p:nvPicPr>
          <p:blipFill>
            <a:blip r:embed="rId6" cstate="print"/>
            <a:stretch>
              <a:fillRect/>
            </a:stretch>
          </p:blipFill>
          <p:spPr>
            <a:xfrm>
              <a:off x="4806696" y="2065019"/>
              <a:ext cx="2168652" cy="1551431"/>
            </a:xfrm>
            <a:prstGeom prst="rect">
              <a:avLst/>
            </a:prstGeom>
          </p:spPr>
        </p:pic>
        <p:pic>
          <p:nvPicPr>
            <p:cNvPr id="11" name="object 11"/>
            <p:cNvPicPr/>
            <p:nvPr/>
          </p:nvPicPr>
          <p:blipFill>
            <a:blip r:embed="rId7" cstate="print"/>
            <a:stretch>
              <a:fillRect/>
            </a:stretch>
          </p:blipFill>
          <p:spPr>
            <a:xfrm>
              <a:off x="5449824" y="3515867"/>
              <a:ext cx="3051048" cy="1722119"/>
            </a:xfrm>
            <a:prstGeom prst="rect">
              <a:avLst/>
            </a:prstGeom>
          </p:spPr>
        </p:pic>
      </p:grpSp>
      <p:sp>
        <p:nvSpPr>
          <p:cNvPr id="12" name="object 12"/>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8"/>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858011"/>
            <a:ext cx="9144000" cy="722630"/>
            <a:chOff x="0" y="858011"/>
            <a:chExt cx="9144000" cy="722630"/>
          </a:xfrm>
        </p:grpSpPr>
        <p:pic>
          <p:nvPicPr>
            <p:cNvPr id="3" name="object 3"/>
            <p:cNvPicPr/>
            <p:nvPr/>
          </p:nvPicPr>
          <p:blipFill>
            <a:blip r:embed="rId2" cstate="print"/>
            <a:stretch>
              <a:fillRect/>
            </a:stretch>
          </p:blipFill>
          <p:spPr>
            <a:xfrm>
              <a:off x="0" y="911351"/>
              <a:ext cx="9144000" cy="669036"/>
            </a:xfrm>
            <a:prstGeom prst="rect">
              <a:avLst/>
            </a:prstGeom>
          </p:spPr>
        </p:pic>
        <p:pic>
          <p:nvPicPr>
            <p:cNvPr id="4" name="object 4"/>
            <p:cNvPicPr/>
            <p:nvPr/>
          </p:nvPicPr>
          <p:blipFill>
            <a:blip r:embed="rId3" cstate="print"/>
            <a:stretch>
              <a:fillRect/>
            </a:stretch>
          </p:blipFill>
          <p:spPr>
            <a:xfrm>
              <a:off x="7620" y="858011"/>
              <a:ext cx="708660" cy="722376"/>
            </a:xfrm>
            <a:prstGeom prst="rect">
              <a:avLst/>
            </a:prstGeom>
          </p:spPr>
        </p:pic>
      </p:grpSp>
      <p:sp>
        <p:nvSpPr>
          <p:cNvPr id="5" name="object 5" descr="$PPTXTitle"/>
          <p:cNvSpPr txBox="1">
            <a:spLocks noGrp="1"/>
          </p:cNvSpPr>
          <p:nvPr>
            <p:ph type="title"/>
          </p:nvPr>
        </p:nvSpPr>
        <p:spPr>
          <a:xfrm>
            <a:off x="-762000" y="390086"/>
            <a:ext cx="11635212" cy="601767"/>
          </a:xfrm>
          <a:prstGeom prst="rect">
            <a:avLst/>
          </a:prstGeom>
        </p:spPr>
        <p:txBody>
          <a:bodyPr vert="horz" wrap="square" lIns="0" tIns="108267" rIns="0" bIns="0" rtlCol="0">
            <a:spAutoFit/>
          </a:bodyPr>
          <a:lstStyle/>
          <a:p>
            <a:pPr marL="5023485">
              <a:lnSpc>
                <a:spcPct val="100000"/>
              </a:lnSpc>
              <a:spcBef>
                <a:spcPts val="105"/>
              </a:spcBef>
            </a:pPr>
            <a:r>
              <a:rPr lang="en-US" sz="3200" b="1" spc="-20" dirty="0" smtClean="0"/>
              <a:t>ROUNDABOUT PANEL</a:t>
            </a:r>
            <a:endParaRPr sz="3200" b="1" dirty="0"/>
          </a:p>
        </p:txBody>
      </p:sp>
      <p:sp>
        <p:nvSpPr>
          <p:cNvPr id="7" name="object 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dirty="0">
              <a:latin typeface="Calibri"/>
              <a:cs typeface="Calibri"/>
            </a:endParaRPr>
          </a:p>
        </p:txBody>
      </p:sp>
      <p:grpSp>
        <p:nvGrpSpPr>
          <p:cNvPr id="13" name="Group 12"/>
          <p:cNvGrpSpPr/>
          <p:nvPr/>
        </p:nvGrpSpPr>
        <p:grpSpPr>
          <a:xfrm>
            <a:off x="179512" y="1806851"/>
            <a:ext cx="8784976" cy="3528392"/>
            <a:chOff x="179512" y="584684"/>
            <a:chExt cx="8784976" cy="3528392"/>
          </a:xfrm>
        </p:grpSpPr>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9512" y="584684"/>
              <a:ext cx="4320480" cy="3528392"/>
            </a:xfrm>
            <a:prstGeom prst="rect">
              <a:avLst/>
            </a:prstGeom>
          </p:spPr>
        </p:pic>
        <p:pic>
          <p:nvPicPr>
            <p:cNvPr id="15" name="Picture 1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44008" y="584684"/>
              <a:ext cx="4320480" cy="3528392"/>
            </a:xfrm>
            <a:prstGeom prst="rect">
              <a:avLst/>
            </a:prstGeom>
          </p:spPr>
        </p:pic>
      </p:grpSp>
    </p:spTree>
    <p:extLst>
      <p:ext uri="{BB962C8B-B14F-4D97-AF65-F5344CB8AC3E}">
        <p14:creationId xmlns:p14="http://schemas.microsoft.com/office/powerpoint/2010/main" val="553063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858011"/>
            <a:ext cx="9144000" cy="722630"/>
            <a:chOff x="0" y="858011"/>
            <a:chExt cx="9144000" cy="722630"/>
          </a:xfrm>
        </p:grpSpPr>
        <p:pic>
          <p:nvPicPr>
            <p:cNvPr id="3" name="object 3"/>
            <p:cNvPicPr/>
            <p:nvPr/>
          </p:nvPicPr>
          <p:blipFill>
            <a:blip r:embed="rId2" cstate="print"/>
            <a:stretch>
              <a:fillRect/>
            </a:stretch>
          </p:blipFill>
          <p:spPr>
            <a:xfrm>
              <a:off x="0" y="911351"/>
              <a:ext cx="9144000" cy="669036"/>
            </a:xfrm>
            <a:prstGeom prst="rect">
              <a:avLst/>
            </a:prstGeom>
          </p:spPr>
        </p:pic>
        <p:pic>
          <p:nvPicPr>
            <p:cNvPr id="4" name="object 4"/>
            <p:cNvPicPr/>
            <p:nvPr/>
          </p:nvPicPr>
          <p:blipFill>
            <a:blip r:embed="rId3" cstate="print"/>
            <a:stretch>
              <a:fillRect/>
            </a:stretch>
          </p:blipFill>
          <p:spPr>
            <a:xfrm>
              <a:off x="7620" y="858011"/>
              <a:ext cx="708660" cy="722376"/>
            </a:xfrm>
            <a:prstGeom prst="rect">
              <a:avLst/>
            </a:prstGeom>
          </p:spPr>
        </p:pic>
      </p:grpSp>
      <p:sp>
        <p:nvSpPr>
          <p:cNvPr id="5" name="object 5" descr="$PPTXTitle"/>
          <p:cNvSpPr txBox="1">
            <a:spLocks noGrp="1"/>
          </p:cNvSpPr>
          <p:nvPr>
            <p:ph type="title"/>
          </p:nvPr>
        </p:nvSpPr>
        <p:spPr>
          <a:xfrm>
            <a:off x="-762000" y="390086"/>
            <a:ext cx="11635212" cy="601767"/>
          </a:xfrm>
          <a:prstGeom prst="rect">
            <a:avLst/>
          </a:prstGeom>
        </p:spPr>
        <p:txBody>
          <a:bodyPr vert="horz" wrap="square" lIns="0" tIns="108267" rIns="0" bIns="0" rtlCol="0">
            <a:spAutoFit/>
          </a:bodyPr>
          <a:lstStyle/>
          <a:p>
            <a:pPr marL="5023485">
              <a:lnSpc>
                <a:spcPct val="100000"/>
              </a:lnSpc>
              <a:spcBef>
                <a:spcPts val="105"/>
              </a:spcBef>
            </a:pPr>
            <a:r>
              <a:rPr lang="en-US" sz="3200" b="1" spc="-20" dirty="0" smtClean="0"/>
              <a:t>ROOFTOP</a:t>
            </a:r>
            <a:endParaRPr sz="3200" b="1" dirty="0"/>
          </a:p>
        </p:txBody>
      </p:sp>
      <p:sp>
        <p:nvSpPr>
          <p:cNvPr id="7" name="object 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dirty="0">
              <a:latin typeface="Calibri"/>
              <a:cs typeface="Calibri"/>
            </a:endParaRPr>
          </a:p>
        </p:txBody>
      </p:sp>
      <p:grpSp>
        <p:nvGrpSpPr>
          <p:cNvPr id="10" name="Group 9"/>
          <p:cNvGrpSpPr/>
          <p:nvPr/>
        </p:nvGrpSpPr>
        <p:grpSpPr>
          <a:xfrm>
            <a:off x="245368" y="1656361"/>
            <a:ext cx="8898632" cy="3621360"/>
            <a:chOff x="179512" y="1052736"/>
            <a:chExt cx="8898632" cy="3621360"/>
          </a:xfrm>
        </p:grpSpPr>
        <p:pic>
          <p:nvPicPr>
            <p:cNvPr id="11" name="Picture 10">
              <a:extLst>
                <a:ext uri="{FF2B5EF4-FFF2-40B4-BE49-F238E27FC236}">
                  <a16:creationId xmlns:a16="http://schemas.microsoft.com/office/drawing/2014/main" xmlns="" id="{5EC05E8B-1A73-E2D2-24C3-2FE07D4743DF}"/>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5000"/>
                      </a14:imgEffect>
                    </a14:imgLayer>
                  </a14:imgProps>
                </a:ext>
                <a:ext uri="{28A0092B-C50C-407E-A947-70E740481C1C}">
                  <a14:useLocalDpi xmlns:a14="http://schemas.microsoft.com/office/drawing/2010/main" val="0"/>
                </a:ext>
              </a:extLst>
            </a:blip>
            <a:stretch>
              <a:fillRect/>
            </a:stretch>
          </p:blipFill>
          <p:spPr>
            <a:xfrm>
              <a:off x="179512" y="1052736"/>
              <a:ext cx="4392488" cy="3621360"/>
            </a:xfrm>
            <a:prstGeom prst="rect">
              <a:avLst/>
            </a:prstGeom>
          </p:spPr>
        </p:pic>
        <p:pic>
          <p:nvPicPr>
            <p:cNvPr id="12" name="Picture 11">
              <a:extLst>
                <a:ext uri="{FF2B5EF4-FFF2-40B4-BE49-F238E27FC236}">
                  <a16:creationId xmlns:a16="http://schemas.microsoft.com/office/drawing/2014/main" xmlns="" id="{B1054262-9EE1-B0A0-CA5E-980BAB1A529D}"/>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5000"/>
                      </a14:imgEffect>
                    </a14:imgLayer>
                  </a14:imgProps>
                </a:ext>
                <a:ext uri="{28A0092B-C50C-407E-A947-70E740481C1C}">
                  <a14:useLocalDpi xmlns:a14="http://schemas.microsoft.com/office/drawing/2010/main" val="0"/>
                </a:ext>
              </a:extLst>
            </a:blip>
            <a:stretch>
              <a:fillRect/>
            </a:stretch>
          </p:blipFill>
          <p:spPr>
            <a:xfrm>
              <a:off x="4810944" y="1052736"/>
              <a:ext cx="4267200" cy="3621360"/>
            </a:xfrm>
            <a:prstGeom prst="rect">
              <a:avLst/>
            </a:prstGeom>
          </p:spPr>
        </p:pic>
      </p:grpSp>
    </p:spTree>
    <p:extLst>
      <p:ext uri="{BB962C8B-B14F-4D97-AF65-F5344CB8AC3E}">
        <p14:creationId xmlns:p14="http://schemas.microsoft.com/office/powerpoint/2010/main" val="581984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858011"/>
            <a:ext cx="9144000" cy="722630"/>
            <a:chOff x="0" y="858011"/>
            <a:chExt cx="9144000" cy="722630"/>
          </a:xfrm>
        </p:grpSpPr>
        <p:pic>
          <p:nvPicPr>
            <p:cNvPr id="3" name="object 3"/>
            <p:cNvPicPr/>
            <p:nvPr/>
          </p:nvPicPr>
          <p:blipFill>
            <a:blip r:embed="rId3" cstate="print"/>
            <a:stretch>
              <a:fillRect/>
            </a:stretch>
          </p:blipFill>
          <p:spPr>
            <a:xfrm>
              <a:off x="0" y="911351"/>
              <a:ext cx="9144000" cy="669036"/>
            </a:xfrm>
            <a:prstGeom prst="rect">
              <a:avLst/>
            </a:prstGeom>
          </p:spPr>
        </p:pic>
        <p:pic>
          <p:nvPicPr>
            <p:cNvPr id="4" name="object 4"/>
            <p:cNvPicPr/>
            <p:nvPr/>
          </p:nvPicPr>
          <p:blipFill>
            <a:blip r:embed="rId4" cstate="print"/>
            <a:stretch>
              <a:fillRect/>
            </a:stretch>
          </p:blipFill>
          <p:spPr>
            <a:xfrm>
              <a:off x="7620" y="858011"/>
              <a:ext cx="708660" cy="722376"/>
            </a:xfrm>
            <a:prstGeom prst="rect">
              <a:avLst/>
            </a:prstGeom>
          </p:spPr>
        </p:pic>
      </p:grpSp>
      <p:sp>
        <p:nvSpPr>
          <p:cNvPr id="5" name="object 5" descr="$PPTXTitle"/>
          <p:cNvSpPr txBox="1">
            <a:spLocks noGrp="1"/>
          </p:cNvSpPr>
          <p:nvPr>
            <p:ph type="title"/>
          </p:nvPr>
        </p:nvSpPr>
        <p:spPr>
          <a:xfrm>
            <a:off x="-762000" y="390086"/>
            <a:ext cx="11635212" cy="601767"/>
          </a:xfrm>
          <a:prstGeom prst="rect">
            <a:avLst/>
          </a:prstGeom>
        </p:spPr>
        <p:txBody>
          <a:bodyPr vert="horz" wrap="square" lIns="0" tIns="108267" rIns="0" bIns="0" rtlCol="0">
            <a:spAutoFit/>
          </a:bodyPr>
          <a:lstStyle/>
          <a:p>
            <a:pPr marL="5023485">
              <a:lnSpc>
                <a:spcPct val="100000"/>
              </a:lnSpc>
              <a:spcBef>
                <a:spcPts val="105"/>
              </a:spcBef>
            </a:pPr>
            <a:r>
              <a:rPr lang="en-US" sz="3200" b="1" spc="-20" dirty="0" smtClean="0"/>
              <a:t>MARKET ARCADE</a:t>
            </a:r>
            <a:endParaRPr sz="3200" b="1" dirty="0"/>
          </a:p>
        </p:txBody>
      </p:sp>
      <p:sp>
        <p:nvSpPr>
          <p:cNvPr id="7" name="object 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5"/>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dirty="0">
              <a:latin typeface="Calibri"/>
              <a:cs typeface="Calibri"/>
            </a:endParaRPr>
          </a:p>
        </p:txBody>
      </p:sp>
      <p:grpSp>
        <p:nvGrpSpPr>
          <p:cNvPr id="13" name="Group 12"/>
          <p:cNvGrpSpPr/>
          <p:nvPr/>
        </p:nvGrpSpPr>
        <p:grpSpPr>
          <a:xfrm>
            <a:off x="179512" y="1750882"/>
            <a:ext cx="8784976" cy="3744416"/>
            <a:chOff x="179512" y="188640"/>
            <a:chExt cx="8784976" cy="3744416"/>
          </a:xfrm>
        </p:grpSpPr>
        <p:pic>
          <p:nvPicPr>
            <p:cNvPr id="14" name="Pictur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512" y="188640"/>
              <a:ext cx="4320480" cy="3744416"/>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44008" y="188640"/>
              <a:ext cx="4320480" cy="3744416"/>
            </a:xfrm>
            <a:prstGeom prst="rect">
              <a:avLst/>
            </a:prstGeom>
          </p:spPr>
        </p:pic>
      </p:grpSp>
    </p:spTree>
    <p:extLst>
      <p:ext uri="{BB962C8B-B14F-4D97-AF65-F5344CB8AC3E}">
        <p14:creationId xmlns:p14="http://schemas.microsoft.com/office/powerpoint/2010/main" val="2280202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858011"/>
            <a:ext cx="9144000" cy="722630"/>
            <a:chOff x="0" y="858011"/>
            <a:chExt cx="9144000" cy="722630"/>
          </a:xfrm>
        </p:grpSpPr>
        <p:pic>
          <p:nvPicPr>
            <p:cNvPr id="3" name="object 3"/>
            <p:cNvPicPr/>
            <p:nvPr/>
          </p:nvPicPr>
          <p:blipFill>
            <a:blip r:embed="rId3" cstate="print"/>
            <a:stretch>
              <a:fillRect/>
            </a:stretch>
          </p:blipFill>
          <p:spPr>
            <a:xfrm>
              <a:off x="0" y="911351"/>
              <a:ext cx="9144000" cy="669036"/>
            </a:xfrm>
            <a:prstGeom prst="rect">
              <a:avLst/>
            </a:prstGeom>
          </p:spPr>
        </p:pic>
        <p:pic>
          <p:nvPicPr>
            <p:cNvPr id="4" name="object 4"/>
            <p:cNvPicPr/>
            <p:nvPr/>
          </p:nvPicPr>
          <p:blipFill>
            <a:blip r:embed="rId4" cstate="print"/>
            <a:stretch>
              <a:fillRect/>
            </a:stretch>
          </p:blipFill>
          <p:spPr>
            <a:xfrm>
              <a:off x="7620" y="858011"/>
              <a:ext cx="708660" cy="722376"/>
            </a:xfrm>
            <a:prstGeom prst="rect">
              <a:avLst/>
            </a:prstGeom>
          </p:spPr>
        </p:pic>
      </p:grpSp>
      <p:sp>
        <p:nvSpPr>
          <p:cNvPr id="5" name="object 5" descr="$PPTXTitle"/>
          <p:cNvSpPr txBox="1">
            <a:spLocks noGrp="1"/>
          </p:cNvSpPr>
          <p:nvPr>
            <p:ph type="title"/>
          </p:nvPr>
        </p:nvSpPr>
        <p:spPr>
          <a:xfrm>
            <a:off x="-762000" y="390086"/>
            <a:ext cx="11635212" cy="601767"/>
          </a:xfrm>
          <a:prstGeom prst="rect">
            <a:avLst/>
          </a:prstGeom>
        </p:spPr>
        <p:txBody>
          <a:bodyPr vert="horz" wrap="square" lIns="0" tIns="108267" rIns="0" bIns="0" rtlCol="0">
            <a:spAutoFit/>
          </a:bodyPr>
          <a:lstStyle/>
          <a:p>
            <a:pPr marL="5023485">
              <a:lnSpc>
                <a:spcPct val="100000"/>
              </a:lnSpc>
              <a:spcBef>
                <a:spcPts val="105"/>
              </a:spcBef>
            </a:pPr>
            <a:r>
              <a:rPr lang="en-US" sz="3200" b="1" spc="-20" dirty="0" smtClean="0"/>
              <a:t>WALL DRAPE</a:t>
            </a:r>
            <a:endParaRPr sz="3200" b="1" dirty="0"/>
          </a:p>
        </p:txBody>
      </p:sp>
      <p:sp>
        <p:nvSpPr>
          <p:cNvPr id="7" name="object 7"/>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5"/>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dirty="0">
              <a:latin typeface="Calibri"/>
              <a:cs typeface="Calibri"/>
            </a:endParaRPr>
          </a:p>
        </p:txBody>
      </p:sp>
      <p:grpSp>
        <p:nvGrpSpPr>
          <p:cNvPr id="10" name="Group 9"/>
          <p:cNvGrpSpPr/>
          <p:nvPr/>
        </p:nvGrpSpPr>
        <p:grpSpPr>
          <a:xfrm>
            <a:off x="179512" y="1820836"/>
            <a:ext cx="8784976" cy="3672408"/>
            <a:chOff x="179512" y="584684"/>
            <a:chExt cx="8784976" cy="3672408"/>
          </a:xfrm>
        </p:grpSpPr>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9512" y="584684"/>
              <a:ext cx="4464496" cy="3672408"/>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88024" y="584684"/>
              <a:ext cx="4176464" cy="3672408"/>
            </a:xfrm>
            <a:prstGeom prst="rect">
              <a:avLst/>
            </a:prstGeom>
          </p:spPr>
        </p:pic>
      </p:grpSp>
    </p:spTree>
    <p:extLst>
      <p:ext uri="{BB962C8B-B14F-4D97-AF65-F5344CB8AC3E}">
        <p14:creationId xmlns:p14="http://schemas.microsoft.com/office/powerpoint/2010/main" val="151649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0" y="858011"/>
            <a:ext cx="9144000" cy="741045"/>
            <a:chOff x="0" y="858011"/>
            <a:chExt cx="9144000" cy="741045"/>
          </a:xfrm>
        </p:grpSpPr>
        <p:pic>
          <p:nvPicPr>
            <p:cNvPr id="5" name="object 5"/>
            <p:cNvPicPr/>
            <p:nvPr/>
          </p:nvPicPr>
          <p:blipFill>
            <a:blip r:embed="rId2" cstate="print"/>
            <a:stretch>
              <a:fillRect/>
            </a:stretch>
          </p:blipFill>
          <p:spPr>
            <a:xfrm>
              <a:off x="0" y="926591"/>
              <a:ext cx="9144000" cy="672084"/>
            </a:xfrm>
            <a:prstGeom prst="rect">
              <a:avLst/>
            </a:prstGeom>
          </p:spPr>
        </p:pic>
        <p:pic>
          <p:nvPicPr>
            <p:cNvPr id="6" name="object 6"/>
            <p:cNvPicPr/>
            <p:nvPr/>
          </p:nvPicPr>
          <p:blipFill>
            <a:blip r:embed="rId3" cstate="print"/>
            <a:stretch>
              <a:fillRect/>
            </a:stretch>
          </p:blipFill>
          <p:spPr>
            <a:xfrm>
              <a:off x="7620" y="858011"/>
              <a:ext cx="708660" cy="723900"/>
            </a:xfrm>
            <a:prstGeom prst="rect">
              <a:avLst/>
            </a:prstGeom>
          </p:spPr>
        </p:pic>
      </p:grpSp>
      <p:sp>
        <p:nvSpPr>
          <p:cNvPr id="7" name="object 7" descr="$PPTXTitle"/>
          <p:cNvSpPr txBox="1">
            <a:spLocks noGrp="1"/>
          </p:cNvSpPr>
          <p:nvPr>
            <p:ph type="ctrTitle"/>
          </p:nvPr>
        </p:nvSpPr>
        <p:spPr>
          <a:xfrm>
            <a:off x="4038600" y="839470"/>
            <a:ext cx="4085081" cy="690574"/>
          </a:xfrm>
          <a:prstGeom prst="rect">
            <a:avLst/>
          </a:prstGeom>
        </p:spPr>
        <p:txBody>
          <a:bodyPr vert="horz" wrap="square" lIns="0" tIns="13335" rIns="0" bIns="0" rtlCol="0">
            <a:spAutoFit/>
          </a:bodyPr>
          <a:lstStyle/>
          <a:p>
            <a:pPr marL="12700">
              <a:lnSpc>
                <a:spcPct val="100000"/>
              </a:lnSpc>
              <a:spcBef>
                <a:spcPts val="105"/>
              </a:spcBef>
            </a:pPr>
            <a:r>
              <a:rPr sz="4400" b="1" dirty="0"/>
              <a:t>BRIDGE</a:t>
            </a:r>
            <a:r>
              <a:rPr sz="4400" b="1" spc="-90" dirty="0"/>
              <a:t> </a:t>
            </a:r>
            <a:r>
              <a:rPr sz="4400" b="1" spc="-85" dirty="0"/>
              <a:t>PANEL</a:t>
            </a:r>
            <a:endParaRPr sz="4400" b="1" dirty="0"/>
          </a:p>
        </p:txBody>
      </p:sp>
      <p:sp>
        <p:nvSpPr>
          <p:cNvPr id="8" name="object 8"/>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4"/>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grpSp>
        <p:nvGrpSpPr>
          <p:cNvPr id="12" name="Group 11"/>
          <p:cNvGrpSpPr/>
          <p:nvPr/>
        </p:nvGrpSpPr>
        <p:grpSpPr>
          <a:xfrm>
            <a:off x="179512" y="1752600"/>
            <a:ext cx="8784976" cy="3528392"/>
            <a:chOff x="179512" y="188640"/>
            <a:chExt cx="8784976" cy="3528392"/>
          </a:xfrm>
        </p:grpSpPr>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9512" y="188640"/>
              <a:ext cx="4392488" cy="3528392"/>
            </a:xfrm>
            <a:prstGeom prst="rect">
              <a:avLst/>
            </a:prstGeom>
          </p:spPr>
        </p:pic>
        <p:pic>
          <p:nvPicPr>
            <p:cNvPr id="14" name="Picture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16016" y="188640"/>
              <a:ext cx="4248472" cy="3528392"/>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858011"/>
            <a:ext cx="9144000" cy="741045"/>
            <a:chOff x="0" y="858011"/>
            <a:chExt cx="9144000" cy="741045"/>
          </a:xfrm>
        </p:grpSpPr>
        <p:pic>
          <p:nvPicPr>
            <p:cNvPr id="3" name="object 3"/>
            <p:cNvPicPr/>
            <p:nvPr/>
          </p:nvPicPr>
          <p:blipFill>
            <a:blip r:embed="rId2" cstate="print"/>
            <a:stretch>
              <a:fillRect/>
            </a:stretch>
          </p:blipFill>
          <p:spPr>
            <a:xfrm>
              <a:off x="0" y="926591"/>
              <a:ext cx="9144000" cy="672084"/>
            </a:xfrm>
            <a:prstGeom prst="rect">
              <a:avLst/>
            </a:prstGeom>
          </p:spPr>
        </p:pic>
        <p:pic>
          <p:nvPicPr>
            <p:cNvPr id="4" name="object 4"/>
            <p:cNvPicPr/>
            <p:nvPr/>
          </p:nvPicPr>
          <p:blipFill>
            <a:blip r:embed="rId3" cstate="print"/>
            <a:stretch>
              <a:fillRect/>
            </a:stretch>
          </p:blipFill>
          <p:spPr>
            <a:xfrm>
              <a:off x="7620" y="858011"/>
              <a:ext cx="708660" cy="723900"/>
            </a:xfrm>
            <a:prstGeom prst="rect">
              <a:avLst/>
            </a:prstGeom>
          </p:spPr>
        </p:pic>
      </p:grpSp>
      <p:sp>
        <p:nvSpPr>
          <p:cNvPr id="5" name="object 5" descr="$PPTXTitle"/>
          <p:cNvSpPr txBox="1">
            <a:spLocks noGrp="1"/>
          </p:cNvSpPr>
          <p:nvPr>
            <p:ph type="title"/>
          </p:nvPr>
        </p:nvSpPr>
        <p:spPr>
          <a:prstGeom prst="rect">
            <a:avLst/>
          </a:prstGeom>
        </p:spPr>
        <p:txBody>
          <a:bodyPr vert="horz" wrap="square" lIns="0" tIns="293052" rIns="0" bIns="0" rtlCol="0">
            <a:spAutoFit/>
          </a:bodyPr>
          <a:lstStyle/>
          <a:p>
            <a:pPr marL="5790565">
              <a:lnSpc>
                <a:spcPct val="100000"/>
              </a:lnSpc>
              <a:spcBef>
                <a:spcPts val="100"/>
              </a:spcBef>
            </a:pPr>
            <a:r>
              <a:rPr sz="3600" spc="-10" dirty="0"/>
              <a:t>LAMPOLES</a:t>
            </a:r>
            <a:endParaRPr sz="3600"/>
          </a:p>
        </p:txBody>
      </p:sp>
      <p:pic>
        <p:nvPicPr>
          <p:cNvPr id="6" name="object 6"/>
          <p:cNvPicPr/>
          <p:nvPr/>
        </p:nvPicPr>
        <p:blipFill>
          <a:blip r:embed="rId4" cstate="print"/>
          <a:stretch>
            <a:fillRect/>
          </a:stretch>
        </p:blipFill>
        <p:spPr>
          <a:xfrm>
            <a:off x="108204" y="1813560"/>
            <a:ext cx="2572512" cy="1929383"/>
          </a:xfrm>
          <a:prstGeom prst="rect">
            <a:avLst/>
          </a:prstGeom>
        </p:spPr>
      </p:pic>
      <p:pic>
        <p:nvPicPr>
          <p:cNvPr id="7" name="object 7"/>
          <p:cNvPicPr/>
          <p:nvPr/>
        </p:nvPicPr>
        <p:blipFill>
          <a:blip r:embed="rId5" cstate="print"/>
          <a:stretch>
            <a:fillRect/>
          </a:stretch>
        </p:blipFill>
        <p:spPr>
          <a:xfrm>
            <a:off x="2889504" y="1813560"/>
            <a:ext cx="2647188" cy="1929383"/>
          </a:xfrm>
          <a:prstGeom prst="rect">
            <a:avLst/>
          </a:prstGeom>
        </p:spPr>
      </p:pic>
      <p:pic>
        <p:nvPicPr>
          <p:cNvPr id="8" name="object 8"/>
          <p:cNvPicPr/>
          <p:nvPr/>
        </p:nvPicPr>
        <p:blipFill>
          <a:blip r:embed="rId6" cstate="print"/>
          <a:stretch>
            <a:fillRect/>
          </a:stretch>
        </p:blipFill>
        <p:spPr>
          <a:xfrm>
            <a:off x="5748528" y="1813560"/>
            <a:ext cx="2615183" cy="1929383"/>
          </a:xfrm>
          <a:prstGeom prst="rect">
            <a:avLst/>
          </a:prstGeom>
        </p:spPr>
      </p:pic>
      <p:pic>
        <p:nvPicPr>
          <p:cNvPr id="9" name="object 9"/>
          <p:cNvPicPr/>
          <p:nvPr/>
        </p:nvPicPr>
        <p:blipFill>
          <a:blip r:embed="rId7" cstate="print"/>
          <a:stretch>
            <a:fillRect/>
          </a:stretch>
        </p:blipFill>
        <p:spPr>
          <a:xfrm>
            <a:off x="108204" y="3835908"/>
            <a:ext cx="2572512" cy="1872995"/>
          </a:xfrm>
          <a:prstGeom prst="rect">
            <a:avLst/>
          </a:prstGeom>
        </p:spPr>
      </p:pic>
      <p:pic>
        <p:nvPicPr>
          <p:cNvPr id="10" name="object 10"/>
          <p:cNvPicPr/>
          <p:nvPr/>
        </p:nvPicPr>
        <p:blipFill>
          <a:blip r:embed="rId8" cstate="print"/>
          <a:stretch>
            <a:fillRect/>
          </a:stretch>
        </p:blipFill>
        <p:spPr>
          <a:xfrm>
            <a:off x="2889504" y="3835908"/>
            <a:ext cx="2647188" cy="1872995"/>
          </a:xfrm>
          <a:prstGeom prst="rect">
            <a:avLst/>
          </a:prstGeom>
        </p:spPr>
      </p:pic>
      <p:pic>
        <p:nvPicPr>
          <p:cNvPr id="11" name="object 11"/>
          <p:cNvPicPr/>
          <p:nvPr/>
        </p:nvPicPr>
        <p:blipFill>
          <a:blip r:embed="rId9" cstate="print"/>
          <a:stretch>
            <a:fillRect/>
          </a:stretch>
        </p:blipFill>
        <p:spPr>
          <a:xfrm>
            <a:off x="5748528" y="3835908"/>
            <a:ext cx="2615183" cy="1872995"/>
          </a:xfrm>
          <a:prstGeom prst="rect">
            <a:avLst/>
          </a:prstGeom>
        </p:spPr>
      </p:pic>
      <p:sp>
        <p:nvSpPr>
          <p:cNvPr id="12" name="object 12"/>
          <p:cNvSpPr txBox="1"/>
          <p:nvPr/>
        </p:nvSpPr>
        <p:spPr>
          <a:xfrm>
            <a:off x="1387221" y="5733694"/>
            <a:ext cx="5676265" cy="177800"/>
          </a:xfrm>
          <a:prstGeom prst="rect">
            <a:avLst/>
          </a:prstGeom>
        </p:spPr>
        <p:txBody>
          <a:bodyPr vert="horz" wrap="square" lIns="0" tIns="0" rIns="0" bIns="0" rtlCol="0">
            <a:spAutoFit/>
          </a:bodyPr>
          <a:lstStyle/>
          <a:p>
            <a:pPr marL="12700">
              <a:lnSpc>
                <a:spcPts val="1240"/>
              </a:lnSpc>
            </a:pPr>
            <a:r>
              <a:rPr sz="1200" b="1" u="sng" spc="-20" dirty="0">
                <a:solidFill>
                  <a:srgbClr val="0000FF"/>
                </a:solidFill>
                <a:uFill>
                  <a:solidFill>
                    <a:srgbClr val="0000FF"/>
                  </a:solidFill>
                </a:uFill>
                <a:latin typeface="Calibri"/>
                <a:cs typeface="Calibri"/>
                <a:hlinkClick r:id="rId10"/>
              </a:rPr>
              <a:t>www.outreachmedialtd.net|</a:t>
            </a:r>
            <a:r>
              <a:rPr sz="1200" b="1" u="sng" spc="70" dirty="0">
                <a:solidFill>
                  <a:srgbClr val="0000FF"/>
                </a:solidFill>
                <a:uFill>
                  <a:solidFill>
                    <a:srgbClr val="0000FF"/>
                  </a:solidFill>
                </a:uFill>
                <a:latin typeface="Calibri"/>
                <a:cs typeface="Calibri"/>
              </a:rPr>
              <a:t> </a:t>
            </a:r>
            <a:r>
              <a:rPr sz="1200" b="1" dirty="0">
                <a:latin typeface="Calibri"/>
                <a:cs typeface="Calibri"/>
              </a:rPr>
              <a:t>i</a:t>
            </a:r>
            <a:r>
              <a:rPr sz="1200" b="1" spc="10" dirty="0">
                <a:latin typeface="Calibri"/>
                <a:cs typeface="Calibri"/>
              </a:rPr>
              <a:t> </a:t>
            </a:r>
            <a:r>
              <a:rPr sz="1200" b="1" dirty="0">
                <a:latin typeface="Calibri"/>
                <a:cs typeface="Calibri"/>
              </a:rPr>
              <a:t>n</a:t>
            </a:r>
            <a:r>
              <a:rPr sz="1200" b="1" spc="25" dirty="0">
                <a:latin typeface="Calibri"/>
                <a:cs typeface="Calibri"/>
              </a:rPr>
              <a:t> </a:t>
            </a:r>
            <a:r>
              <a:rPr sz="1200" b="1" dirty="0">
                <a:latin typeface="Calibri"/>
                <a:cs typeface="Calibri"/>
              </a:rPr>
              <a:t>f</a:t>
            </a:r>
            <a:r>
              <a:rPr sz="1200" b="1" spc="5" dirty="0">
                <a:latin typeface="Calibri"/>
                <a:cs typeface="Calibri"/>
              </a:rPr>
              <a:t> </a:t>
            </a:r>
            <a:r>
              <a:rPr sz="1200" b="1" dirty="0">
                <a:latin typeface="Calibri"/>
                <a:cs typeface="Calibri"/>
              </a:rPr>
              <a:t>o</a:t>
            </a:r>
            <a:r>
              <a:rPr sz="1200" b="1" spc="15" dirty="0">
                <a:latin typeface="Calibri"/>
                <a:cs typeface="Calibri"/>
              </a:rPr>
              <a:t> </a:t>
            </a:r>
            <a:r>
              <a:rPr sz="1200" b="1" dirty="0">
                <a:latin typeface="Calibri"/>
                <a:cs typeface="Calibri"/>
              </a:rPr>
              <a:t>@</a:t>
            </a:r>
            <a:r>
              <a:rPr sz="1200" b="1" spc="10" dirty="0">
                <a:latin typeface="Calibri"/>
                <a:cs typeface="Calibri"/>
              </a:rPr>
              <a:t> </a:t>
            </a:r>
            <a:r>
              <a:rPr sz="1200" b="1" spc="-20" dirty="0">
                <a:latin typeface="Calibri"/>
                <a:cs typeface="Calibri"/>
              </a:rPr>
              <a:t>outreachmedialtd.net|</a:t>
            </a:r>
            <a:r>
              <a:rPr sz="1200" b="1" spc="70" dirty="0">
                <a:latin typeface="Calibri"/>
                <a:cs typeface="Calibri"/>
              </a:rPr>
              <a:t> </a:t>
            </a:r>
            <a:r>
              <a:rPr sz="1200" b="1" spc="-10" dirty="0">
                <a:latin typeface="Calibri"/>
                <a:cs typeface="Calibri"/>
              </a:rPr>
              <a:t>08092222091;</a:t>
            </a:r>
            <a:r>
              <a:rPr sz="1200" b="1" spc="95" dirty="0">
                <a:latin typeface="Calibri"/>
                <a:cs typeface="Calibri"/>
              </a:rPr>
              <a:t> </a:t>
            </a:r>
            <a:r>
              <a:rPr sz="1200" b="1" spc="-10" dirty="0">
                <a:latin typeface="Calibri"/>
                <a:cs typeface="Calibri"/>
              </a:rPr>
              <a:t>08037865256</a:t>
            </a:r>
            <a:endParaRPr sz="120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609600" y="569050"/>
            <a:ext cx="9144000" cy="739139"/>
          </a:xfrm>
          <a:prstGeom prst="rect">
            <a:avLst/>
          </a:prstGeom>
        </p:spPr>
      </p:pic>
      <p:sp>
        <p:nvSpPr>
          <p:cNvPr id="8" name="object 8" descr="$PPTXTitle"/>
          <p:cNvSpPr txBox="1">
            <a:spLocks noGrp="1"/>
          </p:cNvSpPr>
          <p:nvPr>
            <p:ph type="title"/>
          </p:nvPr>
        </p:nvSpPr>
        <p:spPr>
          <a:xfrm>
            <a:off x="888581" y="304800"/>
            <a:ext cx="8090661" cy="2178685"/>
          </a:xfrm>
          <a:prstGeom prst="rect">
            <a:avLst/>
          </a:prstGeom>
        </p:spPr>
        <p:txBody>
          <a:bodyPr vert="horz" wrap="square" lIns="0" tIns="446290" rIns="0" bIns="0" rtlCol="0">
            <a:spAutoFit/>
          </a:bodyPr>
          <a:lstStyle/>
          <a:p>
            <a:pPr marL="4961890">
              <a:lnSpc>
                <a:spcPct val="100000"/>
              </a:lnSpc>
              <a:spcBef>
                <a:spcPts val="95"/>
              </a:spcBef>
            </a:pPr>
            <a:r>
              <a:rPr dirty="0"/>
              <a:t>BUILDING</a:t>
            </a:r>
            <a:r>
              <a:rPr spc="-160" dirty="0"/>
              <a:t> </a:t>
            </a:r>
            <a:r>
              <a:rPr spc="-10" dirty="0"/>
              <a:t>BRANDING</a:t>
            </a:r>
          </a:p>
        </p:txBody>
      </p:sp>
      <p:pic>
        <p:nvPicPr>
          <p:cNvPr id="9" name="object 9"/>
          <p:cNvPicPr/>
          <p:nvPr/>
        </p:nvPicPr>
        <p:blipFill>
          <a:blip r:embed="rId3" cstate="print"/>
          <a:stretch>
            <a:fillRect/>
          </a:stretch>
        </p:blipFill>
        <p:spPr>
          <a:xfrm>
            <a:off x="112714" y="333469"/>
            <a:ext cx="708660" cy="723900"/>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1950" y="1731960"/>
            <a:ext cx="2969470" cy="2346891"/>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1950" y="4187255"/>
            <a:ext cx="2969470" cy="2227103"/>
          </a:xfrm>
          <a:prstGeom prst="rect">
            <a:avLst/>
          </a:prstGeom>
        </p:spPr>
      </p:pic>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15000" y="1731960"/>
            <a:ext cx="3129187" cy="2346891"/>
          </a:xfrm>
          <a:prstGeom prst="rect">
            <a:avLst/>
          </a:prstGeom>
        </p:spPr>
      </p:pic>
      <p:pic>
        <p:nvPicPr>
          <p:cNvPr id="13" name="Picture 12">
            <a:extLst>
              <a:ext uri="{FF2B5EF4-FFF2-40B4-BE49-F238E27FC236}">
                <a16:creationId xmlns:a16="http://schemas.microsoft.com/office/drawing/2014/main" xmlns="" id="{40E0B73B-A8DC-5877-7D6B-66C662248F4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42915" y="4187255"/>
            <a:ext cx="3129187" cy="234780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942545" y="1899284"/>
            <a:ext cx="1176527" cy="696468"/>
          </a:xfrm>
          <a:prstGeom prst="rect">
            <a:avLst/>
          </a:prstGeom>
        </p:spPr>
      </p:pic>
      <p:pic>
        <p:nvPicPr>
          <p:cNvPr id="3" name="object 3"/>
          <p:cNvPicPr/>
          <p:nvPr/>
        </p:nvPicPr>
        <p:blipFill>
          <a:blip r:embed="rId3" cstate="print"/>
          <a:stretch>
            <a:fillRect/>
          </a:stretch>
        </p:blipFill>
        <p:spPr>
          <a:xfrm>
            <a:off x="7942545" y="2896361"/>
            <a:ext cx="672627" cy="476601"/>
          </a:xfrm>
          <a:prstGeom prst="rect">
            <a:avLst/>
          </a:prstGeom>
        </p:spPr>
      </p:pic>
      <p:grpSp>
        <p:nvGrpSpPr>
          <p:cNvPr id="4" name="object 4"/>
          <p:cNvGrpSpPr/>
          <p:nvPr/>
        </p:nvGrpSpPr>
        <p:grpSpPr>
          <a:xfrm>
            <a:off x="152400" y="1767693"/>
            <a:ext cx="7582156" cy="2861456"/>
            <a:chOff x="382524" y="1659635"/>
            <a:chExt cx="8365490" cy="4217035"/>
          </a:xfrm>
        </p:grpSpPr>
        <p:pic>
          <p:nvPicPr>
            <p:cNvPr id="5" name="object 5"/>
            <p:cNvPicPr/>
            <p:nvPr/>
          </p:nvPicPr>
          <p:blipFill>
            <a:blip r:embed="rId4" cstate="print"/>
            <a:stretch>
              <a:fillRect/>
            </a:stretch>
          </p:blipFill>
          <p:spPr>
            <a:xfrm>
              <a:off x="4568952" y="2377439"/>
              <a:ext cx="1123188" cy="595884"/>
            </a:xfrm>
            <a:prstGeom prst="rect">
              <a:avLst/>
            </a:prstGeom>
          </p:spPr>
        </p:pic>
        <p:pic>
          <p:nvPicPr>
            <p:cNvPr id="6" name="object 6"/>
            <p:cNvPicPr/>
            <p:nvPr/>
          </p:nvPicPr>
          <p:blipFill>
            <a:blip r:embed="rId5" cstate="print"/>
            <a:stretch>
              <a:fillRect/>
            </a:stretch>
          </p:blipFill>
          <p:spPr>
            <a:xfrm>
              <a:off x="382524" y="2069591"/>
              <a:ext cx="8365235" cy="3806952"/>
            </a:xfrm>
            <a:prstGeom prst="rect">
              <a:avLst/>
            </a:prstGeom>
          </p:spPr>
        </p:pic>
        <p:pic>
          <p:nvPicPr>
            <p:cNvPr id="7" name="object 7"/>
            <p:cNvPicPr/>
            <p:nvPr/>
          </p:nvPicPr>
          <p:blipFill>
            <a:blip r:embed="rId6" cstate="print"/>
            <a:stretch>
              <a:fillRect/>
            </a:stretch>
          </p:blipFill>
          <p:spPr>
            <a:xfrm>
              <a:off x="5983224" y="1821179"/>
              <a:ext cx="975359" cy="748284"/>
            </a:xfrm>
            <a:prstGeom prst="rect">
              <a:avLst/>
            </a:prstGeom>
          </p:spPr>
        </p:pic>
        <p:pic>
          <p:nvPicPr>
            <p:cNvPr id="8" name="object 8"/>
            <p:cNvPicPr/>
            <p:nvPr/>
          </p:nvPicPr>
          <p:blipFill>
            <a:blip r:embed="rId7" cstate="print"/>
            <a:stretch>
              <a:fillRect/>
            </a:stretch>
          </p:blipFill>
          <p:spPr>
            <a:xfrm>
              <a:off x="1126236" y="1674875"/>
              <a:ext cx="1146048" cy="691896"/>
            </a:xfrm>
            <a:prstGeom prst="rect">
              <a:avLst/>
            </a:prstGeom>
          </p:spPr>
        </p:pic>
        <p:pic>
          <p:nvPicPr>
            <p:cNvPr id="9" name="object 9"/>
            <p:cNvPicPr/>
            <p:nvPr/>
          </p:nvPicPr>
          <p:blipFill>
            <a:blip r:embed="rId8" cstate="print"/>
            <a:stretch>
              <a:fillRect/>
            </a:stretch>
          </p:blipFill>
          <p:spPr>
            <a:xfrm>
              <a:off x="4553712" y="1659635"/>
              <a:ext cx="1147572" cy="536448"/>
            </a:xfrm>
            <a:prstGeom prst="rect">
              <a:avLst/>
            </a:prstGeom>
          </p:spPr>
        </p:pic>
      </p:grpSp>
      <p:grpSp>
        <p:nvGrpSpPr>
          <p:cNvPr id="10" name="object 10"/>
          <p:cNvGrpSpPr/>
          <p:nvPr/>
        </p:nvGrpSpPr>
        <p:grpSpPr>
          <a:xfrm>
            <a:off x="7620" y="858011"/>
            <a:ext cx="9136380" cy="741045"/>
            <a:chOff x="7620" y="858011"/>
            <a:chExt cx="9136380" cy="741045"/>
          </a:xfrm>
        </p:grpSpPr>
        <p:pic>
          <p:nvPicPr>
            <p:cNvPr id="11" name="object 11"/>
            <p:cNvPicPr/>
            <p:nvPr/>
          </p:nvPicPr>
          <p:blipFill>
            <a:blip r:embed="rId9" cstate="print"/>
            <a:stretch>
              <a:fillRect/>
            </a:stretch>
          </p:blipFill>
          <p:spPr>
            <a:xfrm>
              <a:off x="7620" y="926591"/>
              <a:ext cx="9136380" cy="672084"/>
            </a:xfrm>
            <a:prstGeom prst="rect">
              <a:avLst/>
            </a:prstGeom>
          </p:spPr>
        </p:pic>
        <p:pic>
          <p:nvPicPr>
            <p:cNvPr id="12" name="object 12"/>
            <p:cNvPicPr/>
            <p:nvPr/>
          </p:nvPicPr>
          <p:blipFill>
            <a:blip r:embed="rId10" cstate="print"/>
            <a:stretch>
              <a:fillRect/>
            </a:stretch>
          </p:blipFill>
          <p:spPr>
            <a:xfrm>
              <a:off x="7620" y="858011"/>
              <a:ext cx="708660" cy="723900"/>
            </a:xfrm>
            <a:prstGeom prst="rect">
              <a:avLst/>
            </a:prstGeom>
          </p:spPr>
        </p:pic>
      </p:grpSp>
      <p:sp>
        <p:nvSpPr>
          <p:cNvPr id="13" name="object 13" descr="$PPTXTitle"/>
          <p:cNvSpPr txBox="1">
            <a:spLocks noGrp="1"/>
          </p:cNvSpPr>
          <p:nvPr>
            <p:ph type="title"/>
          </p:nvPr>
        </p:nvSpPr>
        <p:spPr>
          <a:xfrm>
            <a:off x="3219957" y="647827"/>
            <a:ext cx="2514600" cy="635000"/>
          </a:xfrm>
          <a:prstGeom prst="rect">
            <a:avLst/>
          </a:prstGeom>
        </p:spPr>
        <p:txBody>
          <a:bodyPr vert="horz" wrap="square" lIns="0" tIns="12065" rIns="0" bIns="0" rtlCol="0">
            <a:spAutoFit/>
          </a:bodyPr>
          <a:lstStyle/>
          <a:p>
            <a:pPr marL="12700">
              <a:lnSpc>
                <a:spcPct val="100000"/>
              </a:lnSpc>
              <a:spcBef>
                <a:spcPts val="95"/>
              </a:spcBef>
            </a:pPr>
            <a:r>
              <a:rPr sz="4000" dirty="0"/>
              <a:t>OUR</a:t>
            </a:r>
            <a:r>
              <a:rPr sz="4000" spc="-65" dirty="0"/>
              <a:t> </a:t>
            </a:r>
            <a:r>
              <a:rPr sz="4000" spc="-10" dirty="0"/>
              <a:t>CLIENT</a:t>
            </a:r>
            <a:endParaRPr sz="4000"/>
          </a:p>
        </p:txBody>
      </p:sp>
      <p:sp>
        <p:nvSpPr>
          <p:cNvPr id="15" name="AutoShape 2" descr="Knorr Logo, symbol, meaning, history, PNG, bran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454401" y="2089531"/>
            <a:ext cx="4401820" cy="1245235"/>
          </a:xfrm>
          <a:prstGeom prst="rect">
            <a:avLst/>
          </a:prstGeom>
        </p:spPr>
        <p:txBody>
          <a:bodyPr vert="horz" wrap="square" lIns="0" tIns="13335" rIns="0" bIns="0" rtlCol="0">
            <a:spAutoFit/>
          </a:bodyPr>
          <a:lstStyle/>
          <a:p>
            <a:pPr marL="12700">
              <a:lnSpc>
                <a:spcPct val="100000"/>
              </a:lnSpc>
              <a:spcBef>
                <a:spcPts val="105"/>
              </a:spcBef>
            </a:pPr>
            <a:r>
              <a:rPr sz="8000" b="1" dirty="0">
                <a:solidFill>
                  <a:srgbClr val="DA241D"/>
                </a:solidFill>
                <a:latin typeface="Calibri"/>
                <a:cs typeface="Calibri"/>
              </a:rPr>
              <a:t>Thank </a:t>
            </a:r>
            <a:r>
              <a:rPr sz="8000" b="1" spc="-25" dirty="0">
                <a:solidFill>
                  <a:srgbClr val="DA241D"/>
                </a:solidFill>
                <a:latin typeface="Calibri"/>
                <a:cs typeface="Calibri"/>
              </a:rPr>
              <a:t>you</a:t>
            </a:r>
            <a:endParaRPr sz="80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267</TotalTime>
  <Words>1505</Words>
  <Application>Microsoft Office PowerPoint</Application>
  <PresentationFormat>On-screen Show (4:3)</PresentationFormat>
  <Paragraphs>146</Paragraphs>
  <Slides>33</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Arial MT</vt:lpstr>
      <vt:lpstr>Calibri</vt:lpstr>
      <vt:lpstr>Cambria</vt:lpstr>
      <vt:lpstr>Candara</vt:lpstr>
      <vt:lpstr>Tahoma</vt:lpstr>
      <vt:lpstr>Office Theme</vt:lpstr>
      <vt:lpstr>PowerPoint Presentation</vt:lpstr>
      <vt:lpstr>COMPANY PROFILE</vt:lpstr>
      <vt:lpstr>“At Outreach, we out stand others !</vt:lpstr>
      <vt:lpstr>CORPORATE OVERVIEW</vt:lpstr>
      <vt:lpstr>ABOUT US</vt:lpstr>
      <vt:lpstr>OUR MISSION To reach out to the desired target consumers in the market place for an effective creation of  brand awareness, visibility, acceptability and patronage of  our numerous clientele products and services</vt:lpstr>
      <vt:lpstr>PowerPoint Presentation</vt:lpstr>
      <vt:lpstr>OUR TEAM</vt:lpstr>
      <vt:lpstr>PERSONNEL Late Mr. Moses Orife is the Founder of the Company.</vt:lpstr>
      <vt:lpstr>PERSONNEL</vt:lpstr>
      <vt:lpstr>PERSONNEL</vt:lpstr>
      <vt:lpstr>PERSONNEL</vt:lpstr>
      <vt:lpstr>PERSONNEL</vt:lpstr>
      <vt:lpstr>PERSONNEL</vt:lpstr>
      <vt:lpstr>PERSONNEL</vt:lpstr>
      <vt:lpstr>HOARDINGS DISTRIBUTION</vt:lpstr>
      <vt:lpstr>VALUE PROPOSITION</vt:lpstr>
      <vt:lpstr>OUR PLATFORMS</vt:lpstr>
      <vt:lpstr>PORTRAIT</vt:lpstr>
      <vt:lpstr>MEGA BOARD</vt:lpstr>
      <vt:lpstr>GANTRY</vt:lpstr>
      <vt:lpstr>EYECATHER</vt:lpstr>
      <vt:lpstr>UNIPOLE</vt:lpstr>
      <vt:lpstr>BRT BUS/ KEKE BRANDING</vt:lpstr>
      <vt:lpstr>ROUNDABOUT PANEL</vt:lpstr>
      <vt:lpstr>ROOFTOP</vt:lpstr>
      <vt:lpstr>MARKET ARCADE</vt:lpstr>
      <vt:lpstr>WALL DRAPE</vt:lpstr>
      <vt:lpstr>BRIDGE PANEL</vt:lpstr>
      <vt:lpstr>LAMPOLES</vt:lpstr>
      <vt:lpstr>BUILDING BRANDING</vt:lpstr>
      <vt:lpstr>OUR CLIENT</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DEBY</cp:lastModifiedBy>
  <cp:revision>14</cp:revision>
  <dcterms:created xsi:type="dcterms:W3CDTF">2026-09-14T10:02:25Z</dcterms:created>
  <dcterms:modified xsi:type="dcterms:W3CDTF">2026-09-14T22:25:28Z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2025-10-30T00:00:00Z</vt:filetime>
  </property>
  <property fmtid="{D5CDD505-2E9C-101B-9397-08002B2CF9AE}" pid="4" name="Creator">
    <vt:lpwstr>Microsoft® PowerPoint® 2013</vt:lpwstr>
  </property>
  <property fmtid="{D5CDD505-2E9C-101B-9397-08002B2CF9AE}" pid="5" name="LastSaved">
    <vt:filetime>2026-09-14T00:00:00Z</vt:filetime>
  </property>
  <property fmtid="{D5CDD505-2E9C-101B-9397-08002B2CF9AE}" pid="6" name="Producer">
    <vt:lpwstr>Microsoft® PowerPoint® 2013</vt:lpwstr>
  </property>
</Properties>
</file>